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media/image3.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7" r:id="rId19"/>
  </p:sldIdLst>
  <p:sldSz cx="12192000" cy="6858000"/>
  <p:notesSz cx="6858000" cy="9144000"/>
  <p:embeddedFontLst>
    <p:embeddedFont>
      <p:font typeface="OPPOSans H" panose="00020600040101010101" charset="-122"/>
      <p:regular r:id="rId24"/>
    </p:embeddedFont>
    <p:embeddedFont>
      <p:font typeface="Malgun Gothic" panose="020B0503020000020004" charset="-127"/>
      <p:regular r:id="rId25"/>
    </p:embeddedFont>
    <p:embeddedFont>
      <p:font typeface="OPPOSans R" panose="00020600040101010101" charset="-122"/>
      <p:regular r:id="rId26"/>
    </p:embeddedFont>
    <p:embeddedFont>
      <p:font typeface="Source Han Sans CN Bold" panose="020B0800000000000000" charset="-122"/>
      <p:regular r:id="rId27"/>
    </p:embeddedFont>
    <p:embeddedFont>
      <p:font typeface="Calibri" panose="020F0502020204030204" charset="0"/>
      <p:regular r:id="rId28"/>
    </p:embeddedFont>
  </p:embeddedFontLst>
  <p:custDataLst>
    <p:tags r:id="rId29"/>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gs" Target="tags/tag2.xml"/><Relationship Id="rId28" Type="http://schemas.openxmlformats.org/officeDocument/2006/relationships/font" Target="fonts/font5.fntdata"/><Relationship Id="rId27" Type="http://schemas.openxmlformats.org/officeDocument/2006/relationships/font" Target="fonts/font4.fntdata"/><Relationship Id="rId26" Type="http://schemas.openxmlformats.org/officeDocument/2006/relationships/font" Target="fonts/font3.fntdata"/><Relationship Id="rId25" Type="http://schemas.openxmlformats.org/officeDocument/2006/relationships/font" Target="fonts/font2.fntdata"/><Relationship Id="rId24" Type="http://schemas.openxmlformats.org/officeDocument/2006/relationships/font" Target="fonts/font1.fntdata"/><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5" Type="http://schemas.openxmlformats.org/officeDocument/2006/relationships/image" Target="../media/image3.svg"/><Relationship Id="rId4" Type="http://schemas.openxmlformats.org/officeDocument/2006/relationships/image" Target="../media/image2.png"/><Relationship Id="rId3" Type="http://schemas.openxmlformats.org/officeDocument/2006/relationships/tags" Target="../tags/tag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565CE74E-AB26-4998-AD42-012C4C1AD076}" type="slidenum">
              <a:rPr lang="zh-CN" altLang="en-US" smtClean="0"/>
            </a:fld>
            <a:endParaRPr lang="zh-CN" altLang="en-US"/>
          </a:p>
        </p:txBody>
      </p:sp>
      <p:pic>
        <p:nvPicPr>
          <p:cNvPr id="9" name="图片 8"/>
          <p:cNvPicPr>
            <a:picLocks noChangeAspect="1"/>
          </p:cNvPicPr>
          <p:nvPr userDrawn="1"/>
        </p:nvPicPr>
        <p:blipFill>
          <a:blip r:embed="rId2" cstate="screen"/>
          <a:srcRect/>
          <a:stretch>
            <a:fillRect/>
          </a:stretch>
        </p:blipFill>
        <p:spPr>
          <a:xfrm>
            <a:off x="10238461" y="298042"/>
            <a:ext cx="1621443" cy="349034"/>
          </a:xfrm>
          <a:prstGeom prst="rect">
            <a:avLst/>
          </a:prstGeom>
        </p:spPr>
      </p:pic>
      <p:pic>
        <p:nvPicPr>
          <p:cNvPr id="10" name="图片 9" descr="HKUST_Brand_guideline 69"/>
          <p:cNvPicPr>
            <a:picLocks noChangeAspect="1"/>
          </p:cNvPicPr>
          <p:nvPr userDrawn="1">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10095865" y="6054090"/>
            <a:ext cx="1764030" cy="45529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p:bodyStyle/>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1.png"/><Relationship Id="rId7" Type="http://schemas.openxmlformats.org/officeDocument/2006/relationships/image" Target="../media/image10.png"/><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jpeg"/><Relationship Id="rId1" Type="http://schemas.openxmlformats.org/officeDocument/2006/relationships/image" Target="../media/image12.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1.png"/><Relationship Id="rId7" Type="http://schemas.openxmlformats.org/officeDocument/2006/relationships/image" Target="../media/image10.png"/><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rot="5400000">
            <a:off x="1966087" y="-2809111"/>
            <a:ext cx="6858004" cy="12273026"/>
          </a:xfrm>
          <a:prstGeom prst="rect">
            <a:avLst/>
          </a:prstGeom>
          <a:gradFill>
            <a:gsLst>
              <a:gs pos="0">
                <a:schemeClr val="accent1">
                  <a:alpha val="82000"/>
                </a:schemeClr>
              </a:gs>
              <a:gs pos="100000">
                <a:schemeClr val="accent1">
                  <a:lumMod val="20000"/>
                  <a:lumOff val="8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rot="5400000">
            <a:off x="10756400" y="1919882"/>
            <a:ext cx="1791411" cy="1544320"/>
          </a:xfrm>
          <a:prstGeom prst="hexagon">
            <a:avLst/>
          </a:prstGeom>
          <a:solidFill>
            <a:schemeClr val="accent1">
              <a:lumMod val="7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rot="5400000">
            <a:off x="9988051" y="3325138"/>
            <a:ext cx="1791411" cy="1544320"/>
          </a:xfrm>
          <a:prstGeom prst="hexagon">
            <a:avLst/>
          </a:prstGeom>
          <a:solidFill>
            <a:schemeClr val="accent1">
              <a:lumMod val="20000"/>
              <a:lumOff val="80000"/>
            </a:schemeClr>
          </a:solidFill>
          <a:ln w="12700" cap="sq">
            <a:noFill/>
            <a:miter/>
          </a:ln>
          <a:effectLst>
            <a:outerShdw blurRad="368300" dist="76200" dir="2700000" algn="tl" rotWithShape="0">
              <a:schemeClr val="accent1">
                <a:lumMod val="50000"/>
                <a:alpha val="17000"/>
              </a:schemeClr>
            </a:outerShdw>
          </a:effectLst>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rot="5400000">
            <a:off x="9217159" y="1919882"/>
            <a:ext cx="1791411" cy="1544320"/>
          </a:xfrm>
          <a:prstGeom prst="hexagon">
            <a:avLst/>
          </a:prstGeom>
          <a:solidFill>
            <a:schemeClr val="accent1">
              <a:lumMod val="40000"/>
              <a:lumOff val="6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rot="5400000">
            <a:off x="8444999" y="3327042"/>
            <a:ext cx="1791411" cy="1544320"/>
          </a:xfrm>
          <a:prstGeom prst="hexag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rot="5400000">
            <a:off x="8444998" y="527961"/>
            <a:ext cx="1791411" cy="1544320"/>
          </a:xfrm>
          <a:prstGeom prst="hexagon">
            <a:avLst/>
          </a:prstGeom>
          <a:solidFill>
            <a:schemeClr val="accent1">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rot="5400000">
            <a:off x="9217158" y="-858879"/>
            <a:ext cx="1791411" cy="1544320"/>
          </a:xfrm>
          <a:prstGeom prst="hexagon">
            <a:avLst/>
          </a:prstGeom>
          <a:solidFill>
            <a:schemeClr val="accent1">
              <a:lumMod val="40000"/>
              <a:lumOff val="6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rot="5400000">
            <a:off x="6895599" y="3332122"/>
            <a:ext cx="1791411" cy="1544320"/>
          </a:xfrm>
          <a:prstGeom prst="hexagon">
            <a:avLst/>
          </a:prstGeom>
          <a:solidFill>
            <a:schemeClr val="accent1">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rot="5400000">
            <a:off x="5346199" y="3327042"/>
            <a:ext cx="1791411" cy="1544320"/>
          </a:xfrm>
          <a:prstGeom prst="hexagon">
            <a:avLst/>
          </a:prstGeom>
          <a:solidFill>
            <a:schemeClr val="accent1">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rot="5400000">
            <a:off x="10764020" y="4728718"/>
            <a:ext cx="1791411" cy="1544320"/>
          </a:xfrm>
          <a:prstGeom prst="hexag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rot="5400000">
            <a:off x="9217159" y="4721099"/>
            <a:ext cx="1791411" cy="1544320"/>
          </a:xfrm>
          <a:prstGeom prst="hexagon">
            <a:avLst/>
          </a:prstGeom>
          <a:solidFill>
            <a:schemeClr val="accent1">
              <a:lumMod val="60000"/>
              <a:lumOff val="40000"/>
            </a:schemeClr>
          </a:solidFill>
          <a:ln w="12700" cap="sq">
            <a:noFill/>
            <a:miter/>
          </a:ln>
          <a:effectLst>
            <a:outerShdw blurRad="368300" dist="76200" dir="2700000" algn="tl" rotWithShape="0">
              <a:schemeClr val="accent1">
                <a:lumMod val="50000"/>
                <a:alpha val="17000"/>
              </a:schemeClr>
            </a:outerShdw>
          </a:effectLst>
        </p:spPr>
        <p:txBody>
          <a:bodyPr vert="horz" wrap="square" lIns="91440" tIns="45720" rIns="91440" bIns="45720" rtlCol="0" anchor="ctr"/>
          <a:lstStyle/>
          <a:p>
            <a:pPr algn="ctr">
              <a:lnSpc>
                <a:spcPct val="110000"/>
              </a:lnSpc>
            </a:pPr>
            <a:endParaRPr kumimoji="1" lang="zh-CN" altLang="en-US"/>
          </a:p>
        </p:txBody>
      </p:sp>
      <p:grpSp>
        <p:nvGrpSpPr>
          <p:cNvPr id="13" name="组合 12"/>
          <p:cNvGrpSpPr/>
          <p:nvPr/>
        </p:nvGrpSpPr>
        <p:grpSpPr>
          <a:xfrm>
            <a:off x="7759700" y="1789794"/>
            <a:ext cx="1640840" cy="461917"/>
            <a:chOff x="7759700" y="1789794"/>
            <a:chExt cx="1640840" cy="461917"/>
          </a:xfrm>
        </p:grpSpPr>
        <p:sp>
          <p:nvSpPr>
            <p:cNvPr id="14" name="标题 1"/>
            <p:cNvSpPr txBox="1"/>
            <p:nvPr/>
          </p:nvSpPr>
          <p:spPr>
            <a:xfrm>
              <a:off x="7759700" y="2129791"/>
              <a:ext cx="121920" cy="12192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9278620" y="2129791"/>
              <a:ext cx="121920" cy="12192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rot="19996967">
              <a:off x="7762323" y="1982370"/>
              <a:ext cx="865228" cy="36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rot="1603033" flipH="1">
              <a:off x="8518672" y="1982096"/>
              <a:ext cx="864000" cy="36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grpSp>
        <p:nvGrpSpPr>
          <p:cNvPr id="18" name="组合 17"/>
          <p:cNvGrpSpPr/>
          <p:nvPr/>
        </p:nvGrpSpPr>
        <p:grpSpPr>
          <a:xfrm>
            <a:off x="9263592" y="3484458"/>
            <a:ext cx="1725562" cy="2588293"/>
            <a:chOff x="9263592" y="3484458"/>
            <a:chExt cx="1725562" cy="2588293"/>
          </a:xfrm>
        </p:grpSpPr>
        <p:sp>
          <p:nvSpPr>
            <p:cNvPr id="19" name="标题 1"/>
            <p:cNvSpPr txBox="1"/>
            <p:nvPr/>
          </p:nvSpPr>
          <p:spPr>
            <a:xfrm rot="14613050">
              <a:off x="10846463" y="4916600"/>
              <a:ext cx="121920" cy="12192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rot="14613050">
              <a:off x="10070870" y="3505229"/>
              <a:ext cx="121920" cy="12192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rot="12501059">
              <a:off x="10063356" y="4747353"/>
              <a:ext cx="865228" cy="36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rot="16216083" flipH="1">
              <a:off x="9640985" y="4075899"/>
              <a:ext cx="972000" cy="36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3" name="标题 1"/>
            <p:cNvSpPr txBox="1"/>
            <p:nvPr/>
          </p:nvSpPr>
          <p:spPr>
            <a:xfrm rot="6986950" flipH="1">
              <a:off x="9284363" y="4912789"/>
              <a:ext cx="121920" cy="12192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4" name="标题 1"/>
            <p:cNvSpPr txBox="1"/>
            <p:nvPr/>
          </p:nvSpPr>
          <p:spPr>
            <a:xfrm rot="9098941" flipH="1">
              <a:off x="9320406" y="4747351"/>
              <a:ext cx="865228" cy="36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5" name="标题 1"/>
            <p:cNvSpPr txBox="1"/>
            <p:nvPr/>
          </p:nvSpPr>
          <p:spPr>
            <a:xfrm rot="16200000">
              <a:off x="10414792" y="5481767"/>
              <a:ext cx="979793" cy="45719"/>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6" name="标题 1"/>
            <p:cNvSpPr txBox="1"/>
            <p:nvPr/>
          </p:nvSpPr>
          <p:spPr>
            <a:xfrm rot="14613050">
              <a:off x="10846462" y="5930060"/>
              <a:ext cx="121920" cy="12192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sp>
        <p:nvSpPr>
          <p:cNvPr id="27" name="标题 1"/>
          <p:cNvSpPr txBox="1"/>
          <p:nvPr/>
        </p:nvSpPr>
        <p:spPr>
          <a:xfrm rot="5400000">
            <a:off x="7493598" y="-1017776"/>
            <a:ext cx="2160050" cy="1862114"/>
          </a:xfrm>
          <a:prstGeom prst="hexagon">
            <a:avLst/>
          </a:prstGeom>
          <a:solidFill>
            <a:schemeClr val="accent1">
              <a:lumMod val="60000"/>
              <a:lumOff val="40000"/>
            </a:schemeClr>
          </a:solidFill>
          <a:ln w="12700" cap="sq">
            <a:noFill/>
            <a:miter/>
          </a:ln>
          <a:effectLst>
            <a:outerShdw blurRad="254000" dist="114300" dir="2700000" algn="tl" rotWithShape="0">
              <a:schemeClr val="accent1">
                <a:lumMod val="50000"/>
                <a:alpha val="3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28" name="标题 1"/>
          <p:cNvSpPr txBox="1"/>
          <p:nvPr/>
        </p:nvSpPr>
        <p:spPr>
          <a:xfrm rot="5400000">
            <a:off x="8260682" y="5975717"/>
            <a:ext cx="2160046" cy="1862110"/>
          </a:xfrm>
          <a:prstGeom prst="hexagon">
            <a:avLst/>
          </a:prstGeom>
          <a:solidFill>
            <a:schemeClr val="accent1">
              <a:lumMod val="75000"/>
            </a:schemeClr>
          </a:solidFill>
          <a:ln w="12700" cap="sq">
            <a:noFill/>
            <a:miter/>
          </a:ln>
          <a:effectLst>
            <a:outerShdw blurRad="304800" dist="38100" dir="2700000" algn="tl" rotWithShape="0">
              <a:schemeClr val="accent1">
                <a:lumMod val="50000"/>
                <a:alpha val="3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29" name="标题 1"/>
          <p:cNvSpPr txBox="1"/>
          <p:nvPr/>
        </p:nvSpPr>
        <p:spPr>
          <a:xfrm rot="5400000">
            <a:off x="5935457" y="4573767"/>
            <a:ext cx="2160046" cy="1862110"/>
          </a:xfrm>
          <a:prstGeom prst="hexagon">
            <a:avLst/>
          </a:prstGeom>
          <a:solidFill>
            <a:schemeClr val="accent1"/>
          </a:solidFill>
          <a:ln w="12700" cap="sq">
            <a:noFill/>
            <a:miter/>
          </a:ln>
          <a:effectLst>
            <a:outerShdw blurRad="254000" dist="114300" dir="2700000" algn="tl" rotWithShape="0">
              <a:schemeClr val="accent1">
                <a:lumMod val="50000"/>
                <a:alpha val="3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30" name="标题 1"/>
          <p:cNvSpPr txBox="1"/>
          <p:nvPr/>
        </p:nvSpPr>
        <p:spPr>
          <a:xfrm rot="5400000">
            <a:off x="-451470" y="4592225"/>
            <a:ext cx="2223740" cy="1917018"/>
          </a:xfrm>
          <a:prstGeom prst="hexagon">
            <a:avLst/>
          </a:prstGeom>
          <a:solidFill>
            <a:schemeClr val="accent1">
              <a:alpha val="17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31" name="图片 30"/>
          <p:cNvPicPr>
            <a:picLocks noChangeAspect="1"/>
          </p:cNvPicPr>
          <p:nvPr/>
        </p:nvPicPr>
        <p:blipFill>
          <a:blip r:embed="rId1">
            <a:alphaModFix amt="100000"/>
          </a:blip>
          <a:srcRect/>
          <a:stretch>
            <a:fillRect/>
          </a:stretch>
        </p:blipFill>
        <p:spPr>
          <a:xfrm>
            <a:off x="6507480" y="4743275"/>
            <a:ext cx="944880" cy="1394812"/>
          </a:xfrm>
          <a:prstGeom prst="rect">
            <a:avLst/>
          </a:prstGeom>
          <a:noFill/>
          <a:ln>
            <a:noFill/>
          </a:ln>
        </p:spPr>
      </p:pic>
      <p:pic>
        <p:nvPicPr>
          <p:cNvPr id="32" name="图片 31"/>
          <p:cNvPicPr>
            <a:picLocks noChangeAspect="1"/>
          </p:cNvPicPr>
          <p:nvPr/>
        </p:nvPicPr>
        <p:blipFill>
          <a:blip r:embed="rId2">
            <a:alphaModFix amt="100000"/>
          </a:blip>
          <a:srcRect/>
          <a:stretch>
            <a:fillRect/>
          </a:stretch>
        </p:blipFill>
        <p:spPr>
          <a:xfrm>
            <a:off x="8953500" y="3662681"/>
            <a:ext cx="853440" cy="995680"/>
          </a:xfrm>
          <a:prstGeom prst="rect">
            <a:avLst/>
          </a:prstGeom>
          <a:noFill/>
          <a:ln>
            <a:noFill/>
          </a:ln>
        </p:spPr>
      </p:pic>
      <p:sp>
        <p:nvSpPr>
          <p:cNvPr id="33" name="标题 1"/>
          <p:cNvSpPr txBox="1"/>
          <p:nvPr/>
        </p:nvSpPr>
        <p:spPr>
          <a:xfrm rot="5400000">
            <a:off x="7493602" y="1776227"/>
            <a:ext cx="2160046" cy="1862110"/>
          </a:xfrm>
          <a:prstGeom prst="hexagon">
            <a:avLst/>
          </a:prstGeom>
          <a:solidFill>
            <a:schemeClr val="accent1">
              <a:lumMod val="75000"/>
            </a:schemeClr>
          </a:solidFill>
          <a:ln w="12700" cap="sq">
            <a:noFill/>
            <a:miter/>
          </a:ln>
          <a:effectLst>
            <a:outerShdw blurRad="254000" dist="114300" dir="2700000" algn="tl" rotWithShape="0">
              <a:schemeClr val="accent1">
                <a:lumMod val="50000"/>
                <a:alpha val="30000"/>
              </a:schemeClr>
            </a:outerShdw>
          </a:effectLst>
        </p:spPr>
        <p:txBody>
          <a:bodyPr vert="horz" wrap="square" lIns="91440" tIns="45720" rIns="91440" bIns="45720" rtlCol="0" anchor="ctr"/>
          <a:lstStyle/>
          <a:p>
            <a:pPr algn="ctr">
              <a:lnSpc>
                <a:spcPct val="110000"/>
              </a:lnSpc>
            </a:pPr>
            <a:endParaRPr kumimoji="1" lang="zh-CN" altLang="en-US"/>
          </a:p>
        </p:txBody>
      </p:sp>
      <p:grpSp>
        <p:nvGrpSpPr>
          <p:cNvPr id="34" name="组合 33"/>
          <p:cNvGrpSpPr/>
          <p:nvPr/>
        </p:nvGrpSpPr>
        <p:grpSpPr>
          <a:xfrm>
            <a:off x="7563729" y="1566211"/>
            <a:ext cx="1081676" cy="1838593"/>
            <a:chOff x="7563729" y="1566211"/>
            <a:chExt cx="1081676" cy="1838593"/>
          </a:xfrm>
        </p:grpSpPr>
        <p:sp>
          <p:nvSpPr>
            <p:cNvPr id="35" name="标题 1"/>
            <p:cNvSpPr txBox="1"/>
            <p:nvPr/>
          </p:nvSpPr>
          <p:spPr>
            <a:xfrm rot="14613050">
              <a:off x="7595933" y="2032751"/>
              <a:ext cx="121920" cy="12192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6" name="标题 1"/>
            <p:cNvSpPr txBox="1"/>
            <p:nvPr/>
          </p:nvSpPr>
          <p:spPr>
            <a:xfrm rot="16216083" flipH="1">
              <a:off x="7025179" y="2686478"/>
              <a:ext cx="1262094" cy="45719"/>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7" name="标题 1"/>
            <p:cNvSpPr txBox="1"/>
            <p:nvPr/>
          </p:nvSpPr>
          <p:spPr>
            <a:xfrm rot="19958024" flipH="1">
              <a:off x="7592301" y="1850387"/>
              <a:ext cx="1033455" cy="45719"/>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8" name="标题 1"/>
            <p:cNvSpPr txBox="1"/>
            <p:nvPr/>
          </p:nvSpPr>
          <p:spPr>
            <a:xfrm rot="14613050">
              <a:off x="8502714" y="1586982"/>
              <a:ext cx="121920" cy="12192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9" name="标题 1"/>
            <p:cNvSpPr txBox="1"/>
            <p:nvPr/>
          </p:nvSpPr>
          <p:spPr>
            <a:xfrm rot="14613050">
              <a:off x="7584500" y="3262113"/>
              <a:ext cx="121920" cy="12192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pic>
        <p:nvPicPr>
          <p:cNvPr id="40" name="图片 39"/>
          <p:cNvPicPr>
            <a:picLocks noChangeAspect="1"/>
          </p:cNvPicPr>
          <p:nvPr/>
        </p:nvPicPr>
        <p:blipFill>
          <a:blip r:embed="rId3">
            <a:alphaModFix amt="100000"/>
          </a:blip>
          <a:srcRect/>
          <a:stretch>
            <a:fillRect/>
          </a:stretch>
        </p:blipFill>
        <p:spPr>
          <a:xfrm>
            <a:off x="8053346" y="2110414"/>
            <a:ext cx="1097280" cy="1219194"/>
          </a:xfrm>
          <a:prstGeom prst="rect">
            <a:avLst/>
          </a:prstGeom>
          <a:noFill/>
          <a:ln>
            <a:noFill/>
          </a:ln>
        </p:spPr>
      </p:pic>
      <p:pic>
        <p:nvPicPr>
          <p:cNvPr id="41" name="图片 40"/>
          <p:cNvPicPr>
            <a:picLocks noChangeAspect="1"/>
          </p:cNvPicPr>
          <p:nvPr/>
        </p:nvPicPr>
        <p:blipFill>
          <a:blip r:embed="rId4">
            <a:alphaModFix amt="100000"/>
          </a:blip>
          <a:srcRect/>
          <a:stretch>
            <a:fillRect/>
          </a:stretch>
        </p:blipFill>
        <p:spPr>
          <a:xfrm>
            <a:off x="11260696" y="2230740"/>
            <a:ext cx="782818" cy="922604"/>
          </a:xfrm>
          <a:prstGeom prst="rect">
            <a:avLst/>
          </a:prstGeom>
          <a:noFill/>
          <a:ln>
            <a:noFill/>
          </a:ln>
        </p:spPr>
      </p:pic>
      <p:sp>
        <p:nvSpPr>
          <p:cNvPr id="42" name="标题 1"/>
          <p:cNvSpPr txBox="1"/>
          <p:nvPr/>
        </p:nvSpPr>
        <p:spPr>
          <a:xfrm rot="5400000">
            <a:off x="9797383" y="363987"/>
            <a:ext cx="2160046" cy="1862110"/>
          </a:xfrm>
          <a:prstGeom prst="hexagon">
            <a:avLst/>
          </a:prstGeom>
          <a:solidFill>
            <a:schemeClr val="accent1"/>
          </a:solidFill>
          <a:ln w="12700" cap="sq">
            <a:noFill/>
            <a:miter/>
          </a:ln>
          <a:effectLst>
            <a:outerShdw blurRad="254000" dist="114300" dir="2700000" algn="tl" rotWithShape="0">
              <a:schemeClr val="accent1">
                <a:lumMod val="50000"/>
                <a:alpha val="30000"/>
              </a:schemeClr>
            </a:outerShdw>
          </a:effectLst>
        </p:spPr>
        <p:txBody>
          <a:bodyPr vert="horz" wrap="square" lIns="91440" tIns="45720" rIns="91440" bIns="45720" rtlCol="0" anchor="ctr"/>
          <a:lstStyle/>
          <a:p>
            <a:pPr algn="ctr">
              <a:lnSpc>
                <a:spcPct val="110000"/>
              </a:lnSpc>
            </a:pPr>
            <a:endParaRPr kumimoji="1" lang="zh-CN" altLang="en-US"/>
          </a:p>
        </p:txBody>
      </p:sp>
      <p:grpSp>
        <p:nvGrpSpPr>
          <p:cNvPr id="43" name="组合 42"/>
          <p:cNvGrpSpPr/>
          <p:nvPr/>
        </p:nvGrpSpPr>
        <p:grpSpPr>
          <a:xfrm>
            <a:off x="9891442" y="154922"/>
            <a:ext cx="1118504" cy="2335561"/>
            <a:chOff x="9891442" y="154922"/>
            <a:chExt cx="1118504" cy="2335561"/>
          </a:xfrm>
        </p:grpSpPr>
        <p:sp>
          <p:nvSpPr>
            <p:cNvPr id="44" name="标题 1"/>
            <p:cNvSpPr txBox="1"/>
            <p:nvPr/>
          </p:nvSpPr>
          <p:spPr>
            <a:xfrm rot="14613050">
              <a:off x="10849095" y="2347792"/>
              <a:ext cx="121920" cy="12192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5" name="标题 1"/>
            <p:cNvSpPr txBox="1"/>
            <p:nvPr/>
          </p:nvSpPr>
          <p:spPr>
            <a:xfrm rot="14613050">
              <a:off x="9912213" y="665911"/>
              <a:ext cx="121920" cy="12192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6" name="标题 1"/>
            <p:cNvSpPr txBox="1"/>
            <p:nvPr/>
          </p:nvSpPr>
          <p:spPr>
            <a:xfrm rot="12501059">
              <a:off x="9935757" y="2147955"/>
              <a:ext cx="1042323" cy="45719"/>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7" name="标题 1"/>
            <p:cNvSpPr txBox="1"/>
            <p:nvPr/>
          </p:nvSpPr>
          <p:spPr>
            <a:xfrm rot="16216083" flipH="1">
              <a:off x="9392437" y="1323480"/>
              <a:ext cx="1173258" cy="45719"/>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8" name="标题 1"/>
            <p:cNvSpPr txBox="1"/>
            <p:nvPr/>
          </p:nvSpPr>
          <p:spPr>
            <a:xfrm rot="19958024" flipH="1">
              <a:off x="9866169" y="461229"/>
              <a:ext cx="1153264" cy="45719"/>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9" name="标题 1"/>
            <p:cNvSpPr txBox="1"/>
            <p:nvPr/>
          </p:nvSpPr>
          <p:spPr>
            <a:xfrm rot="14613050">
              <a:off x="10867255" y="175693"/>
              <a:ext cx="121920" cy="12192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0" name="标题 1"/>
            <p:cNvSpPr txBox="1"/>
            <p:nvPr/>
          </p:nvSpPr>
          <p:spPr>
            <a:xfrm rot="14613050">
              <a:off x="9912214" y="1863522"/>
              <a:ext cx="121920" cy="12192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pic>
        <p:nvPicPr>
          <p:cNvPr id="51" name="图片 50"/>
          <p:cNvPicPr>
            <a:picLocks noChangeAspect="1"/>
          </p:cNvPicPr>
          <p:nvPr/>
        </p:nvPicPr>
        <p:blipFill>
          <a:blip r:embed="rId5">
            <a:alphaModFix amt="100000"/>
          </a:blip>
          <a:srcRect/>
          <a:stretch>
            <a:fillRect/>
          </a:stretch>
        </p:blipFill>
        <p:spPr>
          <a:xfrm>
            <a:off x="10287000" y="685806"/>
            <a:ext cx="1219200" cy="1219190"/>
          </a:xfrm>
          <a:prstGeom prst="rect">
            <a:avLst/>
          </a:prstGeom>
          <a:noFill/>
          <a:ln>
            <a:noFill/>
          </a:ln>
        </p:spPr>
      </p:pic>
      <p:pic>
        <p:nvPicPr>
          <p:cNvPr id="52" name="图片 51"/>
          <p:cNvPicPr>
            <a:picLocks noChangeAspect="1"/>
          </p:cNvPicPr>
          <p:nvPr/>
        </p:nvPicPr>
        <p:blipFill>
          <a:blip r:embed="rId6">
            <a:alphaModFix amt="100000"/>
          </a:blip>
          <a:srcRect/>
          <a:stretch>
            <a:fillRect/>
          </a:stretch>
        </p:blipFill>
        <p:spPr>
          <a:xfrm>
            <a:off x="7410303" y="3680949"/>
            <a:ext cx="762002" cy="846666"/>
          </a:xfrm>
          <a:prstGeom prst="rect">
            <a:avLst/>
          </a:prstGeom>
          <a:noFill/>
          <a:ln>
            <a:noFill/>
          </a:ln>
        </p:spPr>
      </p:pic>
      <p:pic>
        <p:nvPicPr>
          <p:cNvPr id="53" name="图片 52"/>
          <p:cNvPicPr>
            <a:picLocks noChangeAspect="1"/>
          </p:cNvPicPr>
          <p:nvPr/>
        </p:nvPicPr>
        <p:blipFill>
          <a:blip r:embed="rId7">
            <a:alphaModFix amt="100000"/>
          </a:blip>
          <a:srcRect/>
          <a:stretch>
            <a:fillRect/>
          </a:stretch>
        </p:blipFill>
        <p:spPr>
          <a:xfrm rot="1473473">
            <a:off x="11334158" y="5049521"/>
            <a:ext cx="801284" cy="924560"/>
          </a:xfrm>
          <a:prstGeom prst="rect">
            <a:avLst/>
          </a:prstGeom>
          <a:noFill/>
          <a:ln>
            <a:noFill/>
          </a:ln>
        </p:spPr>
      </p:pic>
      <p:pic>
        <p:nvPicPr>
          <p:cNvPr id="54" name="图片 53"/>
          <p:cNvPicPr>
            <a:picLocks noChangeAspect="1"/>
          </p:cNvPicPr>
          <p:nvPr/>
        </p:nvPicPr>
        <p:blipFill>
          <a:blip r:embed="rId8">
            <a:alphaModFix amt="100000"/>
          </a:blip>
          <a:srcRect/>
          <a:stretch>
            <a:fillRect/>
          </a:stretch>
        </p:blipFill>
        <p:spPr>
          <a:xfrm>
            <a:off x="8741265" y="6416207"/>
            <a:ext cx="1198880" cy="1005508"/>
          </a:xfrm>
          <a:prstGeom prst="rect">
            <a:avLst/>
          </a:prstGeom>
          <a:noFill/>
          <a:ln>
            <a:noFill/>
          </a:ln>
        </p:spPr>
      </p:pic>
      <p:grpSp>
        <p:nvGrpSpPr>
          <p:cNvPr id="55" name="组合 54"/>
          <p:cNvGrpSpPr/>
          <p:nvPr/>
        </p:nvGrpSpPr>
        <p:grpSpPr>
          <a:xfrm>
            <a:off x="6797040" y="1638301"/>
            <a:ext cx="472440" cy="472440"/>
            <a:chOff x="6797040" y="1638301"/>
            <a:chExt cx="472440" cy="472440"/>
          </a:xfrm>
        </p:grpSpPr>
        <p:sp>
          <p:nvSpPr>
            <p:cNvPr id="56" name="标题 1"/>
            <p:cNvSpPr txBox="1"/>
            <p:nvPr/>
          </p:nvSpPr>
          <p:spPr>
            <a:xfrm>
              <a:off x="6797040" y="1638301"/>
              <a:ext cx="472440" cy="472440"/>
            </a:xfrm>
            <a:prstGeom prst="ellipse">
              <a:avLst/>
            </a:prstGeom>
            <a:noFill/>
            <a:ln w="5715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grpSp>
          <p:nvGrpSpPr>
            <p:cNvPr id="57" name="组合 56"/>
            <p:cNvGrpSpPr/>
            <p:nvPr/>
          </p:nvGrpSpPr>
          <p:grpSpPr>
            <a:xfrm>
              <a:off x="6887210" y="1728471"/>
              <a:ext cx="292100" cy="292100"/>
              <a:chOff x="6887210" y="1728471"/>
              <a:chExt cx="292100" cy="292100"/>
            </a:xfrm>
          </p:grpSpPr>
          <p:sp>
            <p:nvSpPr>
              <p:cNvPr id="58" name="标题 1"/>
              <p:cNvSpPr txBox="1"/>
              <p:nvPr/>
            </p:nvSpPr>
            <p:spPr>
              <a:xfrm>
                <a:off x="6887210" y="1841501"/>
                <a:ext cx="292100" cy="66040"/>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9" name="标题 1"/>
              <p:cNvSpPr txBox="1"/>
              <p:nvPr/>
            </p:nvSpPr>
            <p:spPr>
              <a:xfrm rot="5400000">
                <a:off x="6887210" y="1841501"/>
                <a:ext cx="292100" cy="66040"/>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grpSp>
      </p:grpSp>
      <p:grpSp>
        <p:nvGrpSpPr>
          <p:cNvPr id="60" name="组合 59"/>
          <p:cNvGrpSpPr/>
          <p:nvPr/>
        </p:nvGrpSpPr>
        <p:grpSpPr>
          <a:xfrm>
            <a:off x="8821258" y="129058"/>
            <a:ext cx="336246" cy="336246"/>
            <a:chOff x="8821258" y="129058"/>
            <a:chExt cx="336246" cy="336246"/>
          </a:xfrm>
        </p:grpSpPr>
        <p:sp>
          <p:nvSpPr>
            <p:cNvPr id="61" name="标题 1"/>
            <p:cNvSpPr txBox="1"/>
            <p:nvPr/>
          </p:nvSpPr>
          <p:spPr>
            <a:xfrm>
              <a:off x="8821258" y="129058"/>
              <a:ext cx="336246" cy="336246"/>
            </a:xfrm>
            <a:prstGeom prst="ellipse">
              <a:avLst/>
            </a:prstGeom>
            <a:noFill/>
            <a:ln w="5715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grpSp>
          <p:nvGrpSpPr>
            <p:cNvPr id="62" name="组合 61"/>
            <p:cNvGrpSpPr/>
            <p:nvPr/>
          </p:nvGrpSpPr>
          <p:grpSpPr>
            <a:xfrm>
              <a:off x="8885434" y="193234"/>
              <a:ext cx="207894" cy="207894"/>
              <a:chOff x="8885434" y="193234"/>
              <a:chExt cx="207894" cy="207894"/>
            </a:xfrm>
          </p:grpSpPr>
          <p:sp>
            <p:nvSpPr>
              <p:cNvPr id="63" name="标题 1"/>
              <p:cNvSpPr txBox="1"/>
              <p:nvPr/>
            </p:nvSpPr>
            <p:spPr>
              <a:xfrm>
                <a:off x="8885434" y="273680"/>
                <a:ext cx="207894" cy="47002"/>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4" name="标题 1"/>
              <p:cNvSpPr txBox="1"/>
              <p:nvPr/>
            </p:nvSpPr>
            <p:spPr>
              <a:xfrm rot="5400000">
                <a:off x="8885434" y="273680"/>
                <a:ext cx="207894" cy="47002"/>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grpSp>
      </p:grpSp>
      <p:grpSp>
        <p:nvGrpSpPr>
          <p:cNvPr id="65" name="组合 64"/>
          <p:cNvGrpSpPr/>
          <p:nvPr/>
        </p:nvGrpSpPr>
        <p:grpSpPr>
          <a:xfrm>
            <a:off x="9563968" y="5058099"/>
            <a:ext cx="498290" cy="498290"/>
            <a:chOff x="9563968" y="5058099"/>
            <a:chExt cx="498290" cy="498290"/>
          </a:xfrm>
        </p:grpSpPr>
        <p:sp>
          <p:nvSpPr>
            <p:cNvPr id="66" name="标题 1"/>
            <p:cNvSpPr txBox="1"/>
            <p:nvPr/>
          </p:nvSpPr>
          <p:spPr>
            <a:xfrm>
              <a:off x="9563968" y="5058099"/>
              <a:ext cx="498290" cy="498290"/>
            </a:xfrm>
            <a:prstGeom prst="ellipse">
              <a:avLst/>
            </a:prstGeom>
            <a:noFill/>
            <a:ln w="5715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grpSp>
          <p:nvGrpSpPr>
            <p:cNvPr id="67" name="组合 66"/>
            <p:cNvGrpSpPr/>
            <p:nvPr/>
          </p:nvGrpSpPr>
          <p:grpSpPr>
            <a:xfrm>
              <a:off x="9659072" y="5153203"/>
              <a:ext cx="308082" cy="308082"/>
              <a:chOff x="9659072" y="5153203"/>
              <a:chExt cx="308082" cy="308082"/>
            </a:xfrm>
          </p:grpSpPr>
          <p:sp>
            <p:nvSpPr>
              <p:cNvPr id="68" name="标题 1"/>
              <p:cNvSpPr txBox="1"/>
              <p:nvPr/>
            </p:nvSpPr>
            <p:spPr>
              <a:xfrm>
                <a:off x="9659072" y="5272417"/>
                <a:ext cx="308083" cy="69653"/>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9" name="标题 1"/>
              <p:cNvSpPr txBox="1"/>
              <p:nvPr/>
            </p:nvSpPr>
            <p:spPr>
              <a:xfrm rot="5400000">
                <a:off x="9659072" y="5272417"/>
                <a:ext cx="308083" cy="69653"/>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grpSp>
      </p:grpSp>
      <p:sp>
        <p:nvSpPr>
          <p:cNvPr id="70" name="标题 1"/>
          <p:cNvSpPr txBox="1"/>
          <p:nvPr/>
        </p:nvSpPr>
        <p:spPr>
          <a:xfrm rot="5400000">
            <a:off x="-699343" y="406046"/>
            <a:ext cx="1190342" cy="1026156"/>
          </a:xfrm>
          <a:prstGeom prst="hexagon">
            <a:avLst/>
          </a:prstGeom>
          <a:solidFill>
            <a:schemeClr val="accent1"/>
          </a:solidFill>
          <a:ln w="12700" cap="sq">
            <a:noFill/>
            <a:miter/>
          </a:ln>
          <a:effectLst>
            <a:outerShdw blurRad="254000" dist="114300" dir="2700000" algn="tl" rotWithShape="0">
              <a:schemeClr val="accent1">
                <a:lumMod val="50000"/>
                <a:alpha val="3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71" name="标题 1"/>
          <p:cNvSpPr txBox="1"/>
          <p:nvPr/>
        </p:nvSpPr>
        <p:spPr>
          <a:xfrm>
            <a:off x="482600" y="1358900"/>
            <a:ext cx="5842000" cy="3378200"/>
          </a:xfrm>
          <a:prstGeom prst="rect">
            <a:avLst/>
          </a:prstGeom>
          <a:noFill/>
          <a:ln w="12700" cap="sq">
            <a:noFill/>
            <a:miter/>
          </a:ln>
        </p:spPr>
        <p:txBody>
          <a:bodyPr vert="horz" wrap="square" lIns="0" tIns="0" rIns="0" bIns="0" rtlCol="0" anchor="ctr"/>
          <a:lstStyle/>
          <a:p>
            <a:pPr algn="l">
              <a:lnSpc>
                <a:spcPct val="130000"/>
              </a:lnSpc>
            </a:pPr>
            <a:r>
              <a:rPr kumimoji="1" lang="en-US" altLang="zh-CN" sz="3900">
                <a:ln w="12700">
                  <a:noFill/>
                </a:ln>
                <a:solidFill>
                  <a:srgbClr val="348498">
                    <a:alpha val="100000"/>
                  </a:srgbClr>
                </a:solidFill>
                <a:latin typeface="Georgia" panose="02040502050405090303" charset="0"/>
                <a:ea typeface="OPPOSans H" panose="00020600040101010101" charset="-122"/>
                <a:cs typeface="Georgia" panose="02040502050405090303" charset="0"/>
              </a:rPr>
              <a:t>Fieldwork Methods for Intercultural Communication</a:t>
            </a:r>
            <a:r>
              <a:rPr kumimoji="1" lang="en-US" altLang="zh-CN" sz="3900">
                <a:ln w="12700">
                  <a:noFill/>
                </a:ln>
                <a:solidFill>
                  <a:srgbClr val="348498">
                    <a:alpha val="100000"/>
                  </a:srgbClr>
                </a:solidFill>
                <a:latin typeface="OPPOSans H" panose="00020600040101010101" charset="-122"/>
                <a:ea typeface="OPPOSans H" panose="00020600040101010101" charset="-122"/>
                <a:cs typeface="OPPOSans H" panose="00020600040101010101" charset="-122"/>
              </a:rPr>
              <a:t> </a:t>
            </a:r>
            <a:endParaRPr kumimoji="1" lang="zh-CN" altLang="en-US"/>
          </a:p>
        </p:txBody>
      </p:sp>
      <p:sp>
        <p:nvSpPr>
          <p:cNvPr id="73" name="标题 1"/>
          <p:cNvSpPr txBox="1"/>
          <p:nvPr/>
        </p:nvSpPr>
        <p:spPr>
          <a:xfrm>
            <a:off x="482600" y="4765040"/>
            <a:ext cx="3402965" cy="952500"/>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4" name="标题 1"/>
          <p:cNvSpPr txBox="1"/>
          <p:nvPr/>
        </p:nvSpPr>
        <p:spPr>
          <a:xfrm>
            <a:off x="741423" y="5168218"/>
            <a:ext cx="2884965" cy="450205"/>
          </a:xfrm>
          <a:prstGeom prst="rect">
            <a:avLst/>
          </a:prstGeom>
          <a:noFill/>
          <a:ln w="12700" cap="sq">
            <a:noFill/>
            <a:miter/>
          </a:ln>
        </p:spPr>
        <p:txBody>
          <a:bodyPr vert="horz" wrap="square" lIns="0" tIns="0" rIns="0" bIns="0" rtlCol="0" anchor="ctr"/>
          <a:lstStyle/>
          <a:p>
            <a:pPr algn="ctr">
              <a:lnSpc>
                <a:spcPct val="110000"/>
              </a:lnSpc>
            </a:pPr>
            <a:r>
              <a:rPr kumimoji="1" lang="en-US" altLang="zh-CN"/>
              <a:t>N</a:t>
            </a:r>
            <a:r>
              <a:rPr kumimoji="1" lang="en-US" altLang="zh-CN"/>
              <a:t>oah B. FANG</a:t>
            </a:r>
            <a:endParaRPr kumimoji="1" lang="en-US" altLang="zh-CN"/>
          </a:p>
          <a:p>
            <a:pPr algn="ctr">
              <a:lnSpc>
                <a:spcPct val="110000"/>
              </a:lnSpc>
            </a:pPr>
            <a:r>
              <a:rPr kumimoji="1" lang="en-US" altLang="zh-CN"/>
              <a:t>bofang@hkust-gz.edu.cn</a:t>
            </a:r>
            <a:endParaRPr kumimoji="1" lang="en-US" altLang="zh-CN"/>
          </a:p>
          <a:p>
            <a:pPr algn="ctr">
              <a:lnSpc>
                <a:spcPct val="110000"/>
              </a:lnSpc>
            </a:pPr>
            <a:endParaRPr kumimoji="1"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7918900" y="2753055"/>
            <a:ext cx="3600000" cy="900000"/>
          </a:xfrm>
          <a:prstGeom prst="rect">
            <a:avLst/>
          </a:prstGeom>
          <a:noFill/>
          <a:ln>
            <a:noFill/>
          </a:ln>
        </p:spPr>
        <p:txBody>
          <a:bodyPr vert="horz" wrap="square" lIns="0" tIns="0" rIns="0" bIns="0" rtlCol="0" anchor="t"/>
          <a:lstStyle/>
          <a:p>
            <a:pPr algn="l">
              <a:lnSpc>
                <a:spcPct val="120000"/>
              </a:lnSpc>
            </a:pPr>
            <a:r>
              <a:rPr kumimoji="1" lang="en-US" altLang="zh-CN" sz="22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Fieldwork Methods</a:t>
            </a:r>
            <a:endParaRPr kumimoji="1" lang="zh-CN" altLang="en-US"/>
          </a:p>
        </p:txBody>
      </p:sp>
      <p:sp>
        <p:nvSpPr>
          <p:cNvPr id="3" name="标题 1"/>
          <p:cNvSpPr txBox="1"/>
          <p:nvPr/>
        </p:nvSpPr>
        <p:spPr>
          <a:xfrm>
            <a:off x="7486596" y="2757870"/>
            <a:ext cx="393700" cy="393700"/>
          </a:xfrm>
          <a:prstGeom prst="rect">
            <a:avLst/>
          </a:prstGeom>
          <a:noFill/>
          <a:ln w="12700" cap="sq">
            <a:noFill/>
            <a:miter/>
          </a:ln>
        </p:spPr>
        <p:txBody>
          <a:bodyPr vert="horz" wrap="square" lIns="0" tIns="0" rIns="0" bIns="0" rtlCol="0" anchor="ctr">
            <a:spAutoFit/>
          </a:bodyPr>
          <a:lstStyle/>
          <a:p>
            <a:pPr algn="l">
              <a:lnSpc>
                <a:spcPct val="110000"/>
              </a:lnSpc>
            </a:pPr>
            <a:r>
              <a:rPr kumimoji="1" lang="en-US" altLang="zh-CN" sz="2800">
                <a:ln w="12700">
                  <a:noFill/>
                </a:ln>
                <a:solidFill>
                  <a:srgbClr val="5BD1D7">
                    <a:alpha val="100000"/>
                  </a:srgbClr>
                </a:solidFill>
                <a:latin typeface="Source Han Sans" panose="020B0500000000000000" charset="-122"/>
                <a:ea typeface="Source Han Sans" panose="020B0500000000000000" charset="-122"/>
                <a:cs typeface="Source Han Sans" panose="020B0500000000000000" charset="-122"/>
              </a:rPr>
              <a:t>2.</a:t>
            </a:r>
            <a:endParaRPr kumimoji="1" lang="zh-CN" altLang="en-US"/>
          </a:p>
        </p:txBody>
      </p:sp>
      <p:sp>
        <p:nvSpPr>
          <p:cNvPr id="4" name="标题 1"/>
          <p:cNvSpPr txBox="1"/>
          <p:nvPr/>
        </p:nvSpPr>
        <p:spPr>
          <a:xfrm>
            <a:off x="2994567" y="2757870"/>
            <a:ext cx="393700" cy="393700"/>
          </a:xfrm>
          <a:prstGeom prst="rect">
            <a:avLst/>
          </a:prstGeom>
          <a:noFill/>
          <a:ln w="12700" cap="sq">
            <a:noFill/>
            <a:miter/>
          </a:ln>
        </p:spPr>
        <p:txBody>
          <a:bodyPr vert="horz" wrap="square" lIns="0" tIns="0" rIns="0" bIns="0" rtlCol="0" anchor="ctr">
            <a:spAutoFit/>
          </a:bodyPr>
          <a:lstStyle/>
          <a:p>
            <a:pPr algn="l">
              <a:lnSpc>
                <a:spcPct val="110000"/>
              </a:lnSpc>
            </a:pPr>
            <a:r>
              <a:rPr kumimoji="1" lang="en-US" altLang="zh-CN" sz="2800">
                <a:ln w="12700">
                  <a:noFill/>
                </a:ln>
                <a:solidFill>
                  <a:srgbClr val="5BD1D7">
                    <a:alpha val="100000"/>
                  </a:srgbClr>
                </a:solidFill>
                <a:latin typeface="Source Han Sans" panose="020B0500000000000000" charset="-122"/>
                <a:ea typeface="Source Han Sans" panose="020B0500000000000000" charset="-122"/>
                <a:cs typeface="Source Han Sans" panose="020B0500000000000000" charset="-122"/>
              </a:rPr>
              <a:t>1.</a:t>
            </a:r>
            <a:endParaRPr kumimoji="1" lang="zh-CN" altLang="en-US"/>
          </a:p>
        </p:txBody>
      </p:sp>
      <p:sp>
        <p:nvSpPr>
          <p:cNvPr id="5" name="标题 1"/>
          <p:cNvSpPr txBox="1"/>
          <p:nvPr/>
        </p:nvSpPr>
        <p:spPr>
          <a:xfrm>
            <a:off x="3415643" y="2753055"/>
            <a:ext cx="3600000" cy="900000"/>
          </a:xfrm>
          <a:prstGeom prst="rect">
            <a:avLst/>
          </a:prstGeom>
          <a:noFill/>
          <a:ln>
            <a:noFill/>
          </a:ln>
        </p:spPr>
        <p:txBody>
          <a:bodyPr vert="horz" wrap="square" lIns="0" tIns="0" rIns="0" bIns="0" rtlCol="0" anchor="t"/>
          <a:lstStyle/>
          <a:p>
            <a:pPr algn="l">
              <a:lnSpc>
                <a:spcPct val="120000"/>
              </a:lnSpc>
            </a:pPr>
            <a:r>
              <a:rPr kumimoji="1" lang="en-US" altLang="zh-CN" sz="22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Introduction to Fieldwork</a:t>
            </a:r>
            <a:endParaRPr kumimoji="1" lang="zh-CN" altLang="en-US"/>
          </a:p>
        </p:txBody>
      </p:sp>
      <p:sp>
        <p:nvSpPr>
          <p:cNvPr id="6" name="标题 1"/>
          <p:cNvSpPr txBox="1"/>
          <p:nvPr/>
        </p:nvSpPr>
        <p:spPr>
          <a:xfrm>
            <a:off x="7918900" y="3771593"/>
            <a:ext cx="3600000" cy="900000"/>
          </a:xfrm>
          <a:prstGeom prst="rect">
            <a:avLst/>
          </a:prstGeom>
          <a:noFill/>
          <a:ln>
            <a:noFill/>
          </a:ln>
        </p:spPr>
        <p:txBody>
          <a:bodyPr vert="horz" wrap="square" lIns="0" tIns="0" rIns="0" bIns="0" rtlCol="0" anchor="t"/>
          <a:lstStyle/>
          <a:p>
            <a:pPr algn="l">
              <a:lnSpc>
                <a:spcPct val="120000"/>
              </a:lnSpc>
            </a:pPr>
            <a:r>
              <a:rPr kumimoji="1" lang="en-US" altLang="zh-CN" sz="22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In-Class Simulated Fieldwork Activities</a:t>
            </a:r>
            <a:endParaRPr kumimoji="1" lang="zh-CN" altLang="en-US"/>
          </a:p>
        </p:txBody>
      </p:sp>
      <p:sp>
        <p:nvSpPr>
          <p:cNvPr id="7" name="标题 1"/>
          <p:cNvSpPr txBox="1"/>
          <p:nvPr/>
        </p:nvSpPr>
        <p:spPr>
          <a:xfrm>
            <a:off x="3415643" y="3771593"/>
            <a:ext cx="3600000" cy="900000"/>
          </a:xfrm>
          <a:prstGeom prst="rect">
            <a:avLst/>
          </a:prstGeom>
          <a:noFill/>
          <a:ln>
            <a:noFill/>
          </a:ln>
        </p:spPr>
        <p:txBody>
          <a:bodyPr vert="horz" wrap="square" lIns="0" tIns="0" rIns="0" bIns="0" rtlCol="0" anchor="t"/>
          <a:lstStyle/>
          <a:p>
            <a:pPr algn="l">
              <a:lnSpc>
                <a:spcPct val="120000"/>
              </a:lnSpc>
            </a:pPr>
            <a:r>
              <a:rPr kumimoji="1" lang="en-US" altLang="zh-CN" sz="22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Fieldwork Ethics</a:t>
            </a:r>
            <a:endParaRPr kumimoji="1" lang="zh-CN" altLang="en-US"/>
          </a:p>
        </p:txBody>
      </p:sp>
      <p:sp>
        <p:nvSpPr>
          <p:cNvPr id="8" name="标题 1"/>
          <p:cNvSpPr txBox="1"/>
          <p:nvPr/>
        </p:nvSpPr>
        <p:spPr>
          <a:xfrm>
            <a:off x="2994567" y="3763059"/>
            <a:ext cx="393700" cy="393700"/>
          </a:xfrm>
          <a:prstGeom prst="rect">
            <a:avLst/>
          </a:prstGeom>
          <a:noFill/>
          <a:ln w="12700" cap="sq">
            <a:noFill/>
            <a:miter/>
          </a:ln>
        </p:spPr>
        <p:txBody>
          <a:bodyPr vert="horz" wrap="square" lIns="0" tIns="0" rIns="0" bIns="0" rtlCol="0" anchor="ctr">
            <a:spAutoFit/>
          </a:bodyPr>
          <a:lstStyle/>
          <a:p>
            <a:pPr algn="l">
              <a:lnSpc>
                <a:spcPct val="110000"/>
              </a:lnSpc>
            </a:pPr>
            <a:r>
              <a:rPr kumimoji="1" lang="en-US" altLang="zh-CN" sz="2800">
                <a:ln w="12700">
                  <a:noFill/>
                </a:ln>
                <a:solidFill>
                  <a:srgbClr val="5BD1D7">
                    <a:alpha val="100000"/>
                  </a:srgbClr>
                </a:solidFill>
                <a:latin typeface="Source Han Sans" panose="020B0500000000000000" charset="-122"/>
                <a:ea typeface="Source Han Sans" panose="020B0500000000000000" charset="-122"/>
                <a:cs typeface="Source Han Sans" panose="020B0500000000000000" charset="-122"/>
              </a:rPr>
              <a:t>3.</a:t>
            </a:r>
            <a:endParaRPr kumimoji="1" lang="zh-CN" altLang="en-US"/>
          </a:p>
        </p:txBody>
      </p:sp>
      <p:sp>
        <p:nvSpPr>
          <p:cNvPr id="9" name="标题 1"/>
          <p:cNvSpPr txBox="1"/>
          <p:nvPr/>
        </p:nvSpPr>
        <p:spPr>
          <a:xfrm>
            <a:off x="7486596" y="3763059"/>
            <a:ext cx="393700" cy="393700"/>
          </a:xfrm>
          <a:prstGeom prst="rect">
            <a:avLst/>
          </a:prstGeom>
          <a:noFill/>
          <a:ln w="12700" cap="sq">
            <a:noFill/>
            <a:miter/>
          </a:ln>
        </p:spPr>
        <p:txBody>
          <a:bodyPr vert="horz" wrap="square" lIns="0" tIns="0" rIns="0" bIns="0" rtlCol="0" anchor="ctr">
            <a:spAutoFit/>
          </a:bodyPr>
          <a:lstStyle/>
          <a:p>
            <a:pPr algn="l">
              <a:lnSpc>
                <a:spcPct val="110000"/>
              </a:lnSpc>
            </a:pPr>
            <a:r>
              <a:rPr kumimoji="1" lang="en-US" altLang="zh-CN" sz="2800">
                <a:ln w="12700">
                  <a:noFill/>
                </a:ln>
                <a:solidFill>
                  <a:srgbClr val="5BD1D7">
                    <a:alpha val="100000"/>
                  </a:srgbClr>
                </a:solidFill>
                <a:latin typeface="Source Han Sans" panose="020B0500000000000000" charset="-122"/>
                <a:ea typeface="Source Han Sans" panose="020B0500000000000000" charset="-122"/>
                <a:cs typeface="Source Han Sans" panose="020B0500000000000000" charset="-122"/>
              </a:rPr>
              <a:t>4.</a:t>
            </a:r>
            <a:endParaRPr kumimoji="1" lang="zh-CN" altLang="en-US"/>
          </a:p>
        </p:txBody>
      </p:sp>
      <p:sp>
        <p:nvSpPr>
          <p:cNvPr id="14" name="标题 1"/>
          <p:cNvSpPr txBox="1"/>
          <p:nvPr/>
        </p:nvSpPr>
        <p:spPr>
          <a:xfrm rot="16200000">
            <a:off x="669725" y="440543"/>
            <a:ext cx="2520000" cy="2520000"/>
          </a:xfrm>
          <a:prstGeom prst="teardrop">
            <a:avLst/>
          </a:prstGeom>
          <a:solidFill>
            <a:schemeClr val="accent1"/>
          </a:solidFill>
          <a:ln w="4629" cap="flat">
            <a:noFill/>
            <a:miter/>
          </a:ln>
        </p:spPr>
        <p:txBody>
          <a:bodyPr vert="horz" wrap="square" lIns="91440" tIns="45720" rIns="91440" bIns="45720" rtlCol="0" anchor="ctr"/>
          <a:lstStyle/>
          <a:p>
            <a:pPr algn="l">
              <a:lnSpc>
                <a:spcPct val="110000"/>
              </a:lnSpc>
            </a:pPr>
            <a:endParaRPr kumimoji="1" lang="zh-CN" altLang="en-US"/>
          </a:p>
        </p:txBody>
      </p:sp>
      <p:sp>
        <p:nvSpPr>
          <p:cNvPr id="15" name="标题 1"/>
          <p:cNvSpPr txBox="1"/>
          <p:nvPr/>
        </p:nvSpPr>
        <p:spPr>
          <a:xfrm>
            <a:off x="858683" y="1312602"/>
            <a:ext cx="2142084" cy="553998"/>
          </a:xfrm>
          <a:prstGeom prst="rect">
            <a:avLst/>
          </a:prstGeom>
          <a:noFill/>
          <a:ln w="12700" cap="sq">
            <a:noFill/>
            <a:miter/>
          </a:ln>
        </p:spPr>
        <p:txBody>
          <a:bodyPr vert="horz" wrap="square" lIns="0" tIns="0" rIns="0" bIns="0" rtlCol="0" anchor="ctr"/>
          <a:lstStyle/>
          <a:p>
            <a:pPr algn="l">
              <a:lnSpc>
                <a:spcPct val="110000"/>
              </a:lnSpc>
            </a:pPr>
            <a:r>
              <a:rPr kumimoji="1" lang="en-US" altLang="zh-CN" sz="3200">
                <a:ln w="12700">
                  <a:noFill/>
                </a:ln>
                <a:solidFill>
                  <a:srgbClr val="FFFFFF">
                    <a:alpha val="100000"/>
                  </a:srgbClr>
                </a:solidFill>
                <a:latin typeface="Source Han Sans" panose="020B0500000000000000" charset="-122"/>
                <a:ea typeface="Source Han Sans" panose="020B0500000000000000" charset="-122"/>
                <a:cs typeface="Source Han Sans" panose="020B0500000000000000" charset="-122"/>
              </a:rPr>
              <a:t>Catalogue</a:t>
            </a:r>
            <a:endParaRPr kumimoji="1" lang="zh-CN" altLang="en-US"/>
          </a:p>
        </p:txBody>
      </p:sp>
      <p:cxnSp>
        <p:nvCxnSpPr>
          <p:cNvPr id="17" name="标题 1"/>
          <p:cNvCxnSpPr/>
          <p:nvPr/>
        </p:nvCxnSpPr>
        <p:spPr>
          <a:xfrm flipH="1">
            <a:off x="845207" y="1937909"/>
            <a:ext cx="2727886" cy="0"/>
          </a:xfrm>
          <a:prstGeom prst="line">
            <a:avLst/>
          </a:prstGeom>
          <a:noFill/>
          <a:ln w="12700" cap="sq">
            <a:solidFill>
              <a:schemeClr val="bg1"/>
            </a:solidFill>
            <a:miter/>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rot="5400000">
            <a:off x="2626487" y="-2707511"/>
            <a:ext cx="6858004" cy="12273026"/>
          </a:xfrm>
          <a:prstGeom prst="rect">
            <a:avLst/>
          </a:prstGeom>
          <a:gradFill>
            <a:gsLst>
              <a:gs pos="0">
                <a:schemeClr val="accent1">
                  <a:lumMod val="60000"/>
                  <a:lumOff val="40000"/>
                </a:schemeClr>
              </a:gs>
              <a:gs pos="100000">
                <a:schemeClr val="accent1">
                  <a:lumMod val="20000"/>
                  <a:lumOff val="8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grpSp>
        <p:nvGrpSpPr>
          <p:cNvPr id="3" name="组合 2"/>
          <p:cNvGrpSpPr/>
          <p:nvPr/>
        </p:nvGrpSpPr>
        <p:grpSpPr>
          <a:xfrm>
            <a:off x="-615366" y="1130300"/>
            <a:ext cx="4543428" cy="5192431"/>
            <a:chOff x="-615366" y="1130300"/>
            <a:chExt cx="4543428" cy="5192431"/>
          </a:xfrm>
        </p:grpSpPr>
        <p:sp>
          <p:nvSpPr>
            <p:cNvPr id="4" name="标题 1"/>
            <p:cNvSpPr txBox="1"/>
            <p:nvPr/>
          </p:nvSpPr>
          <p:spPr>
            <a:xfrm rot="16200000" flipH="1">
              <a:off x="-719143" y="2575163"/>
              <a:ext cx="1504761" cy="1297208"/>
            </a:xfrm>
            <a:prstGeom prst="hexagon">
              <a:avLst/>
            </a:prstGeom>
            <a:solidFill>
              <a:schemeClr val="accent1">
                <a:lumMod val="7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rot="16200000" flipH="1">
              <a:off x="576998" y="2575163"/>
              <a:ext cx="1504761" cy="1297208"/>
            </a:xfrm>
            <a:prstGeom prst="hexagon">
              <a:avLst/>
            </a:prstGeom>
            <a:solidFill>
              <a:schemeClr val="accent1">
                <a:lumMod val="40000"/>
                <a:lumOff val="6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rot="16200000" flipH="1">
              <a:off x="1225603" y="3744357"/>
              <a:ext cx="1504761" cy="1297208"/>
            </a:xfrm>
            <a:prstGeom prst="hexag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rot="16200000" flipH="1">
              <a:off x="2527078" y="3748624"/>
              <a:ext cx="1504761" cy="1297208"/>
            </a:xfrm>
            <a:prstGeom prst="hexagon">
              <a:avLst/>
            </a:prstGeom>
            <a:solidFill>
              <a:schemeClr val="accent1">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rot="16200000" flipH="1">
              <a:off x="-719143" y="4921746"/>
              <a:ext cx="1504761" cy="1297208"/>
            </a:xfrm>
            <a:prstGeom prst="hexag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grpSp>
          <p:nvGrpSpPr>
            <p:cNvPr id="9" name="组合 8"/>
            <p:cNvGrpSpPr/>
            <p:nvPr/>
          </p:nvGrpSpPr>
          <p:grpSpPr>
            <a:xfrm>
              <a:off x="1927722" y="2453090"/>
              <a:ext cx="1378284" cy="388004"/>
              <a:chOff x="1927722" y="2453090"/>
              <a:chExt cx="1378284" cy="388004"/>
            </a:xfrm>
          </p:grpSpPr>
          <p:sp>
            <p:nvSpPr>
              <p:cNvPr id="10" name="标题 1"/>
              <p:cNvSpPr txBox="1"/>
              <p:nvPr/>
            </p:nvSpPr>
            <p:spPr>
              <a:xfrm>
                <a:off x="1927722" y="2738683"/>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3203595" y="2738683"/>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rot="19996967">
                <a:off x="1929925" y="2614851"/>
                <a:ext cx="726780" cy="3024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rot="1603033" flipH="1">
                <a:off x="2565248" y="2614621"/>
                <a:ext cx="725748" cy="3024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grpSp>
          <p:nvGrpSpPr>
            <p:cNvPr id="14" name="组合 13"/>
            <p:cNvGrpSpPr/>
            <p:nvPr/>
          </p:nvGrpSpPr>
          <p:grpSpPr>
            <a:xfrm>
              <a:off x="303299" y="4020857"/>
              <a:ext cx="1469957" cy="1885587"/>
              <a:chOff x="303299" y="4020857"/>
              <a:chExt cx="1469957" cy="1885587"/>
            </a:xfrm>
          </p:grpSpPr>
          <p:sp>
            <p:nvSpPr>
              <p:cNvPr id="15" name="标题 1"/>
              <p:cNvSpPr txBox="1"/>
              <p:nvPr/>
            </p:nvSpPr>
            <p:spPr>
              <a:xfrm rot="6986950">
                <a:off x="873289" y="4551830"/>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rot="6986950">
                <a:off x="320746" y="5786585"/>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rot="4874959">
                <a:off x="627423" y="4971094"/>
                <a:ext cx="726780" cy="3024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rot="8589983" flipH="1">
                <a:off x="319709" y="5558523"/>
                <a:ext cx="816467" cy="3024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rot="20960850" flipH="1">
                <a:off x="1662261" y="5600282"/>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rot="1472841" flipH="1">
                <a:off x="1003880" y="5468830"/>
                <a:ext cx="726780" cy="3024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rot="8573900">
                <a:off x="867480" y="4318598"/>
                <a:ext cx="823013" cy="38403"/>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rot="6986950">
                <a:off x="1552252" y="4038304"/>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pic>
          <p:nvPicPr>
            <p:cNvPr id="23" name="图片 22"/>
            <p:cNvPicPr>
              <a:picLocks noChangeAspect="1"/>
            </p:cNvPicPr>
            <p:nvPr/>
          </p:nvPicPr>
          <p:blipFill>
            <a:blip r:embed="rId1">
              <a:alphaModFix amt="100000"/>
            </a:blip>
            <a:srcRect/>
            <a:stretch>
              <a:fillRect/>
            </a:stretch>
          </p:blipFill>
          <p:spPr>
            <a:xfrm flipH="1">
              <a:off x="1586352" y="4026289"/>
              <a:ext cx="716878" cy="836358"/>
            </a:xfrm>
            <a:prstGeom prst="rect">
              <a:avLst/>
            </a:prstGeom>
            <a:noFill/>
            <a:ln>
              <a:noFill/>
            </a:ln>
          </p:spPr>
        </p:pic>
        <p:sp>
          <p:nvSpPr>
            <p:cNvPr id="24" name="标题 1"/>
            <p:cNvSpPr txBox="1"/>
            <p:nvPr/>
          </p:nvSpPr>
          <p:spPr>
            <a:xfrm rot="16200000" flipH="1">
              <a:off x="1715115" y="2441694"/>
              <a:ext cx="1814410" cy="1564148"/>
            </a:xfrm>
            <a:prstGeom prst="hexagon">
              <a:avLst/>
            </a:prstGeom>
            <a:solidFill>
              <a:schemeClr val="accent1">
                <a:lumMod val="75000"/>
              </a:schemeClr>
            </a:solidFill>
            <a:ln w="12700" cap="sq">
              <a:noFill/>
              <a:miter/>
            </a:ln>
            <a:effectLst>
              <a:outerShdw blurRad="254000" dist="114300" dir="2700000" algn="tl" rotWithShape="0">
                <a:schemeClr val="accent1">
                  <a:lumMod val="50000"/>
                  <a:alpha val="30000"/>
                </a:schemeClr>
              </a:outerShdw>
            </a:effectLst>
          </p:spPr>
          <p:txBody>
            <a:bodyPr vert="horz" wrap="square" lIns="91440" tIns="45720" rIns="91440" bIns="45720" rtlCol="0" anchor="ctr"/>
            <a:lstStyle/>
            <a:p>
              <a:pPr algn="ctr">
                <a:lnSpc>
                  <a:spcPct val="110000"/>
                </a:lnSpc>
              </a:pPr>
              <a:endParaRPr kumimoji="1" lang="zh-CN" altLang="en-US"/>
            </a:p>
          </p:txBody>
        </p:sp>
        <p:grpSp>
          <p:nvGrpSpPr>
            <p:cNvPr id="25" name="组合 24"/>
            <p:cNvGrpSpPr/>
            <p:nvPr/>
          </p:nvGrpSpPr>
          <p:grpSpPr>
            <a:xfrm>
              <a:off x="2156570" y="2846391"/>
              <a:ext cx="1732412" cy="752572"/>
              <a:chOff x="2156570" y="2846391"/>
              <a:chExt cx="1732412" cy="752572"/>
            </a:xfrm>
          </p:grpSpPr>
          <p:sp>
            <p:nvSpPr>
              <p:cNvPr id="26" name="标题 1"/>
              <p:cNvSpPr txBox="1"/>
              <p:nvPr/>
            </p:nvSpPr>
            <p:spPr>
              <a:xfrm rot="6986950">
                <a:off x="2939726" y="3479104"/>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7" name="标题 1"/>
              <p:cNvSpPr txBox="1"/>
              <p:nvPr/>
            </p:nvSpPr>
            <p:spPr>
              <a:xfrm rot="8589983" flipH="1">
                <a:off x="2873635" y="3199613"/>
                <a:ext cx="1060142" cy="38403"/>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8" name="标题 1"/>
              <p:cNvSpPr txBox="1"/>
              <p:nvPr/>
            </p:nvSpPr>
            <p:spPr>
              <a:xfrm rot="12331924" flipH="1">
                <a:off x="2185835" y="3327510"/>
                <a:ext cx="868088" cy="38403"/>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9" name="标题 1"/>
              <p:cNvSpPr txBox="1"/>
              <p:nvPr/>
            </p:nvSpPr>
            <p:spPr>
              <a:xfrm rot="6986950">
                <a:off x="2174017" y="3103230"/>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0" name="标题 1"/>
              <p:cNvSpPr txBox="1"/>
              <p:nvPr/>
            </p:nvSpPr>
            <p:spPr>
              <a:xfrm rot="6986950">
                <a:off x="3769124" y="2863838"/>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pic>
          <p:nvPicPr>
            <p:cNvPr id="31" name="图片 30"/>
            <p:cNvPicPr>
              <a:picLocks noChangeAspect="1"/>
            </p:cNvPicPr>
            <p:nvPr/>
          </p:nvPicPr>
          <p:blipFill>
            <a:blip r:embed="rId2">
              <a:alphaModFix amt="100000"/>
            </a:blip>
            <a:srcRect/>
            <a:stretch>
              <a:fillRect/>
            </a:stretch>
          </p:blipFill>
          <p:spPr>
            <a:xfrm flipH="1">
              <a:off x="2137647" y="2722406"/>
              <a:ext cx="921701" cy="1024106"/>
            </a:xfrm>
            <a:prstGeom prst="rect">
              <a:avLst/>
            </a:prstGeom>
            <a:noFill/>
            <a:ln>
              <a:noFill/>
            </a:ln>
          </p:spPr>
        </p:pic>
        <p:pic>
          <p:nvPicPr>
            <p:cNvPr id="32" name="图片 31"/>
            <p:cNvPicPr>
              <a:picLocks noChangeAspect="1"/>
            </p:cNvPicPr>
            <p:nvPr/>
          </p:nvPicPr>
          <p:blipFill>
            <a:blip r:embed="rId3">
              <a:alphaModFix amt="100000"/>
            </a:blip>
            <a:srcRect/>
            <a:stretch>
              <a:fillRect/>
            </a:stretch>
          </p:blipFill>
          <p:spPr>
            <a:xfrm flipH="1">
              <a:off x="-292341" y="2823478"/>
              <a:ext cx="657557" cy="774975"/>
            </a:xfrm>
            <a:prstGeom prst="rect">
              <a:avLst/>
            </a:prstGeom>
            <a:noFill/>
            <a:ln>
              <a:noFill/>
            </a:ln>
          </p:spPr>
        </p:pic>
        <p:sp>
          <p:nvSpPr>
            <p:cNvPr id="33" name="标题 1"/>
            <p:cNvSpPr txBox="1"/>
            <p:nvPr/>
          </p:nvSpPr>
          <p:spPr>
            <a:xfrm rot="16200000" flipH="1">
              <a:off x="-220030" y="1255431"/>
              <a:ext cx="1814410" cy="1564147"/>
            </a:xfrm>
            <a:prstGeom prst="hexagon">
              <a:avLst/>
            </a:prstGeom>
            <a:solidFill>
              <a:schemeClr val="accent1"/>
            </a:solidFill>
            <a:ln w="12700" cap="sq">
              <a:noFill/>
              <a:miter/>
            </a:ln>
            <a:effectLst>
              <a:outerShdw blurRad="254000" dist="114300" dir="2700000" algn="tl" rotWithShape="0">
                <a:schemeClr val="accent1">
                  <a:lumMod val="50000"/>
                  <a:alpha val="30000"/>
                </a:schemeClr>
              </a:outerShdw>
            </a:effectLst>
          </p:spPr>
          <p:txBody>
            <a:bodyPr vert="horz" wrap="square" lIns="91440" tIns="45720" rIns="91440" bIns="45720" rtlCol="0" anchor="ctr"/>
            <a:lstStyle/>
            <a:p>
              <a:pPr algn="ctr">
                <a:lnSpc>
                  <a:spcPct val="110000"/>
                </a:lnSpc>
              </a:pPr>
              <a:endParaRPr kumimoji="1" lang="zh-CN" altLang="en-US"/>
            </a:p>
          </p:txBody>
        </p:sp>
        <p:grpSp>
          <p:nvGrpSpPr>
            <p:cNvPr id="34" name="组合 33"/>
            <p:cNvGrpSpPr/>
            <p:nvPr/>
          </p:nvGrpSpPr>
          <p:grpSpPr>
            <a:xfrm>
              <a:off x="-110640" y="1447861"/>
              <a:ext cx="1751984" cy="1617185"/>
              <a:chOff x="-110640" y="1447861"/>
              <a:chExt cx="1751984" cy="1617185"/>
            </a:xfrm>
          </p:grpSpPr>
          <p:sp>
            <p:nvSpPr>
              <p:cNvPr id="35" name="标题 1"/>
              <p:cNvSpPr txBox="1"/>
              <p:nvPr/>
            </p:nvSpPr>
            <p:spPr>
              <a:xfrm rot="6986950">
                <a:off x="1371196" y="1465309"/>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6" name="标题 1"/>
              <p:cNvSpPr txBox="1"/>
              <p:nvPr/>
            </p:nvSpPr>
            <p:spPr>
              <a:xfrm rot="6986950">
                <a:off x="719152" y="2945188"/>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7" name="标题 1"/>
              <p:cNvSpPr txBox="1"/>
              <p:nvPr/>
            </p:nvSpPr>
            <p:spPr>
              <a:xfrm rot="4874959">
                <a:off x="1054835" y="1921454"/>
                <a:ext cx="875537" cy="38403"/>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8" name="标题 1"/>
              <p:cNvSpPr txBox="1"/>
              <p:nvPr/>
            </p:nvSpPr>
            <p:spPr>
              <a:xfrm rot="8589983" flipH="1">
                <a:off x="689621" y="2659356"/>
                <a:ext cx="985521" cy="38403"/>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9" name="标题 1"/>
              <p:cNvSpPr txBox="1"/>
              <p:nvPr/>
            </p:nvSpPr>
            <p:spPr>
              <a:xfrm rot="12331924" flipH="1">
                <a:off x="-114620" y="2785586"/>
                <a:ext cx="968726" cy="38403"/>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0" name="标题 1"/>
              <p:cNvSpPr txBox="1"/>
              <p:nvPr/>
            </p:nvSpPr>
            <p:spPr>
              <a:xfrm rot="6986950">
                <a:off x="-93193" y="2553759"/>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1" name="标题 1"/>
              <p:cNvSpPr txBox="1"/>
              <p:nvPr/>
            </p:nvSpPr>
            <p:spPr>
              <a:xfrm rot="6986950">
                <a:off x="1521485" y="2338350"/>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pic>
          <p:nvPicPr>
            <p:cNvPr id="42" name="图片 41"/>
            <p:cNvPicPr>
              <a:picLocks noChangeAspect="1"/>
            </p:cNvPicPr>
            <p:nvPr/>
          </p:nvPicPr>
          <p:blipFill>
            <a:blip r:embed="rId4">
              <a:alphaModFix amt="100000"/>
            </a:blip>
            <a:srcRect/>
            <a:stretch>
              <a:fillRect/>
            </a:stretch>
          </p:blipFill>
          <p:spPr>
            <a:xfrm flipH="1">
              <a:off x="158996" y="1525755"/>
              <a:ext cx="1024112" cy="1024103"/>
            </a:xfrm>
            <a:prstGeom prst="rect">
              <a:avLst/>
            </a:prstGeom>
            <a:noFill/>
            <a:ln>
              <a:noFill/>
            </a:ln>
          </p:spPr>
        </p:pic>
        <p:pic>
          <p:nvPicPr>
            <p:cNvPr id="43" name="图片 42"/>
            <p:cNvPicPr>
              <a:picLocks noChangeAspect="1"/>
            </p:cNvPicPr>
            <p:nvPr/>
          </p:nvPicPr>
          <p:blipFill>
            <a:blip r:embed="rId5">
              <a:alphaModFix amt="100000"/>
            </a:blip>
            <a:srcRect/>
            <a:stretch>
              <a:fillRect/>
            </a:stretch>
          </p:blipFill>
          <p:spPr>
            <a:xfrm flipH="1">
              <a:off x="2959423" y="4041634"/>
              <a:ext cx="640072" cy="711188"/>
            </a:xfrm>
            <a:prstGeom prst="rect">
              <a:avLst/>
            </a:prstGeom>
            <a:noFill/>
            <a:ln>
              <a:noFill/>
            </a:ln>
          </p:spPr>
        </p:pic>
      </p:grpSp>
      <p:pic>
        <p:nvPicPr>
          <p:cNvPr id="44" name="图片 43"/>
          <p:cNvPicPr>
            <a:picLocks noChangeAspect="1"/>
          </p:cNvPicPr>
          <p:nvPr/>
        </p:nvPicPr>
        <p:blipFill>
          <a:blip r:embed="rId6">
            <a:alphaModFix amt="100000"/>
          </a:blip>
          <a:srcRect/>
          <a:stretch>
            <a:fillRect/>
          </a:stretch>
        </p:blipFill>
        <p:spPr>
          <a:xfrm rot="20126527" flipH="1">
            <a:off x="-400643" y="5186680"/>
            <a:ext cx="801284" cy="924560"/>
          </a:xfrm>
          <a:prstGeom prst="rect">
            <a:avLst/>
          </a:prstGeom>
          <a:noFill/>
          <a:ln>
            <a:noFill/>
          </a:ln>
        </p:spPr>
      </p:pic>
      <p:sp>
        <p:nvSpPr>
          <p:cNvPr id="45" name="标题 1"/>
          <p:cNvSpPr txBox="1"/>
          <p:nvPr/>
        </p:nvSpPr>
        <p:spPr>
          <a:xfrm>
            <a:off x="2632075" y="1485490"/>
            <a:ext cx="2932415" cy="3170965"/>
          </a:xfrm>
          <a:prstGeom prst="rect">
            <a:avLst/>
          </a:prstGeom>
          <a:noFill/>
          <a:ln w="12700" cap="sq">
            <a:noFill/>
            <a:miter/>
          </a:ln>
        </p:spPr>
        <p:txBody>
          <a:bodyPr vert="horz" wrap="square" lIns="0" tIns="0" rIns="0" bIns="0" rtlCol="0" anchor="ctr"/>
          <a:lstStyle/>
          <a:p>
            <a:pPr algn="r">
              <a:lnSpc>
                <a:spcPct val="120000"/>
              </a:lnSpc>
            </a:pPr>
            <a:r>
              <a:rPr kumimoji="1" lang="en-US" altLang="zh-CN" sz="9600">
                <a:ln w="12700">
                  <a:noFill/>
                </a:ln>
                <a:solidFill>
                  <a:srgbClr val="2DB2B8">
                    <a:alpha val="100000"/>
                  </a:srgbClr>
                </a:solidFill>
                <a:latin typeface="OPPOSans H" panose="00020600040101010101" charset="-122"/>
                <a:ea typeface="OPPOSans H" panose="00020600040101010101" charset="-122"/>
                <a:cs typeface="OPPOSans H" panose="00020600040101010101" charset="-122"/>
              </a:rPr>
              <a:t>01</a:t>
            </a:r>
            <a:endParaRPr kumimoji="1" lang="zh-CN" altLang="en-US"/>
          </a:p>
        </p:txBody>
      </p:sp>
      <p:sp>
        <p:nvSpPr>
          <p:cNvPr id="46" name="标题 1"/>
          <p:cNvSpPr txBox="1"/>
          <p:nvPr/>
        </p:nvSpPr>
        <p:spPr>
          <a:xfrm>
            <a:off x="5803900" y="1496061"/>
            <a:ext cx="5206839" cy="3174999"/>
          </a:xfrm>
          <a:prstGeom prst="rect">
            <a:avLst/>
          </a:prstGeom>
          <a:noFill/>
          <a:ln w="12700" cap="sq">
            <a:noFill/>
            <a:miter/>
          </a:ln>
        </p:spPr>
        <p:txBody>
          <a:bodyPr vert="horz" wrap="square" lIns="0" tIns="0" rIns="0" bIns="0" rtlCol="0" anchor="ctr"/>
          <a:lstStyle/>
          <a:p>
            <a:pPr algn="l">
              <a:lnSpc>
                <a:spcPct val="130000"/>
              </a:lnSpc>
            </a:pPr>
            <a:r>
              <a:rPr kumimoji="1" lang="en-US" altLang="zh-CN" sz="4000">
                <a:ln w="12700">
                  <a:noFill/>
                </a:ln>
                <a:solidFill>
                  <a:srgbClr val="348498">
                    <a:alpha val="100000"/>
                  </a:srgbClr>
                </a:solidFill>
                <a:latin typeface="Malgun Gothic" panose="020B0503020000020004" charset="-127"/>
                <a:ea typeface="Malgun Gothic" panose="020B0503020000020004" charset="-127"/>
                <a:cs typeface="OPPOSans H" panose="00020600040101010101" charset="-122"/>
              </a:rPr>
              <a:t>Introduction to Fieldwork</a:t>
            </a:r>
            <a:endParaRPr kumimoji="1" lang="zh-CN" altLang="en-US">
              <a:latin typeface="Malgun Gothic" panose="020B0503020000020004" charset="-127"/>
              <a:ea typeface="Malgun Gothic" panose="020B0503020000020004" charset="-127"/>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rot="5400000">
            <a:off x="10567228" y="5159832"/>
            <a:ext cx="1728000" cy="720000"/>
          </a:xfrm>
          <a:prstGeom prst="rect">
            <a:avLst/>
          </a:prstGeom>
          <a:solidFill>
            <a:schemeClr val="accent1">
              <a:lumMod val="20000"/>
              <a:lumOff val="80000"/>
              <a:alpha val="60000"/>
            </a:schemeClr>
          </a:solidFill>
          <a:ln w="12700" cap="sq">
            <a:noFill/>
            <a:miter/>
          </a:ln>
          <a:effectLst/>
        </p:spPr>
        <p:txBody>
          <a:bodyPr vert="horz" wrap="square" lIns="91440" tIns="45720" rIns="360000" bIns="45720" rtlCol="0" anchor="ctr"/>
          <a:lstStyle/>
          <a:p>
            <a:pPr algn="r">
              <a:lnSpc>
                <a:spcPct val="110000"/>
              </a:lnSpc>
            </a:pPr>
            <a:endParaRPr kumimoji="1" lang="zh-CN" altLang="en-US"/>
          </a:p>
        </p:txBody>
      </p:sp>
      <p:sp>
        <p:nvSpPr>
          <p:cNvPr id="3" name="标题 1"/>
          <p:cNvSpPr txBox="1"/>
          <p:nvPr/>
        </p:nvSpPr>
        <p:spPr>
          <a:xfrm rot="5400000">
            <a:off x="5296631" y="1634300"/>
            <a:ext cx="1728000" cy="720000"/>
          </a:xfrm>
          <a:prstGeom prst="rect">
            <a:avLst/>
          </a:prstGeom>
          <a:solidFill>
            <a:schemeClr val="accent1">
              <a:lumMod val="20000"/>
              <a:lumOff val="80000"/>
              <a:alpha val="60000"/>
            </a:schemeClr>
          </a:solidFill>
          <a:ln w="12700" cap="sq">
            <a:noFill/>
            <a:miter/>
          </a:ln>
          <a:effectLst/>
        </p:spPr>
        <p:txBody>
          <a:bodyPr vert="horz" wrap="square" lIns="91440" tIns="45720" rIns="360000" bIns="45720" rtlCol="0" anchor="ctr"/>
          <a:lstStyle/>
          <a:p>
            <a:pPr algn="r">
              <a:lnSpc>
                <a:spcPct val="110000"/>
              </a:lnSpc>
            </a:pPr>
            <a:endParaRPr kumimoji="1" lang="zh-CN" altLang="en-US"/>
          </a:p>
        </p:txBody>
      </p:sp>
      <p:sp>
        <p:nvSpPr>
          <p:cNvPr id="7" name="标题 1"/>
          <p:cNvSpPr txBox="1"/>
          <p:nvPr/>
        </p:nvSpPr>
        <p:spPr>
          <a:xfrm>
            <a:off x="8170562" y="5692156"/>
            <a:ext cx="306387" cy="247432"/>
          </a:xfrm>
          <a:custGeom>
            <a:avLst/>
            <a:gdLst>
              <a:gd name="T0" fmla="*/ 159 w 160"/>
              <a:gd name="T1" fmla="*/ 66 h 128"/>
              <a:gd name="T2" fmla="*/ 98 w 160"/>
              <a:gd name="T3" fmla="*/ 127 h 128"/>
              <a:gd name="T4" fmla="*/ 96 w 160"/>
              <a:gd name="T5" fmla="*/ 128 h 128"/>
              <a:gd name="T6" fmla="*/ 94 w 160"/>
              <a:gd name="T7" fmla="*/ 127 h 128"/>
              <a:gd name="T8" fmla="*/ 94 w 160"/>
              <a:gd name="T9" fmla="*/ 124 h 128"/>
              <a:gd name="T10" fmla="*/ 152 w 160"/>
              <a:gd name="T11" fmla="*/ 66 h 128"/>
              <a:gd name="T12" fmla="*/ 2 w 160"/>
              <a:gd name="T13" fmla="*/ 66 h 128"/>
              <a:gd name="T14" fmla="*/ 0 w 160"/>
              <a:gd name="T15" fmla="*/ 64 h 128"/>
              <a:gd name="T16" fmla="*/ 2 w 160"/>
              <a:gd name="T17" fmla="*/ 61 h 128"/>
              <a:gd name="T18" fmla="*/ 152 w 160"/>
              <a:gd name="T19" fmla="*/ 61 h 128"/>
              <a:gd name="T20" fmla="*/ 94 w 160"/>
              <a:gd name="T21" fmla="*/ 4 h 128"/>
              <a:gd name="T22" fmla="*/ 94 w 160"/>
              <a:gd name="T23" fmla="*/ 1 h 128"/>
              <a:gd name="T24" fmla="*/ 98 w 160"/>
              <a:gd name="T25" fmla="*/ 1 h 128"/>
              <a:gd name="T26" fmla="*/ 159 w 160"/>
              <a:gd name="T27" fmla="*/ 62 h 128"/>
              <a:gd name="T28" fmla="*/ 160 w 160"/>
              <a:gd name="T29" fmla="*/ 63 h 128"/>
              <a:gd name="T30" fmla="*/ 160 w 160"/>
              <a:gd name="T31" fmla="*/ 63 h 128"/>
              <a:gd name="T32" fmla="*/ 160 w 160"/>
              <a:gd name="T33" fmla="*/ 63 h 128"/>
              <a:gd name="T34" fmla="*/ 160 w 160"/>
              <a:gd name="T35" fmla="*/ 64 h 128"/>
              <a:gd name="T36" fmla="*/ 159 w 160"/>
              <a:gd name="T37" fmla="*/ 66 h 128"/>
            </a:gdLst>
            <a:ahLst/>
            <a:cxnLst/>
            <a:rect l="0" t="0" r="r" b="b"/>
            <a:pathLst>
              <a:path w="160" h="128">
                <a:moveTo>
                  <a:pt x="159" y="66"/>
                </a:moveTo>
                <a:cubicBezTo>
                  <a:pt x="98" y="127"/>
                  <a:pt x="98" y="127"/>
                  <a:pt x="98" y="127"/>
                </a:cubicBezTo>
                <a:cubicBezTo>
                  <a:pt x="97" y="128"/>
                  <a:pt x="97" y="128"/>
                  <a:pt x="96" y="128"/>
                </a:cubicBezTo>
                <a:cubicBezTo>
                  <a:pt x="95" y="128"/>
                  <a:pt x="95" y="128"/>
                  <a:pt x="94" y="127"/>
                </a:cubicBezTo>
                <a:cubicBezTo>
                  <a:pt x="93" y="126"/>
                  <a:pt x="93" y="125"/>
                  <a:pt x="94" y="124"/>
                </a:cubicBezTo>
                <a:cubicBezTo>
                  <a:pt x="152" y="66"/>
                  <a:pt x="152" y="66"/>
                  <a:pt x="152" y="66"/>
                </a:cubicBezTo>
                <a:cubicBezTo>
                  <a:pt x="2" y="66"/>
                  <a:pt x="2" y="66"/>
                  <a:pt x="2" y="66"/>
                </a:cubicBezTo>
                <a:cubicBezTo>
                  <a:pt x="1" y="66"/>
                  <a:pt x="0" y="65"/>
                  <a:pt x="0" y="64"/>
                </a:cubicBezTo>
                <a:cubicBezTo>
                  <a:pt x="0" y="63"/>
                  <a:pt x="1" y="61"/>
                  <a:pt x="2" y="61"/>
                </a:cubicBezTo>
                <a:cubicBezTo>
                  <a:pt x="152" y="61"/>
                  <a:pt x="152" y="61"/>
                  <a:pt x="152" y="61"/>
                </a:cubicBezTo>
                <a:cubicBezTo>
                  <a:pt x="94" y="4"/>
                  <a:pt x="94" y="4"/>
                  <a:pt x="94" y="4"/>
                </a:cubicBezTo>
                <a:cubicBezTo>
                  <a:pt x="93" y="3"/>
                  <a:pt x="93" y="2"/>
                  <a:pt x="94" y="1"/>
                </a:cubicBezTo>
                <a:cubicBezTo>
                  <a:pt x="95" y="0"/>
                  <a:pt x="97" y="0"/>
                  <a:pt x="98" y="1"/>
                </a:cubicBezTo>
                <a:cubicBezTo>
                  <a:pt x="159" y="62"/>
                  <a:pt x="159" y="62"/>
                  <a:pt x="159" y="62"/>
                </a:cubicBezTo>
                <a:cubicBezTo>
                  <a:pt x="159" y="62"/>
                  <a:pt x="160" y="62"/>
                  <a:pt x="160" y="63"/>
                </a:cubicBezTo>
                <a:cubicBezTo>
                  <a:pt x="160" y="63"/>
                  <a:pt x="160" y="63"/>
                  <a:pt x="160" y="63"/>
                </a:cubicBezTo>
                <a:cubicBezTo>
                  <a:pt x="160" y="63"/>
                  <a:pt x="160" y="63"/>
                  <a:pt x="160" y="63"/>
                </a:cubicBezTo>
                <a:cubicBezTo>
                  <a:pt x="160" y="64"/>
                  <a:pt x="160" y="64"/>
                  <a:pt x="160" y="64"/>
                </a:cubicBezTo>
                <a:cubicBezTo>
                  <a:pt x="160" y="65"/>
                  <a:pt x="160" y="65"/>
                  <a:pt x="159" y="66"/>
                </a:cubicBezTo>
                <a:close/>
              </a:path>
            </a:pathLst>
          </a:custGeom>
          <a:solidFill>
            <a:srgbClr val="FFFFFF">
              <a:alpha val="100000"/>
            </a:srgbClr>
          </a:solidFill>
          <a:ln cap="sq">
            <a:noFill/>
          </a:ln>
          <a:effectLst/>
        </p:spPr>
        <p:txBody>
          <a:bodyPr vert="horz" wrap="square" lIns="91440" tIns="45720" rIns="91440" bIns="45720" rtlCol="0" anchor="t"/>
          <a:lstStyle/>
          <a:p>
            <a:pPr algn="l">
              <a:lnSpc>
                <a:spcPct val="110000"/>
              </a:lnSpc>
            </a:pPr>
            <a:endParaRPr kumimoji="1" lang="zh-CN" altLang="en-US"/>
          </a:p>
        </p:txBody>
      </p:sp>
      <p:sp>
        <p:nvSpPr>
          <p:cNvPr id="8" name="标题 1"/>
          <p:cNvSpPr txBox="1"/>
          <p:nvPr/>
        </p:nvSpPr>
        <p:spPr>
          <a:xfrm>
            <a:off x="660400" y="1917065"/>
            <a:ext cx="4564380" cy="1792605"/>
          </a:xfrm>
          <a:prstGeom prst="rect">
            <a:avLst/>
          </a:prstGeom>
          <a:noFill/>
          <a:ln>
            <a:noFill/>
          </a:ln>
        </p:spPr>
        <p:txBody>
          <a:bodyPr vert="horz" wrap="square" lIns="0" tIns="0" rIns="0" bIns="0" rtlCol="0" anchor="t"/>
          <a:lstStyle/>
          <a:p>
            <a:pPr algn="l">
              <a:lnSpc>
                <a:spcPct val="150000"/>
              </a:lnSpc>
            </a:pPr>
            <a:r>
              <a:rPr kumimoji="1" lang="en-US" altLang="zh-CN" sz="10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Fieldwork is a qualitative research method used to study people and cultures in their natural environments. It involves direct observation, participation, and data collection. For example, anthropologists may live in a remote village to understand local customs and social structures.
</a:t>
            </a:r>
            <a:endParaRPr kumimoji="1" lang="en-US" altLang="zh-CN" sz="10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endParaRPr>
          </a:p>
          <a:p>
            <a:pPr algn="l">
              <a:lnSpc>
                <a:spcPct val="150000"/>
              </a:lnSpc>
            </a:pPr>
            <a:r>
              <a:rPr kumimoji="1" lang="en-US" altLang="zh-CN" sz="10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Fieldwork is crucial in intercultural communication as it allows researchers to immerse themselves in different cultural contexts, observe behaviors, and gather authentic data. It helps reveal nuances in language use, social norms, and cultural practices that are often missed in other research methods.</a:t>
            </a:r>
            <a:endParaRPr kumimoji="1" lang="zh-CN" altLang="en-US" sz="1000"/>
          </a:p>
        </p:txBody>
      </p:sp>
      <p:sp>
        <p:nvSpPr>
          <p:cNvPr id="9" name="标题 1"/>
          <p:cNvSpPr txBox="1"/>
          <p:nvPr/>
        </p:nvSpPr>
        <p:spPr>
          <a:xfrm>
            <a:off x="660400" y="1346835"/>
            <a:ext cx="575945" cy="451485"/>
          </a:xfrm>
          <a:prstGeom prst="rect">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732400" y="1428502"/>
            <a:ext cx="432000" cy="288000"/>
          </a:xfrm>
          <a:prstGeom prst="rect">
            <a:avLst/>
          </a:prstGeom>
          <a:noFill/>
          <a:ln>
            <a:noFill/>
          </a:ln>
        </p:spPr>
        <p:txBody>
          <a:bodyPr vert="horz" wrap="square" lIns="0" tIns="0" rIns="0" bIns="0" rtlCol="0" anchor="ctr"/>
          <a:lstStyle/>
          <a:p>
            <a:pPr algn="ctr">
              <a:lnSpc>
                <a:spcPct val="110000"/>
              </a:lnSpc>
            </a:pPr>
            <a:r>
              <a:rPr kumimoji="1" lang="en-US" altLang="zh-CN" sz="2000">
                <a:ln w="12700">
                  <a:noFill/>
                </a:ln>
                <a:solidFill>
                  <a:srgbClr val="5BD1D7">
                    <a:alpha val="100000"/>
                  </a:srgbClr>
                </a:solidFill>
                <a:latin typeface="OPPOSans R" panose="00020600040101010101" charset="-122"/>
                <a:ea typeface="OPPOSans R" panose="00020600040101010101" charset="-122"/>
                <a:cs typeface="OPPOSans R" panose="00020600040101010101" charset="-122"/>
              </a:rPr>
              <a:t>01</a:t>
            </a:r>
            <a:endParaRPr kumimoji="1" lang="zh-CN" altLang="en-US"/>
          </a:p>
        </p:txBody>
      </p:sp>
      <p:sp>
        <p:nvSpPr>
          <p:cNvPr id="11" name="标题 1"/>
          <p:cNvSpPr txBox="1"/>
          <p:nvPr/>
        </p:nvSpPr>
        <p:spPr>
          <a:xfrm>
            <a:off x="1351334" y="1347612"/>
            <a:ext cx="3988231" cy="432000"/>
          </a:xfrm>
          <a:prstGeom prst="rect">
            <a:avLst/>
          </a:prstGeom>
          <a:solidFill>
            <a:schemeClr val="accent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1415405" y="1419612"/>
            <a:ext cx="3758490" cy="288000"/>
          </a:xfrm>
          <a:prstGeom prst="rect">
            <a:avLst/>
          </a:prstGeom>
          <a:noFill/>
          <a:ln>
            <a:noFill/>
          </a:ln>
        </p:spPr>
        <p:txBody>
          <a:bodyPr vert="horz" wrap="square" lIns="0" tIns="0" rIns="0" bIns="0" rtlCol="0" anchor="ctr"/>
          <a:lstStyle/>
          <a:p>
            <a:pPr algn="ctr">
              <a:lnSpc>
                <a:spcPct val="110000"/>
              </a:lnSpc>
            </a:pPr>
            <a:r>
              <a:rPr kumimoji="1" lang="en-US" altLang="zh-CN" sz="1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What is Fieldwork?</a:t>
            </a:r>
            <a:endParaRPr kumimoji="1" lang="zh-CN" altLang="en-US"/>
          </a:p>
        </p:txBody>
      </p:sp>
      <p:sp>
        <p:nvSpPr>
          <p:cNvPr id="13" name="标题 1"/>
          <p:cNvSpPr txBox="1"/>
          <p:nvPr/>
        </p:nvSpPr>
        <p:spPr>
          <a:xfrm>
            <a:off x="660400" y="4718685"/>
            <a:ext cx="7233285" cy="1790065"/>
          </a:xfrm>
          <a:prstGeom prst="rect">
            <a:avLst/>
          </a:prstGeom>
          <a:noFill/>
          <a:ln>
            <a:noFill/>
          </a:ln>
        </p:spPr>
        <p:txBody>
          <a:bodyPr vert="horz" wrap="square" lIns="0" tIns="0" rIns="0" bIns="0" rtlCol="0" anchor="t"/>
          <a:lstStyle/>
          <a:p>
            <a:pPr algn="l">
              <a:lnSpc>
                <a:spcPct val="150000"/>
              </a:lnSpc>
            </a:pPr>
            <a:r>
              <a:rPr kumimoji="1" lang="en-US" altLang="zh-CN" sz="10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Fieldwork provides firsthand insights into cultural practices and intercultural interactions. For instance, studying how different communities celebrate festivals in Guangzhou can reveal their values and traditions.
</a:t>
            </a:r>
            <a:endParaRPr kumimoji="1" lang="en-US" altLang="zh-CN" sz="10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endParaRPr>
          </a:p>
          <a:p>
            <a:pPr algn="l">
              <a:lnSpc>
                <a:spcPct val="150000"/>
              </a:lnSpc>
            </a:pPr>
            <a:r>
              <a:rPr kumimoji="1" lang="en-US" altLang="zh-CN" sz="10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It enhances our understanding of cultural diversity and helps develop effective strategies for intercultural communication. By observing and participating in real- life situations, researchers can identify potential challenges and opportunities for cross- cultural interactions.</a:t>
            </a:r>
            <a:endParaRPr kumimoji="1" lang="zh-CN" altLang="en-US" sz="1000"/>
          </a:p>
        </p:txBody>
      </p:sp>
      <p:sp>
        <p:nvSpPr>
          <p:cNvPr id="14" name="标题 1"/>
          <p:cNvSpPr txBox="1"/>
          <p:nvPr/>
        </p:nvSpPr>
        <p:spPr>
          <a:xfrm>
            <a:off x="660400" y="4143574"/>
            <a:ext cx="576000" cy="432000"/>
          </a:xfrm>
          <a:prstGeom prst="rect">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732400" y="4215574"/>
            <a:ext cx="432000" cy="288000"/>
          </a:xfrm>
          <a:prstGeom prst="rect">
            <a:avLst/>
          </a:prstGeom>
          <a:noFill/>
          <a:ln>
            <a:noFill/>
          </a:ln>
        </p:spPr>
        <p:txBody>
          <a:bodyPr vert="horz" wrap="square" lIns="0" tIns="0" rIns="0" bIns="0" rtlCol="0" anchor="ctr"/>
          <a:lstStyle/>
          <a:p>
            <a:pPr algn="ctr">
              <a:lnSpc>
                <a:spcPct val="110000"/>
              </a:lnSpc>
            </a:pPr>
            <a:r>
              <a:rPr kumimoji="1" lang="en-US" altLang="zh-CN" sz="2000">
                <a:ln w="12700">
                  <a:noFill/>
                </a:ln>
                <a:solidFill>
                  <a:srgbClr val="5BD1D7">
                    <a:alpha val="100000"/>
                  </a:srgbClr>
                </a:solidFill>
                <a:latin typeface="OPPOSans R" panose="00020600040101010101" charset="-122"/>
                <a:ea typeface="OPPOSans R" panose="00020600040101010101" charset="-122"/>
                <a:cs typeface="OPPOSans R" panose="00020600040101010101" charset="-122"/>
              </a:rPr>
              <a:t>02</a:t>
            </a:r>
            <a:endParaRPr kumimoji="1" lang="zh-CN" altLang="en-US"/>
          </a:p>
        </p:txBody>
      </p:sp>
      <p:sp>
        <p:nvSpPr>
          <p:cNvPr id="16" name="标题 1"/>
          <p:cNvSpPr txBox="1"/>
          <p:nvPr/>
        </p:nvSpPr>
        <p:spPr>
          <a:xfrm>
            <a:off x="1236400" y="4143574"/>
            <a:ext cx="3988230" cy="432000"/>
          </a:xfrm>
          <a:prstGeom prst="rect">
            <a:avLst/>
          </a:prstGeom>
          <a:solidFill>
            <a:schemeClr val="accent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1351270" y="4215574"/>
            <a:ext cx="3758490" cy="288000"/>
          </a:xfrm>
          <a:prstGeom prst="rect">
            <a:avLst/>
          </a:prstGeom>
          <a:noFill/>
          <a:ln>
            <a:noFill/>
          </a:ln>
        </p:spPr>
        <p:txBody>
          <a:bodyPr vert="horz" wrap="square" lIns="0" tIns="0" rIns="0" bIns="0" rtlCol="0" anchor="ctr"/>
          <a:lstStyle/>
          <a:p>
            <a:pPr algn="ctr">
              <a:lnSpc>
                <a:spcPct val="110000"/>
              </a:lnSpc>
            </a:pPr>
            <a:r>
              <a:rPr kumimoji="1" lang="en-US" altLang="zh-CN" sz="1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Why Fieldwork Matters</a:t>
            </a:r>
            <a:endParaRPr kumimoji="1" lang="zh-CN" altLang="en-US"/>
          </a:p>
        </p:txBody>
      </p:sp>
      <p:sp>
        <p:nvSpPr>
          <p:cNvPr id="18" name="标题 1"/>
          <p:cNvSpPr txBox="1"/>
          <p:nvPr/>
        </p:nvSpPr>
        <p:spPr>
          <a:xfrm>
            <a:off x="783520" y="46704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Definition and Importance of Fieldwork</a:t>
            </a:r>
            <a:endParaRPr kumimoji="1" lang="zh-CN" altLang="en-US"/>
          </a:p>
        </p:txBody>
      </p:sp>
      <p:grpSp>
        <p:nvGrpSpPr>
          <p:cNvPr id="19" name="组合 18"/>
          <p:cNvGrpSpPr/>
          <p:nvPr/>
        </p:nvGrpSpPr>
        <p:grpSpPr>
          <a:xfrm>
            <a:off x="176306" y="376135"/>
            <a:ext cx="484094" cy="470981"/>
            <a:chOff x="176306" y="376135"/>
            <a:chExt cx="484094" cy="470981"/>
          </a:xfrm>
        </p:grpSpPr>
        <p:sp>
          <p:nvSpPr>
            <p:cNvPr id="20" name="标题 1"/>
            <p:cNvSpPr txBox="1"/>
            <p:nvPr/>
          </p:nvSpPr>
          <p:spPr>
            <a:xfrm>
              <a:off x="176306" y="473900"/>
              <a:ext cx="373217" cy="373216"/>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a:off x="409081" y="376135"/>
              <a:ext cx="251319" cy="251319"/>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grpSp>
      <p:pic>
        <p:nvPicPr>
          <p:cNvPr id="22" name="图片 21" descr="外滩"/>
          <p:cNvPicPr>
            <a:picLocks noChangeAspect="1"/>
          </p:cNvPicPr>
          <p:nvPr/>
        </p:nvPicPr>
        <p:blipFill>
          <a:blip r:embed="rId1"/>
          <a:stretch>
            <a:fillRect/>
          </a:stretch>
        </p:blipFill>
        <p:spPr>
          <a:xfrm>
            <a:off x="5447665" y="1340485"/>
            <a:ext cx="2657475" cy="3169920"/>
          </a:xfrm>
          <a:prstGeom prst="rect">
            <a:avLst/>
          </a:prstGeom>
        </p:spPr>
      </p:pic>
      <p:pic>
        <p:nvPicPr>
          <p:cNvPr id="24" name="图片 23" descr="广州塔"/>
          <p:cNvPicPr>
            <a:picLocks noChangeAspect="1"/>
          </p:cNvPicPr>
          <p:nvPr/>
        </p:nvPicPr>
        <p:blipFill>
          <a:blip r:embed="rId2"/>
          <a:stretch>
            <a:fillRect/>
          </a:stretch>
        </p:blipFill>
        <p:spPr>
          <a:xfrm>
            <a:off x="8307070" y="1329690"/>
            <a:ext cx="3052445" cy="47212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rot="16200000">
            <a:off x="4394109" y="-1650910"/>
            <a:ext cx="4661082" cy="10934700"/>
          </a:xfrm>
          <a:custGeom>
            <a:avLst/>
            <a:gdLst>
              <a:gd name="connsiteX0" fmla="*/ 4661082 w 4661082"/>
              <a:gd name="connsiteY0" fmla="*/ 0 h 12192000"/>
              <a:gd name="connsiteX1" fmla="*/ 4661082 w 4661082"/>
              <a:gd name="connsiteY1" fmla="*/ 12192000 h 12192000"/>
              <a:gd name="connsiteX2" fmla="*/ 0 w 4661082"/>
              <a:gd name="connsiteY2" fmla="*/ 12192000 h 12192000"/>
              <a:gd name="connsiteX3" fmla="*/ 0 w 4661082"/>
              <a:gd name="connsiteY3" fmla="*/ 0 h 12192000"/>
            </a:gdLst>
            <a:ahLst/>
            <a:cxnLst/>
            <a:rect l="l" t="t" r="r" b="b"/>
            <a:pathLst>
              <a:path w="4661082" h="12192000">
                <a:moveTo>
                  <a:pt x="4661082" y="0"/>
                </a:moveTo>
                <a:lnTo>
                  <a:pt x="4661082" y="12192000"/>
                </a:lnTo>
                <a:lnTo>
                  <a:pt x="0" y="12192000"/>
                </a:lnTo>
                <a:lnTo>
                  <a:pt x="0" y="0"/>
                </a:lnTo>
                <a:close/>
              </a:path>
            </a:pathLst>
          </a:custGeom>
          <a:solidFill>
            <a:schemeClr val="bg1"/>
          </a:solidFill>
          <a:ln cap="sq">
            <a:noFill/>
            <a:prstDash val="solid"/>
            <a:miter/>
          </a:ln>
          <a:effectLst>
            <a:outerShdw blurRad="203200" dist="101600" dir="5400000" algn="t" rotWithShape="0">
              <a:schemeClr val="accent1">
                <a:alpha val="24000"/>
              </a:schemeClr>
            </a:outerShdw>
          </a:effectLst>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5327178" y="1245017"/>
            <a:ext cx="5760000" cy="426265"/>
          </a:xfrm>
          <a:prstGeom prst="rect">
            <a:avLst/>
          </a:prstGeom>
          <a:noFill/>
          <a:ln>
            <a:noFill/>
          </a:ln>
        </p:spPr>
        <p:txBody>
          <a:bodyPr vert="horz" wrap="square" lIns="91440" tIns="45720" rIns="91440" bIns="45720" rtlCol="0" anchor="b"/>
          <a:lstStyle/>
          <a:p>
            <a:pPr algn="l">
              <a:lnSpc>
                <a:spcPct val="130000"/>
              </a:lnSpc>
            </a:pPr>
            <a:r>
              <a:rPr kumimoji="1" lang="en-US" altLang="zh-CN" sz="16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Guangzhou as a Multicultural City</a:t>
            </a:r>
            <a:endParaRPr kumimoji="1" lang="zh-CN" altLang="en-US"/>
          </a:p>
        </p:txBody>
      </p:sp>
      <p:sp>
        <p:nvSpPr>
          <p:cNvPr id="4" name="标题 1"/>
          <p:cNvSpPr txBox="1"/>
          <p:nvPr/>
        </p:nvSpPr>
        <p:spPr>
          <a:xfrm>
            <a:off x="5304155" y="1700530"/>
            <a:ext cx="5760085" cy="2019300"/>
          </a:xfrm>
          <a:prstGeom prst="rect">
            <a:avLst/>
          </a:prstGeom>
          <a:noFill/>
          <a:ln>
            <a:noFill/>
          </a:ln>
        </p:spPr>
        <p:txBody>
          <a:bodyPr vert="horz" wrap="square" lIns="91440" tIns="45720" rIns="91440" bIns="45720" rtlCol="0" anchor="t"/>
          <a:lstStyle/>
          <a:p>
            <a:pPr algn="l">
              <a:lnSpc>
                <a:spcPct val="150000"/>
              </a:lnSpc>
            </a:pPr>
            <a:r>
              <a:rPr kumimoji="1" lang="en-US" altLang="zh-CN" sz="1000">
                <a:ln w="12700">
                  <a:noFill/>
                </a:ln>
                <a:solidFill>
                  <a:srgbClr val="404040">
                    <a:alpha val="100000"/>
                  </a:srgbClr>
                </a:solidFill>
                <a:latin typeface="Source Han Sans" panose="020B0500000000000000" charset="-122"/>
                <a:ea typeface="Source Han Sans" panose="020B0500000000000000" charset="-122"/>
                <a:cs typeface="Source Han Sans" panose="020B0500000000000000" charset="-122"/>
              </a:rPr>
              <a:t>Guangzhou is a vibrant city with a rich history of trade, migration, and cultural exchange. It is home to diverse communities, including local Cantonese speakers, Mandarin- speaking migrants, and international expatriates. The city offers a unique setting for fieldwork, with a variety of cultural practices, languages, and social interactions. </a:t>
            </a:r>
            <a:endParaRPr kumimoji="1" lang="zh-CN" altLang="en-US" sz="1000"/>
          </a:p>
        </p:txBody>
      </p:sp>
      <p:sp>
        <p:nvSpPr>
          <p:cNvPr id="5" name="标题 1"/>
          <p:cNvSpPr txBox="1"/>
          <p:nvPr/>
        </p:nvSpPr>
        <p:spPr>
          <a:xfrm>
            <a:off x="4552060" y="1280623"/>
            <a:ext cx="792480" cy="535940"/>
          </a:xfrm>
          <a:prstGeom prst="rect">
            <a:avLst/>
          </a:prstGeom>
          <a:noFill/>
          <a:ln>
            <a:noFill/>
          </a:ln>
        </p:spPr>
        <p:txBody>
          <a:bodyPr vert="horz" wrap="none" lIns="91440" tIns="45720" rIns="91440" bIns="45720" rtlCol="0" anchor="t">
            <a:spAutoFit/>
          </a:bodyPr>
          <a:lstStyle/>
          <a:p>
            <a:pPr algn="l">
              <a:lnSpc>
                <a:spcPct val="110000"/>
              </a:lnSpc>
            </a:pPr>
            <a:r>
              <a:rPr kumimoji="1" lang="en-US" altLang="zh-CN" sz="3200">
                <a:ln w="12700">
                  <a:noFill/>
                </a:ln>
                <a:solidFill>
                  <a:srgbClr val="5BD1D7">
                    <a:alpha val="100000"/>
                  </a:srgbClr>
                </a:solidFill>
                <a:latin typeface="OPPOSans H" panose="00020600040101010101" charset="-122"/>
                <a:ea typeface="OPPOSans H" panose="00020600040101010101" charset="-122"/>
                <a:cs typeface="OPPOSans H" panose="00020600040101010101" charset="-122"/>
              </a:rPr>
              <a:t>01.</a:t>
            </a:r>
            <a:endParaRPr kumimoji="1" lang="zh-CN" altLang="en-US"/>
          </a:p>
        </p:txBody>
      </p:sp>
      <p:sp>
        <p:nvSpPr>
          <p:cNvPr id="6" name="标题 1"/>
          <p:cNvSpPr txBox="1"/>
          <p:nvPr/>
        </p:nvSpPr>
        <p:spPr>
          <a:xfrm>
            <a:off x="5339080" y="2925445"/>
            <a:ext cx="5829300" cy="426085"/>
          </a:xfrm>
          <a:prstGeom prst="rect">
            <a:avLst/>
          </a:prstGeom>
          <a:noFill/>
          <a:ln>
            <a:noFill/>
          </a:ln>
        </p:spPr>
        <p:txBody>
          <a:bodyPr vert="horz" wrap="square" lIns="91440" tIns="45720" rIns="91440" bIns="45720" rtlCol="0" anchor="b"/>
          <a:lstStyle/>
          <a:p>
            <a:pPr algn="l">
              <a:lnSpc>
                <a:spcPct val="130000"/>
              </a:lnSpc>
            </a:pPr>
            <a:r>
              <a:rPr kumimoji="1" lang="en-US" altLang="zh-CN" sz="1600">
                <a:ln w="12700">
                  <a:noFill/>
                </a:ln>
                <a:solidFill>
                  <a:srgbClr val="404040">
                    <a:alpha val="100000"/>
                  </a:srgbClr>
                </a:solidFill>
                <a:latin typeface="Source Han Sans CN Bold" panose="020B0800000000000000" charset="-122"/>
                <a:ea typeface="Source Han Sans CN Bold" panose="020B0800000000000000" charset="-122"/>
                <a:cs typeface="Source Han Sans CN Bold" panose="020B0800000000000000" charset="-122"/>
              </a:rPr>
              <a:t>Key Themes for Fieldwork</a:t>
            </a:r>
            <a:endParaRPr kumimoji="1" lang="zh-CN" altLang="en-US"/>
          </a:p>
        </p:txBody>
      </p:sp>
      <p:sp>
        <p:nvSpPr>
          <p:cNvPr id="7" name="标题 1"/>
          <p:cNvSpPr txBox="1"/>
          <p:nvPr/>
        </p:nvSpPr>
        <p:spPr>
          <a:xfrm>
            <a:off x="5320665" y="3429000"/>
            <a:ext cx="5760085" cy="2002790"/>
          </a:xfrm>
          <a:prstGeom prst="rect">
            <a:avLst/>
          </a:prstGeom>
          <a:noFill/>
          <a:ln>
            <a:noFill/>
          </a:ln>
        </p:spPr>
        <p:txBody>
          <a:bodyPr vert="horz" wrap="square" lIns="91440" tIns="45720" rIns="91440" bIns="45720" rtlCol="0" anchor="t"/>
          <a:lstStyle/>
          <a:p>
            <a:pPr algn="l">
              <a:lnSpc>
                <a:spcPct val="150000"/>
              </a:lnSpc>
            </a:pPr>
            <a:r>
              <a:rPr kumimoji="1" lang="en-US" altLang="zh-CN" sz="1000">
                <a:ln w="12700">
                  <a:noFill/>
                </a:ln>
                <a:solidFill>
                  <a:srgbClr val="404040">
                    <a:alpha val="100000"/>
                  </a:srgbClr>
                </a:solidFill>
                <a:latin typeface="Source Han Sans" panose="020B0500000000000000" charset="-122"/>
                <a:ea typeface="Source Han Sans" panose="020B0500000000000000" charset="-122"/>
                <a:cs typeface="Source Han Sans" panose="020B0500000000000000" charset="-122"/>
              </a:rPr>
              <a:t>Language and Communication: Guangzhou is a multilingual city where Cantonese, Mandarin, and English are used in different contexts. Fieldwork can explore how language choices affect intercultural interactions and social integration.
</a:t>
            </a:r>
            <a:endParaRPr kumimoji="1" lang="en-US" altLang="zh-CN" sz="1000">
              <a:ln w="12700">
                <a:noFill/>
              </a:ln>
              <a:solidFill>
                <a:srgbClr val="404040">
                  <a:alpha val="100000"/>
                </a:srgbClr>
              </a:solidFill>
              <a:latin typeface="Source Han Sans" panose="020B0500000000000000" charset="-122"/>
              <a:ea typeface="Source Han Sans" panose="020B0500000000000000" charset="-122"/>
              <a:cs typeface="Source Han Sans" panose="020B0500000000000000" charset="-122"/>
            </a:endParaRPr>
          </a:p>
          <a:p>
            <a:pPr algn="l">
              <a:lnSpc>
                <a:spcPct val="150000"/>
              </a:lnSpc>
            </a:pPr>
            <a:r>
              <a:rPr kumimoji="1" lang="en-US" altLang="zh-CN" sz="1000">
                <a:ln w="12700">
                  <a:noFill/>
                </a:ln>
                <a:solidFill>
                  <a:srgbClr val="404040">
                    <a:alpha val="100000"/>
                  </a:srgbClr>
                </a:solidFill>
                <a:latin typeface="Source Han Sans" panose="020B0500000000000000" charset="-122"/>
                <a:ea typeface="Source Han Sans" panose="020B0500000000000000" charset="-122"/>
                <a:cs typeface="Source Han Sans" panose="020B0500000000000000" charset="-122"/>
              </a:rPr>
              <a:t>Cultural Practices: The city is known for its rich cultural heritage, including festivals like the Lunar New Year, traditional food markets, and religious sites such as the Temple of the Six Banyan Trees. These practices provide valuable insights into local identity and values.
</a:t>
            </a:r>
            <a:endParaRPr kumimoji="1" lang="en-US" altLang="zh-CN" sz="1000">
              <a:ln w="12700">
                <a:noFill/>
              </a:ln>
              <a:solidFill>
                <a:srgbClr val="404040">
                  <a:alpha val="100000"/>
                </a:srgbClr>
              </a:solidFill>
              <a:latin typeface="Source Han Sans" panose="020B0500000000000000" charset="-122"/>
              <a:ea typeface="Source Han Sans" panose="020B0500000000000000" charset="-122"/>
              <a:cs typeface="Source Han Sans" panose="020B0500000000000000" charset="-122"/>
            </a:endParaRPr>
          </a:p>
          <a:p>
            <a:pPr algn="l">
              <a:lnSpc>
                <a:spcPct val="150000"/>
              </a:lnSpc>
            </a:pPr>
            <a:r>
              <a:rPr kumimoji="1" lang="en-US" altLang="zh-CN" sz="1000">
                <a:ln w="12700">
                  <a:noFill/>
                </a:ln>
                <a:solidFill>
                  <a:srgbClr val="404040">
                    <a:alpha val="100000"/>
                  </a:srgbClr>
                </a:solidFill>
                <a:latin typeface="Source Han Sans" panose="020B0500000000000000" charset="-122"/>
                <a:ea typeface="Source Han Sans" panose="020B0500000000000000" charset="-122"/>
                <a:cs typeface="Source Han Sans" panose="020B0500000000000000" charset="-122"/>
              </a:rPr>
              <a:t>Intercultural Interactions: Guangzhou’s diverse population offers numerous opportunities to study how locals and expatriates navigate cultural differences in daily life, from workplace interactions to social gatherings.</a:t>
            </a:r>
            <a:endParaRPr kumimoji="1" lang="zh-CN" altLang="en-US" sz="1000"/>
          </a:p>
        </p:txBody>
      </p:sp>
      <p:sp>
        <p:nvSpPr>
          <p:cNvPr id="8" name="标题 1"/>
          <p:cNvSpPr txBox="1"/>
          <p:nvPr/>
        </p:nvSpPr>
        <p:spPr>
          <a:xfrm>
            <a:off x="4520310" y="2925749"/>
            <a:ext cx="855980" cy="535940"/>
          </a:xfrm>
          <a:prstGeom prst="rect">
            <a:avLst/>
          </a:prstGeom>
          <a:noFill/>
          <a:ln>
            <a:noFill/>
          </a:ln>
        </p:spPr>
        <p:txBody>
          <a:bodyPr vert="horz" wrap="none" lIns="91440" tIns="45720" rIns="91440" bIns="45720" rtlCol="0" anchor="t">
            <a:spAutoFit/>
          </a:bodyPr>
          <a:lstStyle/>
          <a:p>
            <a:pPr algn="l">
              <a:lnSpc>
                <a:spcPct val="110000"/>
              </a:lnSpc>
            </a:pPr>
            <a:r>
              <a:rPr kumimoji="1" lang="en-US" altLang="zh-CN" sz="3200">
                <a:ln w="12700">
                  <a:noFill/>
                </a:ln>
                <a:solidFill>
                  <a:srgbClr val="5BD1D7">
                    <a:alpha val="100000"/>
                  </a:srgbClr>
                </a:solidFill>
                <a:latin typeface="OPPOSans H" panose="00020600040101010101" charset="-122"/>
                <a:ea typeface="OPPOSans H" panose="00020600040101010101" charset="-122"/>
                <a:cs typeface="OPPOSans H" panose="00020600040101010101" charset="-122"/>
              </a:rPr>
              <a:t>02.</a:t>
            </a:r>
            <a:endParaRPr kumimoji="1" lang="zh-CN" altLang="en-US"/>
          </a:p>
        </p:txBody>
      </p:sp>
      <p:sp>
        <p:nvSpPr>
          <p:cNvPr id="9" name="标题 1"/>
          <p:cNvSpPr txBox="1"/>
          <p:nvPr/>
        </p:nvSpPr>
        <p:spPr>
          <a:xfrm>
            <a:off x="1251862" y="1421053"/>
            <a:ext cx="3030936" cy="4636409"/>
          </a:xfrm>
          <a:prstGeom prst="rect">
            <a:avLst/>
          </a:prstGeom>
          <a:solidFill>
            <a:schemeClr val="accent1">
              <a:lumMod val="20000"/>
              <a:lumOff val="80000"/>
            </a:schemeClr>
          </a:solidFill>
          <a:ln cap="sq">
            <a:noFill/>
            <a:prstDash val="solid"/>
            <a:miter/>
          </a:ln>
          <a:effectLst/>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1185851" y="1350839"/>
            <a:ext cx="3030936" cy="4636409"/>
          </a:xfrm>
          <a:prstGeom prst="rect">
            <a:avLst/>
          </a:prstGeom>
          <a:solidFill>
            <a:schemeClr val="accent1">
              <a:lumMod val="40000"/>
              <a:lumOff val="60000"/>
            </a:schemeClr>
          </a:solidFill>
          <a:ln cap="sq">
            <a:noFill/>
            <a:prstDash val="solid"/>
            <a:miter/>
          </a:ln>
          <a:effectLst/>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1119840" y="1280625"/>
            <a:ext cx="3030936" cy="4636409"/>
          </a:xfrm>
          <a:prstGeom prst="rect">
            <a:avLst/>
          </a:prstGeom>
          <a:solidFill>
            <a:schemeClr val="accent1">
              <a:lumMod val="60000"/>
              <a:lumOff val="40000"/>
            </a:schemeClr>
          </a:solidFill>
          <a:ln cap="sq">
            <a:noFill/>
            <a:prstDash val="solid"/>
            <a:miter/>
          </a:ln>
          <a:effectLst/>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rot="16200000">
            <a:off x="8176344" y="2904413"/>
            <a:ext cx="6858000" cy="1049173"/>
          </a:xfrm>
          <a:custGeom>
            <a:avLst/>
            <a:gdLst>
              <a:gd name="connsiteX0" fmla="*/ 0 w 12192001"/>
              <a:gd name="connsiteY0" fmla="*/ 0 h 1034554"/>
              <a:gd name="connsiteX1" fmla="*/ 173424 w 12192001"/>
              <a:gd name="connsiteY1" fmla="*/ 41741 h 1034554"/>
              <a:gd name="connsiteX2" fmla="*/ 6105587 w 12192001"/>
              <a:gd name="connsiteY2" fmla="*/ 502935 h 1034554"/>
              <a:gd name="connsiteX3" fmla="*/ 12037750 w 12192001"/>
              <a:gd name="connsiteY3" fmla="*/ 41741 h 1034554"/>
              <a:gd name="connsiteX4" fmla="*/ 12192001 w 12192001"/>
              <a:gd name="connsiteY4" fmla="*/ 4615 h 1034554"/>
              <a:gd name="connsiteX5" fmla="*/ 12192001 w 12192001"/>
              <a:gd name="connsiteY5" fmla="*/ 1034554 h 1034554"/>
              <a:gd name="connsiteX6" fmla="*/ 0 w 12192001"/>
              <a:gd name="connsiteY6" fmla="*/ 1034554 h 1034554"/>
            </a:gdLst>
            <a:ahLst/>
            <a:cxnLst/>
            <a:rect l="l" t="t" r="r" b="b"/>
            <a:pathLst>
              <a:path w="12192001" h="1034554">
                <a:moveTo>
                  <a:pt x="0" y="0"/>
                </a:moveTo>
                <a:lnTo>
                  <a:pt x="173424" y="41741"/>
                </a:lnTo>
                <a:cubicBezTo>
                  <a:pt x="1459040" y="319993"/>
                  <a:pt x="3636204" y="502935"/>
                  <a:pt x="6105587" y="502935"/>
                </a:cubicBezTo>
                <a:cubicBezTo>
                  <a:pt x="8574971" y="502935"/>
                  <a:pt x="10752134" y="319993"/>
                  <a:pt x="12037750" y="41741"/>
                </a:cubicBezTo>
                <a:lnTo>
                  <a:pt x="12192001" y="4615"/>
                </a:lnTo>
                <a:lnTo>
                  <a:pt x="12192001" y="1034554"/>
                </a:lnTo>
                <a:lnTo>
                  <a:pt x="0" y="1034554"/>
                </a:lnTo>
                <a:close/>
              </a:path>
            </a:pathLst>
          </a:custGeom>
          <a:solidFill>
            <a:schemeClr val="accent1">
              <a:lumMod val="60000"/>
              <a:lumOff val="40000"/>
            </a:schemeClr>
          </a:solidFill>
          <a:ln cap="sq">
            <a:noFill/>
            <a:prstDash val="solid"/>
            <a:miter/>
          </a:ln>
          <a:effectLst>
            <a:outerShdw blurRad="127000" dist="38100" dir="10800000" algn="tr" rotWithShape="0">
              <a:schemeClr val="accent1">
                <a:lumMod val="50000"/>
                <a:alpha val="32000"/>
              </a:schemeClr>
            </a:outerShdw>
          </a:effectLst>
        </p:spPr>
        <p:txBody>
          <a:bodyPr vert="horz" wrap="square" lIns="91440" tIns="45720" rIns="91440" bIns="45720" rtlCol="0" anchor="ctr"/>
          <a:lstStyle/>
          <a:p>
            <a:pPr algn="ctr">
              <a:lnSpc>
                <a:spcPct val="100000"/>
              </a:lnSpc>
            </a:pPr>
            <a:endParaRPr kumimoji="1" lang="zh-CN" altLang="en-US"/>
          </a:p>
        </p:txBody>
      </p:sp>
      <p:sp>
        <p:nvSpPr>
          <p:cNvPr id="14" name="标题 1"/>
          <p:cNvSpPr txBox="1"/>
          <p:nvPr/>
        </p:nvSpPr>
        <p:spPr>
          <a:xfrm rot="16200000">
            <a:off x="8238419" y="2904412"/>
            <a:ext cx="6858000" cy="1049173"/>
          </a:xfrm>
          <a:custGeom>
            <a:avLst/>
            <a:gdLst>
              <a:gd name="connsiteX0" fmla="*/ 0 w 12192001"/>
              <a:gd name="connsiteY0" fmla="*/ 0 h 1034554"/>
              <a:gd name="connsiteX1" fmla="*/ 173424 w 12192001"/>
              <a:gd name="connsiteY1" fmla="*/ 41741 h 1034554"/>
              <a:gd name="connsiteX2" fmla="*/ 6105587 w 12192001"/>
              <a:gd name="connsiteY2" fmla="*/ 502935 h 1034554"/>
              <a:gd name="connsiteX3" fmla="*/ 12037750 w 12192001"/>
              <a:gd name="connsiteY3" fmla="*/ 41741 h 1034554"/>
              <a:gd name="connsiteX4" fmla="*/ 12192001 w 12192001"/>
              <a:gd name="connsiteY4" fmla="*/ 4615 h 1034554"/>
              <a:gd name="connsiteX5" fmla="*/ 12192001 w 12192001"/>
              <a:gd name="connsiteY5" fmla="*/ 1034554 h 1034554"/>
              <a:gd name="connsiteX6" fmla="*/ 0 w 12192001"/>
              <a:gd name="connsiteY6" fmla="*/ 1034554 h 1034554"/>
            </a:gdLst>
            <a:ahLst/>
            <a:cxnLst/>
            <a:rect l="l" t="t" r="r" b="b"/>
            <a:pathLst>
              <a:path w="12192001" h="1034554">
                <a:moveTo>
                  <a:pt x="0" y="0"/>
                </a:moveTo>
                <a:lnTo>
                  <a:pt x="173424" y="41741"/>
                </a:lnTo>
                <a:cubicBezTo>
                  <a:pt x="1459040" y="319993"/>
                  <a:pt x="3636204" y="502935"/>
                  <a:pt x="6105587" y="502935"/>
                </a:cubicBezTo>
                <a:cubicBezTo>
                  <a:pt x="8574971" y="502935"/>
                  <a:pt x="10752134" y="319993"/>
                  <a:pt x="12037750" y="41741"/>
                </a:cubicBezTo>
                <a:lnTo>
                  <a:pt x="12192001" y="4615"/>
                </a:lnTo>
                <a:lnTo>
                  <a:pt x="12192001" y="1034554"/>
                </a:lnTo>
                <a:lnTo>
                  <a:pt x="0" y="1034554"/>
                </a:lnTo>
                <a:close/>
              </a:path>
            </a:pathLst>
          </a:custGeom>
          <a:gradFill>
            <a:gsLst>
              <a:gs pos="0">
                <a:schemeClr val="accent3">
                  <a:alpha val="100000"/>
                </a:schemeClr>
              </a:gs>
              <a:gs pos="100000">
                <a:schemeClr val="accent1">
                  <a:alpha val="100000"/>
                </a:schemeClr>
              </a:gs>
            </a:gsLst>
            <a:lin ang="2700000" scaled="0"/>
          </a:gradFill>
          <a:ln cap="flat">
            <a:noFill/>
            <a:prstDash val="solid"/>
            <a:miter/>
          </a:ln>
          <a:effectLst/>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783520" y="46704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Overview of Fieldwork in Guangzhou</a:t>
            </a:r>
            <a:endParaRPr kumimoji="1" lang="zh-CN" altLang="en-US"/>
          </a:p>
        </p:txBody>
      </p:sp>
      <p:grpSp>
        <p:nvGrpSpPr>
          <p:cNvPr id="16" name="组合 15"/>
          <p:cNvGrpSpPr/>
          <p:nvPr/>
        </p:nvGrpSpPr>
        <p:grpSpPr>
          <a:xfrm>
            <a:off x="176306" y="376135"/>
            <a:ext cx="484094" cy="470981"/>
            <a:chOff x="176306" y="376135"/>
            <a:chExt cx="484094" cy="470981"/>
          </a:xfrm>
        </p:grpSpPr>
        <p:sp>
          <p:nvSpPr>
            <p:cNvPr id="17" name="标题 1"/>
            <p:cNvSpPr txBox="1"/>
            <p:nvPr/>
          </p:nvSpPr>
          <p:spPr>
            <a:xfrm>
              <a:off x="176306" y="473900"/>
              <a:ext cx="373217" cy="373216"/>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409081" y="376135"/>
              <a:ext cx="251319" cy="251319"/>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grpSp>
      <p:pic>
        <p:nvPicPr>
          <p:cNvPr id="23" name="图片 22" descr="城中村"/>
          <p:cNvPicPr>
            <a:picLocks noChangeAspect="1"/>
          </p:cNvPicPr>
          <p:nvPr/>
        </p:nvPicPr>
        <p:blipFill>
          <a:blip r:embed="rId1"/>
          <a:stretch>
            <a:fillRect/>
          </a:stretch>
        </p:blipFill>
        <p:spPr>
          <a:xfrm>
            <a:off x="1120140" y="1245235"/>
            <a:ext cx="3322955" cy="489394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rot="5400000">
            <a:off x="2626487" y="-2707511"/>
            <a:ext cx="6858004" cy="12273026"/>
          </a:xfrm>
          <a:prstGeom prst="rect">
            <a:avLst/>
          </a:prstGeom>
          <a:gradFill>
            <a:gsLst>
              <a:gs pos="0">
                <a:schemeClr val="accent1">
                  <a:lumMod val="60000"/>
                  <a:lumOff val="40000"/>
                </a:schemeClr>
              </a:gs>
              <a:gs pos="100000">
                <a:schemeClr val="accent1">
                  <a:lumMod val="20000"/>
                  <a:lumOff val="8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grpSp>
        <p:nvGrpSpPr>
          <p:cNvPr id="3" name="组合 2"/>
          <p:cNvGrpSpPr/>
          <p:nvPr/>
        </p:nvGrpSpPr>
        <p:grpSpPr>
          <a:xfrm>
            <a:off x="-615366" y="1130300"/>
            <a:ext cx="4543428" cy="5192431"/>
            <a:chOff x="-615366" y="1130300"/>
            <a:chExt cx="4543428" cy="5192431"/>
          </a:xfrm>
        </p:grpSpPr>
        <p:sp>
          <p:nvSpPr>
            <p:cNvPr id="4" name="标题 1"/>
            <p:cNvSpPr txBox="1"/>
            <p:nvPr/>
          </p:nvSpPr>
          <p:spPr>
            <a:xfrm rot="16200000" flipH="1">
              <a:off x="-719143" y="2575163"/>
              <a:ext cx="1504761" cy="1297208"/>
            </a:xfrm>
            <a:prstGeom prst="hexagon">
              <a:avLst/>
            </a:prstGeom>
            <a:solidFill>
              <a:schemeClr val="accent1">
                <a:lumMod val="7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rot="16200000" flipH="1">
              <a:off x="576998" y="2575163"/>
              <a:ext cx="1504761" cy="1297208"/>
            </a:xfrm>
            <a:prstGeom prst="hexagon">
              <a:avLst/>
            </a:prstGeom>
            <a:solidFill>
              <a:schemeClr val="accent1">
                <a:lumMod val="40000"/>
                <a:lumOff val="6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rot="16200000" flipH="1">
              <a:off x="1225603" y="3744357"/>
              <a:ext cx="1504761" cy="1297208"/>
            </a:xfrm>
            <a:prstGeom prst="hexag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rot="16200000" flipH="1">
              <a:off x="2527078" y="3748624"/>
              <a:ext cx="1504761" cy="1297208"/>
            </a:xfrm>
            <a:prstGeom prst="hexagon">
              <a:avLst/>
            </a:prstGeom>
            <a:solidFill>
              <a:schemeClr val="accent1">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rot="16200000" flipH="1">
              <a:off x="-719143" y="4921746"/>
              <a:ext cx="1504761" cy="1297208"/>
            </a:xfrm>
            <a:prstGeom prst="hexag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grpSp>
          <p:nvGrpSpPr>
            <p:cNvPr id="9" name="组合 8"/>
            <p:cNvGrpSpPr/>
            <p:nvPr/>
          </p:nvGrpSpPr>
          <p:grpSpPr>
            <a:xfrm>
              <a:off x="1927722" y="2453090"/>
              <a:ext cx="1378284" cy="388004"/>
              <a:chOff x="1927722" y="2453090"/>
              <a:chExt cx="1378284" cy="388004"/>
            </a:xfrm>
          </p:grpSpPr>
          <p:sp>
            <p:nvSpPr>
              <p:cNvPr id="10" name="标题 1"/>
              <p:cNvSpPr txBox="1"/>
              <p:nvPr/>
            </p:nvSpPr>
            <p:spPr>
              <a:xfrm>
                <a:off x="1927722" y="2738683"/>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3203595" y="2738683"/>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rot="19996967">
                <a:off x="1929925" y="2614851"/>
                <a:ext cx="726780" cy="3024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rot="1603033" flipH="1">
                <a:off x="2565248" y="2614621"/>
                <a:ext cx="725748" cy="3024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grpSp>
          <p:nvGrpSpPr>
            <p:cNvPr id="14" name="组合 13"/>
            <p:cNvGrpSpPr/>
            <p:nvPr/>
          </p:nvGrpSpPr>
          <p:grpSpPr>
            <a:xfrm>
              <a:off x="303299" y="4020857"/>
              <a:ext cx="1469957" cy="1885587"/>
              <a:chOff x="303299" y="4020857"/>
              <a:chExt cx="1469957" cy="1885587"/>
            </a:xfrm>
          </p:grpSpPr>
          <p:sp>
            <p:nvSpPr>
              <p:cNvPr id="15" name="标题 1"/>
              <p:cNvSpPr txBox="1"/>
              <p:nvPr/>
            </p:nvSpPr>
            <p:spPr>
              <a:xfrm rot="6986950">
                <a:off x="873289" y="4551830"/>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rot="6986950">
                <a:off x="320746" y="5786585"/>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rot="4874959">
                <a:off x="627423" y="4971094"/>
                <a:ext cx="726780" cy="3024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rot="8589983" flipH="1">
                <a:off x="319709" y="5558523"/>
                <a:ext cx="816467" cy="3024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rot="20960850" flipH="1">
                <a:off x="1662261" y="5600282"/>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rot="1472841" flipH="1">
                <a:off x="1003880" y="5468830"/>
                <a:ext cx="726780" cy="3024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rot="8573900">
                <a:off x="867480" y="4318598"/>
                <a:ext cx="823013" cy="38403"/>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rot="6986950">
                <a:off x="1552252" y="4038304"/>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pic>
          <p:nvPicPr>
            <p:cNvPr id="23" name="图片 22"/>
            <p:cNvPicPr>
              <a:picLocks noChangeAspect="1"/>
            </p:cNvPicPr>
            <p:nvPr/>
          </p:nvPicPr>
          <p:blipFill>
            <a:blip r:embed="rId1">
              <a:alphaModFix amt="100000"/>
            </a:blip>
            <a:srcRect/>
            <a:stretch>
              <a:fillRect/>
            </a:stretch>
          </p:blipFill>
          <p:spPr>
            <a:xfrm flipH="1">
              <a:off x="1586352" y="4026289"/>
              <a:ext cx="716878" cy="836358"/>
            </a:xfrm>
            <a:prstGeom prst="rect">
              <a:avLst/>
            </a:prstGeom>
            <a:noFill/>
            <a:ln>
              <a:noFill/>
            </a:ln>
          </p:spPr>
        </p:pic>
        <p:sp>
          <p:nvSpPr>
            <p:cNvPr id="24" name="标题 1"/>
            <p:cNvSpPr txBox="1"/>
            <p:nvPr/>
          </p:nvSpPr>
          <p:spPr>
            <a:xfrm rot="16200000" flipH="1">
              <a:off x="1715115" y="2441694"/>
              <a:ext cx="1814410" cy="1564148"/>
            </a:xfrm>
            <a:prstGeom prst="hexagon">
              <a:avLst/>
            </a:prstGeom>
            <a:solidFill>
              <a:schemeClr val="accent1">
                <a:lumMod val="75000"/>
              </a:schemeClr>
            </a:solidFill>
            <a:ln w="12700" cap="sq">
              <a:noFill/>
              <a:miter/>
            </a:ln>
            <a:effectLst>
              <a:outerShdw blurRad="254000" dist="114300" dir="2700000" algn="tl" rotWithShape="0">
                <a:schemeClr val="accent1">
                  <a:lumMod val="50000"/>
                  <a:alpha val="30000"/>
                </a:schemeClr>
              </a:outerShdw>
            </a:effectLst>
          </p:spPr>
          <p:txBody>
            <a:bodyPr vert="horz" wrap="square" lIns="91440" tIns="45720" rIns="91440" bIns="45720" rtlCol="0" anchor="ctr"/>
            <a:lstStyle/>
            <a:p>
              <a:pPr algn="ctr">
                <a:lnSpc>
                  <a:spcPct val="110000"/>
                </a:lnSpc>
              </a:pPr>
              <a:endParaRPr kumimoji="1" lang="zh-CN" altLang="en-US"/>
            </a:p>
          </p:txBody>
        </p:sp>
        <p:grpSp>
          <p:nvGrpSpPr>
            <p:cNvPr id="25" name="组合 24"/>
            <p:cNvGrpSpPr/>
            <p:nvPr/>
          </p:nvGrpSpPr>
          <p:grpSpPr>
            <a:xfrm>
              <a:off x="2156570" y="2846391"/>
              <a:ext cx="1732412" cy="752572"/>
              <a:chOff x="2156570" y="2846391"/>
              <a:chExt cx="1732412" cy="752572"/>
            </a:xfrm>
          </p:grpSpPr>
          <p:sp>
            <p:nvSpPr>
              <p:cNvPr id="26" name="标题 1"/>
              <p:cNvSpPr txBox="1"/>
              <p:nvPr/>
            </p:nvSpPr>
            <p:spPr>
              <a:xfrm rot="6986950">
                <a:off x="2939726" y="3479104"/>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7" name="标题 1"/>
              <p:cNvSpPr txBox="1"/>
              <p:nvPr/>
            </p:nvSpPr>
            <p:spPr>
              <a:xfrm rot="8589983" flipH="1">
                <a:off x="2873635" y="3199613"/>
                <a:ext cx="1060142" cy="38403"/>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8" name="标题 1"/>
              <p:cNvSpPr txBox="1"/>
              <p:nvPr/>
            </p:nvSpPr>
            <p:spPr>
              <a:xfrm rot="12331924" flipH="1">
                <a:off x="2185835" y="3327510"/>
                <a:ext cx="868088" cy="38403"/>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9" name="标题 1"/>
              <p:cNvSpPr txBox="1"/>
              <p:nvPr/>
            </p:nvSpPr>
            <p:spPr>
              <a:xfrm rot="6986950">
                <a:off x="2174017" y="3103230"/>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0" name="标题 1"/>
              <p:cNvSpPr txBox="1"/>
              <p:nvPr/>
            </p:nvSpPr>
            <p:spPr>
              <a:xfrm rot="6986950">
                <a:off x="3769124" y="2863838"/>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pic>
          <p:nvPicPr>
            <p:cNvPr id="31" name="图片 30"/>
            <p:cNvPicPr>
              <a:picLocks noChangeAspect="1"/>
            </p:cNvPicPr>
            <p:nvPr/>
          </p:nvPicPr>
          <p:blipFill>
            <a:blip r:embed="rId2">
              <a:alphaModFix amt="100000"/>
            </a:blip>
            <a:srcRect/>
            <a:stretch>
              <a:fillRect/>
            </a:stretch>
          </p:blipFill>
          <p:spPr>
            <a:xfrm flipH="1">
              <a:off x="2137647" y="2722406"/>
              <a:ext cx="921701" cy="1024106"/>
            </a:xfrm>
            <a:prstGeom prst="rect">
              <a:avLst/>
            </a:prstGeom>
            <a:noFill/>
            <a:ln>
              <a:noFill/>
            </a:ln>
          </p:spPr>
        </p:pic>
        <p:pic>
          <p:nvPicPr>
            <p:cNvPr id="32" name="图片 31"/>
            <p:cNvPicPr>
              <a:picLocks noChangeAspect="1"/>
            </p:cNvPicPr>
            <p:nvPr/>
          </p:nvPicPr>
          <p:blipFill>
            <a:blip r:embed="rId3">
              <a:alphaModFix amt="100000"/>
            </a:blip>
            <a:srcRect/>
            <a:stretch>
              <a:fillRect/>
            </a:stretch>
          </p:blipFill>
          <p:spPr>
            <a:xfrm flipH="1">
              <a:off x="-292341" y="2823478"/>
              <a:ext cx="657557" cy="774975"/>
            </a:xfrm>
            <a:prstGeom prst="rect">
              <a:avLst/>
            </a:prstGeom>
            <a:noFill/>
            <a:ln>
              <a:noFill/>
            </a:ln>
          </p:spPr>
        </p:pic>
        <p:sp>
          <p:nvSpPr>
            <p:cNvPr id="33" name="标题 1"/>
            <p:cNvSpPr txBox="1"/>
            <p:nvPr/>
          </p:nvSpPr>
          <p:spPr>
            <a:xfrm rot="16200000" flipH="1">
              <a:off x="-220030" y="1255431"/>
              <a:ext cx="1814410" cy="1564147"/>
            </a:xfrm>
            <a:prstGeom prst="hexagon">
              <a:avLst/>
            </a:prstGeom>
            <a:solidFill>
              <a:schemeClr val="accent1"/>
            </a:solidFill>
            <a:ln w="12700" cap="sq">
              <a:noFill/>
              <a:miter/>
            </a:ln>
            <a:effectLst>
              <a:outerShdw blurRad="254000" dist="114300" dir="2700000" algn="tl" rotWithShape="0">
                <a:schemeClr val="accent1">
                  <a:lumMod val="50000"/>
                  <a:alpha val="30000"/>
                </a:schemeClr>
              </a:outerShdw>
            </a:effectLst>
          </p:spPr>
          <p:txBody>
            <a:bodyPr vert="horz" wrap="square" lIns="91440" tIns="45720" rIns="91440" bIns="45720" rtlCol="0" anchor="ctr"/>
            <a:lstStyle/>
            <a:p>
              <a:pPr algn="ctr">
                <a:lnSpc>
                  <a:spcPct val="110000"/>
                </a:lnSpc>
              </a:pPr>
              <a:endParaRPr kumimoji="1" lang="zh-CN" altLang="en-US"/>
            </a:p>
          </p:txBody>
        </p:sp>
        <p:grpSp>
          <p:nvGrpSpPr>
            <p:cNvPr id="34" name="组合 33"/>
            <p:cNvGrpSpPr/>
            <p:nvPr/>
          </p:nvGrpSpPr>
          <p:grpSpPr>
            <a:xfrm>
              <a:off x="-110640" y="1447861"/>
              <a:ext cx="1751984" cy="1617185"/>
              <a:chOff x="-110640" y="1447861"/>
              <a:chExt cx="1751984" cy="1617185"/>
            </a:xfrm>
          </p:grpSpPr>
          <p:sp>
            <p:nvSpPr>
              <p:cNvPr id="35" name="标题 1"/>
              <p:cNvSpPr txBox="1"/>
              <p:nvPr/>
            </p:nvSpPr>
            <p:spPr>
              <a:xfrm rot="6986950">
                <a:off x="1371196" y="1465309"/>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6" name="标题 1"/>
              <p:cNvSpPr txBox="1"/>
              <p:nvPr/>
            </p:nvSpPr>
            <p:spPr>
              <a:xfrm rot="6986950">
                <a:off x="719152" y="2945188"/>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7" name="标题 1"/>
              <p:cNvSpPr txBox="1"/>
              <p:nvPr/>
            </p:nvSpPr>
            <p:spPr>
              <a:xfrm rot="4874959">
                <a:off x="1054835" y="1921454"/>
                <a:ext cx="875537" cy="38403"/>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8" name="标题 1"/>
              <p:cNvSpPr txBox="1"/>
              <p:nvPr/>
            </p:nvSpPr>
            <p:spPr>
              <a:xfrm rot="8589983" flipH="1">
                <a:off x="689621" y="2659356"/>
                <a:ext cx="985521" cy="38403"/>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9" name="标题 1"/>
              <p:cNvSpPr txBox="1"/>
              <p:nvPr/>
            </p:nvSpPr>
            <p:spPr>
              <a:xfrm rot="12331924" flipH="1">
                <a:off x="-114620" y="2785586"/>
                <a:ext cx="968726" cy="38403"/>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0" name="标题 1"/>
              <p:cNvSpPr txBox="1"/>
              <p:nvPr/>
            </p:nvSpPr>
            <p:spPr>
              <a:xfrm rot="6986950">
                <a:off x="-93193" y="2553759"/>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1" name="标题 1"/>
              <p:cNvSpPr txBox="1"/>
              <p:nvPr/>
            </p:nvSpPr>
            <p:spPr>
              <a:xfrm rot="6986950">
                <a:off x="1521485" y="2338350"/>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pic>
          <p:nvPicPr>
            <p:cNvPr id="42" name="图片 41"/>
            <p:cNvPicPr>
              <a:picLocks noChangeAspect="1"/>
            </p:cNvPicPr>
            <p:nvPr/>
          </p:nvPicPr>
          <p:blipFill>
            <a:blip r:embed="rId4">
              <a:alphaModFix amt="100000"/>
            </a:blip>
            <a:srcRect/>
            <a:stretch>
              <a:fillRect/>
            </a:stretch>
          </p:blipFill>
          <p:spPr>
            <a:xfrm flipH="1">
              <a:off x="158996" y="1525755"/>
              <a:ext cx="1024112" cy="1024103"/>
            </a:xfrm>
            <a:prstGeom prst="rect">
              <a:avLst/>
            </a:prstGeom>
            <a:noFill/>
            <a:ln>
              <a:noFill/>
            </a:ln>
          </p:spPr>
        </p:pic>
        <p:pic>
          <p:nvPicPr>
            <p:cNvPr id="43" name="图片 42"/>
            <p:cNvPicPr>
              <a:picLocks noChangeAspect="1"/>
            </p:cNvPicPr>
            <p:nvPr/>
          </p:nvPicPr>
          <p:blipFill>
            <a:blip r:embed="rId5">
              <a:alphaModFix amt="100000"/>
            </a:blip>
            <a:srcRect/>
            <a:stretch>
              <a:fillRect/>
            </a:stretch>
          </p:blipFill>
          <p:spPr>
            <a:xfrm flipH="1">
              <a:off x="2959423" y="4041634"/>
              <a:ext cx="640072" cy="711188"/>
            </a:xfrm>
            <a:prstGeom prst="rect">
              <a:avLst/>
            </a:prstGeom>
            <a:noFill/>
            <a:ln>
              <a:noFill/>
            </a:ln>
          </p:spPr>
        </p:pic>
      </p:grpSp>
      <p:pic>
        <p:nvPicPr>
          <p:cNvPr id="44" name="图片 43"/>
          <p:cNvPicPr>
            <a:picLocks noChangeAspect="1"/>
          </p:cNvPicPr>
          <p:nvPr/>
        </p:nvPicPr>
        <p:blipFill>
          <a:blip r:embed="rId6">
            <a:alphaModFix amt="100000"/>
          </a:blip>
          <a:srcRect/>
          <a:stretch>
            <a:fillRect/>
          </a:stretch>
        </p:blipFill>
        <p:spPr>
          <a:xfrm rot="20126527" flipH="1">
            <a:off x="-400643" y="5186680"/>
            <a:ext cx="801284" cy="924560"/>
          </a:xfrm>
          <a:prstGeom prst="rect">
            <a:avLst/>
          </a:prstGeom>
          <a:noFill/>
          <a:ln>
            <a:noFill/>
          </a:ln>
        </p:spPr>
      </p:pic>
      <p:sp>
        <p:nvSpPr>
          <p:cNvPr id="45" name="标题 1"/>
          <p:cNvSpPr txBox="1"/>
          <p:nvPr/>
        </p:nvSpPr>
        <p:spPr>
          <a:xfrm>
            <a:off x="3072130" y="1805305"/>
            <a:ext cx="2458720" cy="2699385"/>
          </a:xfrm>
          <a:prstGeom prst="rect">
            <a:avLst/>
          </a:prstGeom>
          <a:noFill/>
          <a:ln w="12700" cap="sq">
            <a:noFill/>
            <a:miter/>
          </a:ln>
        </p:spPr>
        <p:txBody>
          <a:bodyPr vert="horz" wrap="square" lIns="0" tIns="0" rIns="0" bIns="0" rtlCol="0" anchor="ctr"/>
          <a:lstStyle/>
          <a:p>
            <a:pPr algn="r">
              <a:lnSpc>
                <a:spcPct val="120000"/>
              </a:lnSpc>
            </a:pPr>
            <a:r>
              <a:rPr kumimoji="1" lang="en-US" altLang="zh-CN" sz="4000">
                <a:ln w="12700">
                  <a:noFill/>
                </a:ln>
                <a:solidFill>
                  <a:srgbClr val="2DB2B8">
                    <a:alpha val="100000"/>
                  </a:srgbClr>
                </a:solidFill>
                <a:latin typeface="OPPOSans H" panose="00020600040101010101" charset="-122"/>
                <a:ea typeface="OPPOSans H" panose="00020600040101010101" charset="-122"/>
                <a:cs typeface="OPPOSans H" panose="00020600040101010101" charset="-122"/>
              </a:rPr>
              <a:t>02</a:t>
            </a:r>
            <a:endParaRPr kumimoji="1" lang="en-US" altLang="zh-CN" sz="4000">
              <a:ln w="12700">
                <a:noFill/>
              </a:ln>
              <a:solidFill>
                <a:srgbClr val="2DB2B8">
                  <a:alpha val="100000"/>
                </a:srgbClr>
              </a:solidFill>
              <a:latin typeface="OPPOSans H" panose="00020600040101010101" charset="-122"/>
              <a:ea typeface="OPPOSans H" panose="00020600040101010101" charset="-122"/>
              <a:cs typeface="OPPOSans H" panose="00020600040101010101" charset="-122"/>
            </a:endParaRPr>
          </a:p>
        </p:txBody>
      </p:sp>
      <p:sp>
        <p:nvSpPr>
          <p:cNvPr id="46" name="标题 1"/>
          <p:cNvSpPr txBox="1"/>
          <p:nvPr/>
        </p:nvSpPr>
        <p:spPr>
          <a:xfrm>
            <a:off x="5803900" y="1496061"/>
            <a:ext cx="5206839" cy="3174999"/>
          </a:xfrm>
          <a:prstGeom prst="rect">
            <a:avLst/>
          </a:prstGeom>
          <a:noFill/>
          <a:ln w="12700" cap="sq">
            <a:noFill/>
            <a:miter/>
          </a:ln>
        </p:spPr>
        <p:txBody>
          <a:bodyPr vert="horz" wrap="square" lIns="0" tIns="0" rIns="0" bIns="0" rtlCol="0" anchor="ctr"/>
          <a:lstStyle/>
          <a:p>
            <a:pPr algn="l">
              <a:lnSpc>
                <a:spcPct val="130000"/>
              </a:lnSpc>
            </a:pPr>
            <a:r>
              <a:rPr kumimoji="1" lang="en-US" altLang="zh-CN" sz="4000">
                <a:ln w="12700">
                  <a:noFill/>
                </a:ln>
                <a:solidFill>
                  <a:srgbClr val="348498">
                    <a:alpha val="100000"/>
                  </a:srgbClr>
                </a:solidFill>
                <a:latin typeface="Malgun Gothic" panose="020B0503020000020004" charset="-127"/>
                <a:ea typeface="Malgun Gothic" panose="020B0503020000020004" charset="-127"/>
                <a:cs typeface="OPPOSans H" panose="00020600040101010101" charset="-122"/>
              </a:rPr>
              <a:t>Fieldwork Methods</a:t>
            </a:r>
            <a:endParaRPr kumimoji="1" lang="en-US" altLang="zh-CN" sz="4000">
              <a:ln w="12700">
                <a:noFill/>
              </a:ln>
              <a:solidFill>
                <a:srgbClr val="348498">
                  <a:alpha val="100000"/>
                </a:srgbClr>
              </a:solidFill>
              <a:latin typeface="Malgun Gothic" panose="020B0503020000020004" charset="-127"/>
              <a:ea typeface="Malgun Gothic" panose="020B0503020000020004" charset="-127"/>
              <a:cs typeface="OPPOSans H" panose="00020600040101010101"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778510" y="2195830"/>
            <a:ext cx="5133975" cy="3460115"/>
          </a:xfrm>
          <a:prstGeom prst="roundRect">
            <a:avLst>
              <a:gd name="adj" fmla="val 7576"/>
            </a:avLst>
          </a:prstGeom>
          <a:solidFill>
            <a:schemeClr val="bg1"/>
          </a:solidFill>
          <a:ln w="12700" cap="rnd">
            <a:noFill/>
            <a:round/>
          </a:ln>
          <a:effectLst>
            <a:outerShdw blurRad="254000" dist="127000" algn="ctr" rotWithShape="0">
              <a:schemeClr val="bg1">
                <a:lumMod val="65000"/>
                <a:alpha val="2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flipV="1">
            <a:off x="728322" y="1777557"/>
            <a:ext cx="752557" cy="723572"/>
          </a:xfrm>
          <a:prstGeom prst="roundRect">
            <a:avLst>
              <a:gd name="adj" fmla="val 11344"/>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1009239" y="3171711"/>
            <a:ext cx="4672145" cy="1797854"/>
          </a:xfrm>
          <a:prstGeom prst="rect">
            <a:avLst/>
          </a:prstGeom>
          <a:noFill/>
          <a:ln>
            <a:noFill/>
          </a:ln>
        </p:spPr>
        <p:txBody>
          <a:bodyPr vert="horz" wrap="square" lIns="0" tIns="0" rIns="0" bIns="0" rtlCol="0" anchor="t"/>
          <a:lstStyle/>
          <a:p>
            <a:pPr algn="l">
              <a:lnSpc>
                <a:spcPct val="140000"/>
              </a:lnSpc>
            </a:pPr>
            <a:r>
              <a:rPr kumimoji="1" lang="en-US" altLang="zh-CN" sz="1095">
                <a:ln w="12700">
                  <a:noFill/>
                </a:ln>
                <a:solidFill>
                  <a:srgbClr val="000000">
                    <a:alpha val="100000"/>
                  </a:srgbClr>
                </a:solidFill>
                <a:latin typeface="Source Han Sans" panose="020B0500000000000000" charset="-122"/>
                <a:ea typeface="Source Han Sans" panose="020B0500000000000000" charset="-122"/>
                <a:cs typeface="Source Han Sans" panose="020B0500000000000000" charset="-122"/>
              </a:rPr>
              <a:t>Participant observation involves actively engaging in the culture being studied. Researchers may participate in local events, join community activities, or even live among the community members. For example, attending a traditional Cantonese wedding can provide insights into family values and social norms.
</a:t>
            </a:r>
            <a:endParaRPr kumimoji="1" lang="en-US" altLang="zh-CN" sz="1095">
              <a:ln w="12700">
                <a:noFill/>
              </a:ln>
              <a:solidFill>
                <a:srgbClr val="000000">
                  <a:alpha val="100000"/>
                </a:srgbClr>
              </a:solidFill>
              <a:latin typeface="Source Han Sans" panose="020B0500000000000000" charset="-122"/>
              <a:ea typeface="Source Han Sans" panose="020B0500000000000000" charset="-122"/>
              <a:cs typeface="Source Han Sans" panose="020B0500000000000000" charset="-122"/>
            </a:endParaRPr>
          </a:p>
          <a:p>
            <a:pPr algn="l">
              <a:lnSpc>
                <a:spcPct val="140000"/>
              </a:lnSpc>
            </a:pPr>
            <a:r>
              <a:rPr kumimoji="1" lang="en-US" altLang="zh-CN" sz="1095">
                <a:ln w="12700">
                  <a:noFill/>
                </a:ln>
                <a:solidFill>
                  <a:srgbClr val="000000">
                    <a:alpha val="100000"/>
                  </a:srgbClr>
                </a:solidFill>
                <a:latin typeface="Source Han Sans" panose="020B0500000000000000" charset="-122"/>
                <a:ea typeface="Source Han Sans" panose="020B0500000000000000" charset="-122"/>
                <a:cs typeface="Source Han Sans" panose="020B0500000000000000" charset="-122"/>
              </a:rPr>
              <a:t>This method allows researchers to gain a deeper understanding of cultural practices and behaviors from an insider’s perspective. It helps reveal subtle aspects of culture that may not be apparent through other methods.</a:t>
            </a:r>
            <a:endParaRPr kumimoji="1" lang="zh-CN" altLang="en-US"/>
          </a:p>
        </p:txBody>
      </p:sp>
      <p:sp>
        <p:nvSpPr>
          <p:cNvPr id="5" name="标题 1"/>
          <p:cNvSpPr txBox="1"/>
          <p:nvPr/>
        </p:nvSpPr>
        <p:spPr>
          <a:xfrm>
            <a:off x="1009240" y="2593662"/>
            <a:ext cx="4672145" cy="495863"/>
          </a:xfrm>
          <a:prstGeom prst="rect">
            <a:avLst/>
          </a:prstGeom>
          <a:noFill/>
          <a:ln>
            <a:noFill/>
          </a:ln>
        </p:spPr>
        <p:txBody>
          <a:bodyPr vert="horz" wrap="square" lIns="0" tIns="0" rIns="0" bIns="0" rtlCol="0" anchor="ctr"/>
          <a:lstStyle/>
          <a:p>
            <a:pPr algn="ctr">
              <a:lnSpc>
                <a:spcPct val="110000"/>
              </a:lnSpc>
            </a:pPr>
            <a:r>
              <a:rPr kumimoji="1" lang="en-US" altLang="zh-CN" sz="1600">
                <a:ln w="12700">
                  <a:noFill/>
                </a:ln>
                <a:solidFill>
                  <a:srgbClr val="000000">
                    <a:alpha val="100000"/>
                  </a:srgbClr>
                </a:solidFill>
                <a:latin typeface="Source Han Sans CN Bold" panose="020B0800000000000000" charset="-122"/>
                <a:ea typeface="Source Han Sans CN Bold" panose="020B0800000000000000" charset="-122"/>
                <a:cs typeface="Source Han Sans CN Bold" panose="020B0800000000000000" charset="-122"/>
              </a:rPr>
              <a:t>Immersing in the Culture</a:t>
            </a:r>
            <a:endParaRPr kumimoji="1" lang="zh-CN" altLang="en-US"/>
          </a:p>
        </p:txBody>
      </p:sp>
      <p:sp>
        <p:nvSpPr>
          <p:cNvPr id="6" name="标题 1"/>
          <p:cNvSpPr txBox="1"/>
          <p:nvPr/>
        </p:nvSpPr>
        <p:spPr>
          <a:xfrm>
            <a:off x="5602502" y="4978927"/>
            <a:ext cx="445563" cy="428402"/>
          </a:xfrm>
          <a:prstGeom prst="roundRect">
            <a:avLst>
              <a:gd name="adj" fmla="val 11344"/>
            </a:avLst>
          </a:prstGeom>
          <a:solidFill>
            <a:schemeClr val="accent2"/>
          </a:solidFill>
          <a:ln w="12700" cap="sq">
            <a:noFill/>
            <a:miter/>
          </a:ln>
        </p:spPr>
        <p:txBody>
          <a:bodyPr vert="horz" wrap="square" lIns="91440" tIns="45720" rIns="91440" bIns="45720" rtlCol="0" anchor="ctr"/>
          <a:lstStyle/>
          <a:p>
            <a:pPr algn="ctr">
              <a:lnSpc>
                <a:spcPct val="110000"/>
              </a:lnSpc>
            </a:pPr>
            <a:r>
              <a:rPr kumimoji="1" lang="en-US" altLang="zh-CN" sz="3200">
                <a:ln w="12700">
                  <a:noFill/>
                </a:ln>
                <a:solidFill>
                  <a:srgbClr val="FFFFFF">
                    <a:alpha val="100000"/>
                  </a:srgbClr>
                </a:solidFill>
                <a:latin typeface="Source Han Sans" panose="020B0500000000000000" charset="-122"/>
                <a:ea typeface="Source Han Sans" panose="020B0500000000000000" charset="-122"/>
                <a:cs typeface="Source Han Sans" panose="020B0500000000000000" charset="-122"/>
              </a:rPr>
              <a:t>+</a:t>
            </a:r>
            <a:endParaRPr kumimoji="1" lang="zh-CN" altLang="en-US"/>
          </a:p>
        </p:txBody>
      </p:sp>
      <p:sp>
        <p:nvSpPr>
          <p:cNvPr id="7" name="标题 1"/>
          <p:cNvSpPr txBox="1"/>
          <p:nvPr/>
        </p:nvSpPr>
        <p:spPr>
          <a:xfrm>
            <a:off x="940770" y="1987787"/>
            <a:ext cx="327665" cy="303113"/>
          </a:xfrm>
          <a:custGeom>
            <a:avLst/>
            <a:gdLst>
              <a:gd name="connsiteX0" fmla="*/ 56258 w 778320"/>
              <a:gd name="connsiteY0" fmla="*/ 333700 h 720001"/>
              <a:gd name="connsiteX1" fmla="*/ 56258 w 778320"/>
              <a:gd name="connsiteY1" fmla="*/ 627457 h 720001"/>
              <a:gd name="connsiteX2" fmla="*/ 66946 w 778320"/>
              <a:gd name="connsiteY2" fmla="*/ 653054 h 720001"/>
              <a:gd name="connsiteX3" fmla="*/ 92544 w 778320"/>
              <a:gd name="connsiteY3" fmla="*/ 663743 h 720001"/>
              <a:gd name="connsiteX4" fmla="*/ 685683 w 778320"/>
              <a:gd name="connsiteY4" fmla="*/ 663743 h 720001"/>
              <a:gd name="connsiteX5" fmla="*/ 711281 w 778320"/>
              <a:gd name="connsiteY5" fmla="*/ 653054 h 720001"/>
              <a:gd name="connsiteX6" fmla="*/ 721969 w 778320"/>
              <a:gd name="connsiteY6" fmla="*/ 627457 h 720001"/>
              <a:gd name="connsiteX7" fmla="*/ 721969 w 778320"/>
              <a:gd name="connsiteY7" fmla="*/ 333700 h 720001"/>
              <a:gd name="connsiteX8" fmla="*/ 92544 w 778320"/>
              <a:gd name="connsiteY8" fmla="*/ 142049 h 720001"/>
              <a:gd name="connsiteX9" fmla="*/ 56258 w 778320"/>
              <a:gd name="connsiteY9" fmla="*/ 178336 h 720001"/>
              <a:gd name="connsiteX10" fmla="*/ 56258 w 778320"/>
              <a:gd name="connsiteY10" fmla="*/ 277443 h 720001"/>
              <a:gd name="connsiteX11" fmla="*/ 721969 w 778320"/>
              <a:gd name="connsiteY11" fmla="*/ 277443 h 720001"/>
              <a:gd name="connsiteX12" fmla="*/ 721969 w 778320"/>
              <a:gd name="connsiteY12" fmla="*/ 178336 h 720001"/>
              <a:gd name="connsiteX13" fmla="*/ 685683 w 778320"/>
              <a:gd name="connsiteY13" fmla="*/ 142049 h 720001"/>
              <a:gd name="connsiteX14" fmla="*/ 561355 w 778320"/>
              <a:gd name="connsiteY14" fmla="*/ 142049 h 720001"/>
              <a:gd name="connsiteX15" fmla="*/ 561355 w 778320"/>
              <a:gd name="connsiteY15" fmla="*/ 201026 h 720001"/>
              <a:gd name="connsiteX16" fmla="*/ 533226 w 778320"/>
              <a:gd name="connsiteY16" fmla="*/ 229249 h 720001"/>
              <a:gd name="connsiteX17" fmla="*/ 505097 w 778320"/>
              <a:gd name="connsiteY17" fmla="*/ 201120 h 720001"/>
              <a:gd name="connsiteX18" fmla="*/ 505097 w 778320"/>
              <a:gd name="connsiteY18" fmla="*/ 142049 h 720001"/>
              <a:gd name="connsiteX19" fmla="*/ 273129 w 778320"/>
              <a:gd name="connsiteY19" fmla="*/ 142049 h 720001"/>
              <a:gd name="connsiteX20" fmla="*/ 273129 w 778320"/>
              <a:gd name="connsiteY20" fmla="*/ 201026 h 720001"/>
              <a:gd name="connsiteX21" fmla="*/ 245001 w 778320"/>
              <a:gd name="connsiteY21" fmla="*/ 229249 h 720001"/>
              <a:gd name="connsiteX22" fmla="*/ 216872 w 778320"/>
              <a:gd name="connsiteY22" fmla="*/ 201120 h 720001"/>
              <a:gd name="connsiteX23" fmla="*/ 216872 w 778320"/>
              <a:gd name="connsiteY23" fmla="*/ 142049 h 720001"/>
              <a:gd name="connsiteX24" fmla="*/ 245001 w 778320"/>
              <a:gd name="connsiteY24" fmla="*/ 0 h 720001"/>
              <a:gd name="connsiteX25" fmla="*/ 273129 w 778320"/>
              <a:gd name="connsiteY25" fmla="*/ 28129 h 720001"/>
              <a:gd name="connsiteX26" fmla="*/ 273129 w 778320"/>
              <a:gd name="connsiteY26" fmla="*/ 85792 h 720001"/>
              <a:gd name="connsiteX27" fmla="*/ 505097 w 778320"/>
              <a:gd name="connsiteY27" fmla="*/ 85792 h 720001"/>
              <a:gd name="connsiteX28" fmla="*/ 505097 w 778320"/>
              <a:gd name="connsiteY28" fmla="*/ 28129 h 720001"/>
              <a:gd name="connsiteX29" fmla="*/ 533226 w 778320"/>
              <a:gd name="connsiteY29" fmla="*/ 0 h 720001"/>
              <a:gd name="connsiteX30" fmla="*/ 561355 w 778320"/>
              <a:gd name="connsiteY30" fmla="*/ 28129 h 720001"/>
              <a:gd name="connsiteX31" fmla="*/ 561355 w 778320"/>
              <a:gd name="connsiteY31" fmla="*/ 85792 h 720001"/>
              <a:gd name="connsiteX32" fmla="*/ 685683 w 778320"/>
              <a:gd name="connsiteY32" fmla="*/ 85792 h 720001"/>
              <a:gd name="connsiteX33" fmla="*/ 778320 w 778320"/>
              <a:gd name="connsiteY33" fmla="*/ 178336 h 720001"/>
              <a:gd name="connsiteX34" fmla="*/ 778320 w 778320"/>
              <a:gd name="connsiteY34" fmla="*/ 627457 h 720001"/>
              <a:gd name="connsiteX35" fmla="*/ 685777 w 778320"/>
              <a:gd name="connsiteY35" fmla="*/ 720001 h 720001"/>
              <a:gd name="connsiteX36" fmla="*/ 92544 w 778320"/>
              <a:gd name="connsiteY36" fmla="*/ 720001 h 720001"/>
              <a:gd name="connsiteX37" fmla="*/ 0 w 778320"/>
              <a:gd name="connsiteY37" fmla="*/ 627457 h 720001"/>
              <a:gd name="connsiteX38" fmla="*/ 0 w 778320"/>
              <a:gd name="connsiteY38" fmla="*/ 333700 h 720001"/>
              <a:gd name="connsiteX39" fmla="*/ 0 w 778320"/>
              <a:gd name="connsiteY39" fmla="*/ 277443 h 720001"/>
              <a:gd name="connsiteX40" fmla="*/ 0 w 778320"/>
              <a:gd name="connsiteY40" fmla="*/ 178336 h 720001"/>
              <a:gd name="connsiteX41" fmla="*/ 92544 w 778320"/>
              <a:gd name="connsiteY41" fmla="*/ 85792 h 720001"/>
              <a:gd name="connsiteX42" fmla="*/ 216872 w 778320"/>
              <a:gd name="connsiteY42" fmla="*/ 85792 h 720001"/>
              <a:gd name="connsiteX43" fmla="*/ 216872 w 778320"/>
              <a:gd name="connsiteY43" fmla="*/ 28129 h 720001"/>
              <a:gd name="connsiteX44" fmla="*/ 245001 w 778320"/>
              <a:gd name="connsiteY44" fmla="*/ 0 h 720001"/>
            </a:gdLst>
            <a:ahLst/>
            <a:cxnLst/>
            <a:rect l="l" t="t" r="r" b="b"/>
            <a:pathLst>
              <a:path w="778320" h="720001">
                <a:moveTo>
                  <a:pt x="56258" y="333700"/>
                </a:moveTo>
                <a:lnTo>
                  <a:pt x="56258" y="627457"/>
                </a:lnTo>
                <a:cubicBezTo>
                  <a:pt x="56258" y="637115"/>
                  <a:pt x="60008" y="646116"/>
                  <a:pt x="66946" y="653054"/>
                </a:cubicBezTo>
                <a:cubicBezTo>
                  <a:pt x="73885" y="659899"/>
                  <a:pt x="82980" y="663743"/>
                  <a:pt x="92544" y="663743"/>
                </a:cubicBezTo>
                <a:lnTo>
                  <a:pt x="685683" y="663743"/>
                </a:lnTo>
                <a:cubicBezTo>
                  <a:pt x="695341" y="663743"/>
                  <a:pt x="704342" y="659993"/>
                  <a:pt x="711281" y="653054"/>
                </a:cubicBezTo>
                <a:cubicBezTo>
                  <a:pt x="718125" y="646116"/>
                  <a:pt x="721969" y="637021"/>
                  <a:pt x="721969" y="627457"/>
                </a:cubicBezTo>
                <a:lnTo>
                  <a:pt x="721969" y="333700"/>
                </a:lnTo>
                <a:close/>
                <a:moveTo>
                  <a:pt x="92544" y="142049"/>
                </a:moveTo>
                <a:cubicBezTo>
                  <a:pt x="72478" y="142049"/>
                  <a:pt x="56258" y="158364"/>
                  <a:pt x="56258" y="178336"/>
                </a:cubicBezTo>
                <a:lnTo>
                  <a:pt x="56258" y="277443"/>
                </a:lnTo>
                <a:lnTo>
                  <a:pt x="721969" y="277443"/>
                </a:lnTo>
                <a:lnTo>
                  <a:pt x="721969" y="178336"/>
                </a:lnTo>
                <a:cubicBezTo>
                  <a:pt x="721969" y="158270"/>
                  <a:pt x="705655" y="142049"/>
                  <a:pt x="685683" y="142049"/>
                </a:cubicBezTo>
                <a:lnTo>
                  <a:pt x="561355" y="142049"/>
                </a:lnTo>
                <a:lnTo>
                  <a:pt x="561355" y="201026"/>
                </a:lnTo>
                <a:cubicBezTo>
                  <a:pt x="561355" y="216591"/>
                  <a:pt x="548790" y="229249"/>
                  <a:pt x="533226" y="229249"/>
                </a:cubicBezTo>
                <a:cubicBezTo>
                  <a:pt x="517661" y="229249"/>
                  <a:pt x="505097" y="216685"/>
                  <a:pt x="505097" y="201120"/>
                </a:cubicBezTo>
                <a:lnTo>
                  <a:pt x="505097" y="142049"/>
                </a:lnTo>
                <a:lnTo>
                  <a:pt x="273129" y="142049"/>
                </a:lnTo>
                <a:lnTo>
                  <a:pt x="273129" y="201026"/>
                </a:lnTo>
                <a:cubicBezTo>
                  <a:pt x="273129" y="216591"/>
                  <a:pt x="260565" y="229249"/>
                  <a:pt x="245001" y="229249"/>
                </a:cubicBezTo>
                <a:cubicBezTo>
                  <a:pt x="229436" y="229249"/>
                  <a:pt x="216872" y="216685"/>
                  <a:pt x="216872" y="201120"/>
                </a:cubicBezTo>
                <a:lnTo>
                  <a:pt x="216872" y="142049"/>
                </a:lnTo>
                <a:close/>
                <a:moveTo>
                  <a:pt x="245001" y="0"/>
                </a:moveTo>
                <a:cubicBezTo>
                  <a:pt x="260565" y="0"/>
                  <a:pt x="273129" y="12564"/>
                  <a:pt x="273129" y="28129"/>
                </a:cubicBezTo>
                <a:lnTo>
                  <a:pt x="273129" y="85792"/>
                </a:lnTo>
                <a:lnTo>
                  <a:pt x="505097" y="85792"/>
                </a:lnTo>
                <a:lnTo>
                  <a:pt x="505097" y="28129"/>
                </a:lnTo>
                <a:cubicBezTo>
                  <a:pt x="505097" y="12564"/>
                  <a:pt x="517661" y="0"/>
                  <a:pt x="533226" y="0"/>
                </a:cubicBezTo>
                <a:cubicBezTo>
                  <a:pt x="548790" y="0"/>
                  <a:pt x="561355" y="12564"/>
                  <a:pt x="561355" y="28129"/>
                </a:cubicBezTo>
                <a:lnTo>
                  <a:pt x="561355" y="85792"/>
                </a:lnTo>
                <a:lnTo>
                  <a:pt x="685683" y="85792"/>
                </a:lnTo>
                <a:cubicBezTo>
                  <a:pt x="736784" y="85792"/>
                  <a:pt x="778227" y="127235"/>
                  <a:pt x="778320" y="178336"/>
                </a:cubicBezTo>
                <a:lnTo>
                  <a:pt x="778320" y="627457"/>
                </a:lnTo>
                <a:cubicBezTo>
                  <a:pt x="778320" y="678370"/>
                  <a:pt x="736690" y="720001"/>
                  <a:pt x="685777" y="720001"/>
                </a:cubicBezTo>
                <a:lnTo>
                  <a:pt x="92544" y="720001"/>
                </a:lnTo>
                <a:cubicBezTo>
                  <a:pt x="41631" y="720001"/>
                  <a:pt x="0" y="678370"/>
                  <a:pt x="0" y="627457"/>
                </a:cubicBezTo>
                <a:lnTo>
                  <a:pt x="0" y="333700"/>
                </a:lnTo>
                <a:lnTo>
                  <a:pt x="0" y="277443"/>
                </a:lnTo>
                <a:lnTo>
                  <a:pt x="0" y="178336"/>
                </a:lnTo>
                <a:cubicBezTo>
                  <a:pt x="0" y="127235"/>
                  <a:pt x="41443" y="85792"/>
                  <a:pt x="92544" y="85792"/>
                </a:cubicBezTo>
                <a:lnTo>
                  <a:pt x="216872" y="85792"/>
                </a:lnTo>
                <a:lnTo>
                  <a:pt x="216872" y="28129"/>
                </a:lnTo>
                <a:cubicBezTo>
                  <a:pt x="216872" y="12564"/>
                  <a:pt x="229436" y="0"/>
                  <a:pt x="245001" y="0"/>
                </a:cubicBezTo>
                <a:close/>
              </a:path>
            </a:pathLst>
          </a:custGeom>
          <a:solidFill>
            <a:schemeClr val="bg1"/>
          </a:solidFill>
          <a:ln cap="sq">
            <a:noFill/>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6181090" y="2195830"/>
            <a:ext cx="5133975" cy="3460115"/>
          </a:xfrm>
          <a:prstGeom prst="roundRect">
            <a:avLst>
              <a:gd name="adj" fmla="val 7576"/>
            </a:avLst>
          </a:prstGeom>
          <a:solidFill>
            <a:schemeClr val="bg1"/>
          </a:solidFill>
          <a:ln w="12700" cap="rnd">
            <a:noFill/>
            <a:round/>
          </a:ln>
          <a:effectLst>
            <a:outerShdw blurRad="254000" dist="127000" algn="ctr" rotWithShape="0">
              <a:schemeClr val="bg1">
                <a:lumMod val="65000"/>
                <a:alpha val="2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flipV="1">
            <a:off x="6131234" y="1777557"/>
            <a:ext cx="752557" cy="723572"/>
          </a:xfrm>
          <a:prstGeom prst="roundRect">
            <a:avLst>
              <a:gd name="adj" fmla="val 11344"/>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6412150" y="3171711"/>
            <a:ext cx="4672145" cy="1797854"/>
          </a:xfrm>
          <a:prstGeom prst="rect">
            <a:avLst/>
          </a:prstGeom>
          <a:noFill/>
          <a:ln>
            <a:noFill/>
          </a:ln>
        </p:spPr>
        <p:txBody>
          <a:bodyPr vert="horz" wrap="square" lIns="0" tIns="0" rIns="0" bIns="0" rtlCol="0" anchor="t"/>
          <a:lstStyle/>
          <a:p>
            <a:pPr algn="l">
              <a:lnSpc>
                <a:spcPct val="140000"/>
              </a:lnSpc>
            </a:pPr>
            <a:r>
              <a:rPr kumimoji="1" lang="en-US" altLang="zh-CN" sz="1220">
                <a:ln w="12700">
                  <a:noFill/>
                </a:ln>
                <a:solidFill>
                  <a:srgbClr val="000000">
                    <a:alpha val="100000"/>
                  </a:srgbClr>
                </a:solidFill>
                <a:latin typeface="Source Han Sans" panose="020B0500000000000000" charset="-122"/>
                <a:ea typeface="Source Han Sans" panose="020B0500000000000000" charset="-122"/>
                <a:cs typeface="Source Han Sans" panose="020B0500000000000000" charset="-122"/>
              </a:rPr>
              <a:t>During participant observation, researchers keep detailed field notes to record their observations, reflections, and insights. These notes capture the context, behaviors, and interactions witnessed in real- time.
</a:t>
            </a:r>
            <a:endParaRPr kumimoji="1" lang="en-US" altLang="zh-CN" sz="1220">
              <a:ln w="12700">
                <a:noFill/>
              </a:ln>
              <a:solidFill>
                <a:srgbClr val="000000">
                  <a:alpha val="100000"/>
                </a:srgbClr>
              </a:solidFill>
              <a:latin typeface="Source Han Sans" panose="020B0500000000000000" charset="-122"/>
              <a:ea typeface="Source Han Sans" panose="020B0500000000000000" charset="-122"/>
              <a:cs typeface="Source Han Sans" panose="020B0500000000000000" charset="-122"/>
            </a:endParaRPr>
          </a:p>
          <a:p>
            <a:pPr algn="l">
              <a:lnSpc>
                <a:spcPct val="140000"/>
              </a:lnSpc>
            </a:pPr>
            <a:r>
              <a:rPr kumimoji="1" lang="en-US" altLang="zh-CN" sz="1220">
                <a:ln w="12700">
                  <a:noFill/>
                </a:ln>
                <a:solidFill>
                  <a:srgbClr val="000000">
                    <a:alpha val="100000"/>
                  </a:srgbClr>
                </a:solidFill>
                <a:latin typeface="Source Han Sans" panose="020B0500000000000000" charset="-122"/>
                <a:ea typeface="Source Han Sans" panose="020B0500000000000000" charset="-122"/>
                <a:cs typeface="Source Han Sans" panose="020B0500000000000000" charset="-122"/>
              </a:rPr>
              <a:t>For instance, observing a local market can reveal how vendors and customers communicate, negotiate prices, and use non- verbal cues. These observations can later be analyzed to understand cultural communication patterns.</a:t>
            </a:r>
            <a:endParaRPr kumimoji="1" lang="zh-CN" altLang="en-US"/>
          </a:p>
        </p:txBody>
      </p:sp>
      <p:sp>
        <p:nvSpPr>
          <p:cNvPr id="11" name="标题 1"/>
          <p:cNvSpPr txBox="1"/>
          <p:nvPr/>
        </p:nvSpPr>
        <p:spPr>
          <a:xfrm>
            <a:off x="6412151" y="2593662"/>
            <a:ext cx="4672145" cy="495863"/>
          </a:xfrm>
          <a:prstGeom prst="rect">
            <a:avLst/>
          </a:prstGeom>
          <a:noFill/>
          <a:ln>
            <a:noFill/>
          </a:ln>
        </p:spPr>
        <p:txBody>
          <a:bodyPr vert="horz" wrap="square" lIns="0" tIns="0" rIns="0" bIns="0" rtlCol="0" anchor="ctr"/>
          <a:lstStyle/>
          <a:p>
            <a:pPr algn="ctr">
              <a:lnSpc>
                <a:spcPct val="110000"/>
              </a:lnSpc>
            </a:pPr>
            <a:r>
              <a:rPr kumimoji="1" lang="en-US" altLang="zh-CN" sz="1600">
                <a:ln w="12700">
                  <a:noFill/>
                </a:ln>
                <a:solidFill>
                  <a:srgbClr val="000000">
                    <a:alpha val="100000"/>
                  </a:srgbClr>
                </a:solidFill>
                <a:latin typeface="Source Han Sans CN Bold" panose="020B0800000000000000" charset="-122"/>
                <a:ea typeface="Source Han Sans CN Bold" panose="020B0800000000000000" charset="-122"/>
                <a:cs typeface="Source Han Sans CN Bold" panose="020B0800000000000000" charset="-122"/>
              </a:rPr>
              <a:t>Recording Observations</a:t>
            </a:r>
            <a:endParaRPr kumimoji="1" lang="zh-CN" altLang="en-US"/>
          </a:p>
        </p:txBody>
      </p:sp>
      <p:sp>
        <p:nvSpPr>
          <p:cNvPr id="12" name="标题 1"/>
          <p:cNvSpPr txBox="1"/>
          <p:nvPr/>
        </p:nvSpPr>
        <p:spPr>
          <a:xfrm>
            <a:off x="11005414" y="4978927"/>
            <a:ext cx="445563" cy="428402"/>
          </a:xfrm>
          <a:prstGeom prst="roundRect">
            <a:avLst>
              <a:gd name="adj" fmla="val 11344"/>
            </a:avLst>
          </a:prstGeom>
          <a:solidFill>
            <a:schemeClr val="accent1"/>
          </a:solidFill>
          <a:ln w="12700" cap="sq">
            <a:noFill/>
            <a:miter/>
          </a:ln>
        </p:spPr>
        <p:txBody>
          <a:bodyPr vert="horz" wrap="square" lIns="91440" tIns="45720" rIns="91440" bIns="45720" rtlCol="0" anchor="ctr"/>
          <a:lstStyle/>
          <a:p>
            <a:pPr algn="ctr">
              <a:lnSpc>
                <a:spcPct val="110000"/>
              </a:lnSpc>
            </a:pPr>
            <a:r>
              <a:rPr kumimoji="1" lang="en-US" altLang="zh-CN" sz="3200">
                <a:ln w="12700">
                  <a:noFill/>
                </a:ln>
                <a:solidFill>
                  <a:srgbClr val="FFFFFF">
                    <a:alpha val="100000"/>
                  </a:srgbClr>
                </a:solidFill>
                <a:latin typeface="Source Han Sans" panose="020B0500000000000000" charset="-122"/>
                <a:ea typeface="Source Han Sans" panose="020B0500000000000000" charset="-122"/>
                <a:cs typeface="Source Han Sans" panose="020B0500000000000000" charset="-122"/>
              </a:rPr>
              <a:t>+</a:t>
            </a:r>
            <a:endParaRPr kumimoji="1" lang="zh-CN" altLang="en-US"/>
          </a:p>
        </p:txBody>
      </p:sp>
      <p:sp>
        <p:nvSpPr>
          <p:cNvPr id="13" name="标题 1"/>
          <p:cNvSpPr txBox="1"/>
          <p:nvPr/>
        </p:nvSpPr>
        <p:spPr>
          <a:xfrm>
            <a:off x="6343681" y="1990811"/>
            <a:ext cx="327665" cy="297066"/>
          </a:xfrm>
          <a:custGeom>
            <a:avLst/>
            <a:gdLst>
              <a:gd name="connsiteX0" fmla="*/ 351048 w 1543905"/>
              <a:gd name="connsiteY0" fmla="*/ 523317 h 1399728"/>
              <a:gd name="connsiteX1" fmla="*/ 351048 w 1543905"/>
              <a:gd name="connsiteY1" fmla="*/ 523317 h 1399728"/>
              <a:gd name="connsiteX2" fmla="*/ 351420 w 1543905"/>
              <a:gd name="connsiteY2" fmla="*/ 523503 h 1399728"/>
              <a:gd name="connsiteX3" fmla="*/ 351420 w 1543905"/>
              <a:gd name="connsiteY3" fmla="*/ 1020031 h 1399728"/>
              <a:gd name="connsiteX4" fmla="*/ 351048 w 1543905"/>
              <a:gd name="connsiteY4" fmla="*/ 1020403 h 1399728"/>
              <a:gd name="connsiteX5" fmla="*/ 163525 w 1543905"/>
              <a:gd name="connsiteY5" fmla="*/ 1020403 h 1399728"/>
              <a:gd name="connsiteX6" fmla="*/ 163153 w 1543905"/>
              <a:gd name="connsiteY6" fmla="*/ 1020031 h 1399728"/>
              <a:gd name="connsiteX7" fmla="*/ 163153 w 1543905"/>
              <a:gd name="connsiteY7" fmla="*/ 523503 h 1399728"/>
              <a:gd name="connsiteX8" fmla="*/ 163153 w 1543905"/>
              <a:gd name="connsiteY8" fmla="*/ 523317 h 1399728"/>
              <a:gd name="connsiteX9" fmla="*/ 163339 w 1543905"/>
              <a:gd name="connsiteY9" fmla="*/ 523131 h 1399728"/>
              <a:gd name="connsiteX10" fmla="*/ 351048 w 1543905"/>
              <a:gd name="connsiteY10" fmla="*/ 523131 h 1399728"/>
              <a:gd name="connsiteX11" fmla="*/ 351048 w 1543905"/>
              <a:gd name="connsiteY11" fmla="*/ 411696 h 1399728"/>
              <a:gd name="connsiteX12" fmla="*/ 163339 w 1543905"/>
              <a:gd name="connsiteY12" fmla="*/ 411696 h 1399728"/>
              <a:gd name="connsiteX13" fmla="*/ 51346 w 1543905"/>
              <a:gd name="connsiteY13" fmla="*/ 523689 h 1399728"/>
              <a:gd name="connsiteX14" fmla="*/ 51346 w 1543905"/>
              <a:gd name="connsiteY14" fmla="*/ 1020217 h 1399728"/>
              <a:gd name="connsiteX15" fmla="*/ 163339 w 1543905"/>
              <a:gd name="connsiteY15" fmla="*/ 1132210 h 1399728"/>
              <a:gd name="connsiteX16" fmla="*/ 351048 w 1543905"/>
              <a:gd name="connsiteY16" fmla="*/ 1132210 h 1399728"/>
              <a:gd name="connsiteX17" fmla="*/ 463042 w 1543905"/>
              <a:gd name="connsiteY17" fmla="*/ 1020217 h 1399728"/>
              <a:gd name="connsiteX18" fmla="*/ 463042 w 1543905"/>
              <a:gd name="connsiteY18" fmla="*/ 523503 h 1399728"/>
              <a:gd name="connsiteX19" fmla="*/ 351048 w 1543905"/>
              <a:gd name="connsiteY19" fmla="*/ 411696 h 1399728"/>
              <a:gd name="connsiteX20" fmla="*/ 865808 w 1543905"/>
              <a:gd name="connsiteY20" fmla="*/ 111621 h 1399728"/>
              <a:gd name="connsiteX21" fmla="*/ 866180 w 1543905"/>
              <a:gd name="connsiteY21" fmla="*/ 111807 h 1399728"/>
              <a:gd name="connsiteX22" fmla="*/ 866180 w 1543905"/>
              <a:gd name="connsiteY22" fmla="*/ 1020031 h 1399728"/>
              <a:gd name="connsiteX23" fmla="*/ 865808 w 1543905"/>
              <a:gd name="connsiteY23" fmla="*/ 1020403 h 1399728"/>
              <a:gd name="connsiteX24" fmla="*/ 678284 w 1543905"/>
              <a:gd name="connsiteY24" fmla="*/ 1020403 h 1399728"/>
              <a:gd name="connsiteX25" fmla="*/ 677912 w 1543905"/>
              <a:gd name="connsiteY25" fmla="*/ 1020031 h 1399728"/>
              <a:gd name="connsiteX26" fmla="*/ 677912 w 1543905"/>
              <a:gd name="connsiteY26" fmla="*/ 111993 h 1399728"/>
              <a:gd name="connsiteX27" fmla="*/ 677912 w 1543905"/>
              <a:gd name="connsiteY27" fmla="*/ 111807 h 1399728"/>
              <a:gd name="connsiteX28" fmla="*/ 678098 w 1543905"/>
              <a:gd name="connsiteY28" fmla="*/ 111621 h 1399728"/>
              <a:gd name="connsiteX29" fmla="*/ 865808 w 1543905"/>
              <a:gd name="connsiteY29" fmla="*/ 111621 h 1399728"/>
              <a:gd name="connsiteX30" fmla="*/ 865808 w 1543905"/>
              <a:gd name="connsiteY30" fmla="*/ 0 h 1399728"/>
              <a:gd name="connsiteX31" fmla="*/ 677912 w 1543905"/>
              <a:gd name="connsiteY31" fmla="*/ 0 h 1399728"/>
              <a:gd name="connsiteX32" fmla="*/ 565919 w 1543905"/>
              <a:gd name="connsiteY32" fmla="*/ 111993 h 1399728"/>
              <a:gd name="connsiteX33" fmla="*/ 565919 w 1543905"/>
              <a:gd name="connsiteY33" fmla="*/ 1020217 h 1399728"/>
              <a:gd name="connsiteX34" fmla="*/ 677912 w 1543905"/>
              <a:gd name="connsiteY34" fmla="*/ 1132210 h 1399728"/>
              <a:gd name="connsiteX35" fmla="*/ 865622 w 1543905"/>
              <a:gd name="connsiteY35" fmla="*/ 1132210 h 1399728"/>
              <a:gd name="connsiteX36" fmla="*/ 977615 w 1543905"/>
              <a:gd name="connsiteY36" fmla="*/ 1020217 h 1399728"/>
              <a:gd name="connsiteX37" fmla="*/ 977615 w 1543905"/>
              <a:gd name="connsiteY37" fmla="*/ 111993 h 1399728"/>
              <a:gd name="connsiteX38" fmla="*/ 865808 w 1543905"/>
              <a:gd name="connsiteY38" fmla="*/ 0 h 1399728"/>
              <a:gd name="connsiteX39" fmla="*/ 1380381 w 1543905"/>
              <a:gd name="connsiteY39" fmla="*/ 729072 h 1399728"/>
              <a:gd name="connsiteX40" fmla="*/ 1380753 w 1543905"/>
              <a:gd name="connsiteY40" fmla="*/ 729258 h 1399728"/>
              <a:gd name="connsiteX41" fmla="*/ 1380753 w 1543905"/>
              <a:gd name="connsiteY41" fmla="*/ 1020031 h 1399728"/>
              <a:gd name="connsiteX42" fmla="*/ 1380381 w 1543905"/>
              <a:gd name="connsiteY42" fmla="*/ 1020403 h 1399728"/>
              <a:gd name="connsiteX43" fmla="*/ 1192858 w 1543905"/>
              <a:gd name="connsiteY43" fmla="*/ 1020403 h 1399728"/>
              <a:gd name="connsiteX44" fmla="*/ 1192485 w 1543905"/>
              <a:gd name="connsiteY44" fmla="*/ 1020031 h 1399728"/>
              <a:gd name="connsiteX45" fmla="*/ 1192485 w 1543905"/>
              <a:gd name="connsiteY45" fmla="*/ 729444 h 1399728"/>
              <a:gd name="connsiteX46" fmla="*/ 1192485 w 1543905"/>
              <a:gd name="connsiteY46" fmla="*/ 729258 h 1399728"/>
              <a:gd name="connsiteX47" fmla="*/ 1192671 w 1543905"/>
              <a:gd name="connsiteY47" fmla="*/ 729072 h 1399728"/>
              <a:gd name="connsiteX48" fmla="*/ 1380381 w 1543905"/>
              <a:gd name="connsiteY48" fmla="*/ 729072 h 1399728"/>
              <a:gd name="connsiteX49" fmla="*/ 1380381 w 1543905"/>
              <a:gd name="connsiteY49" fmla="*/ 617451 h 1399728"/>
              <a:gd name="connsiteX50" fmla="*/ 1192671 w 1543905"/>
              <a:gd name="connsiteY50" fmla="*/ 617451 h 1399728"/>
              <a:gd name="connsiteX51" fmla="*/ 1080678 w 1543905"/>
              <a:gd name="connsiteY51" fmla="*/ 729444 h 1399728"/>
              <a:gd name="connsiteX52" fmla="*/ 1080678 w 1543905"/>
              <a:gd name="connsiteY52" fmla="*/ 1020031 h 1399728"/>
              <a:gd name="connsiteX53" fmla="*/ 1192671 w 1543905"/>
              <a:gd name="connsiteY53" fmla="*/ 1132024 h 1399728"/>
              <a:gd name="connsiteX54" fmla="*/ 1380381 w 1543905"/>
              <a:gd name="connsiteY54" fmla="*/ 1132024 h 1399728"/>
              <a:gd name="connsiteX55" fmla="*/ 1492374 w 1543905"/>
              <a:gd name="connsiteY55" fmla="*/ 1020031 h 1399728"/>
              <a:gd name="connsiteX56" fmla="*/ 1492374 w 1543905"/>
              <a:gd name="connsiteY56" fmla="*/ 729444 h 1399728"/>
              <a:gd name="connsiteX57" fmla="*/ 1380381 w 1543905"/>
              <a:gd name="connsiteY57" fmla="*/ 617451 h 1399728"/>
              <a:gd name="connsiteX58" fmla="*/ 1481956 w 1543905"/>
              <a:gd name="connsiteY58" fmla="*/ 1276201 h 1399728"/>
              <a:gd name="connsiteX59" fmla="*/ 61764 w 1543905"/>
              <a:gd name="connsiteY59" fmla="*/ 1276201 h 1399728"/>
              <a:gd name="connsiteX60" fmla="*/ 0 w 1543905"/>
              <a:gd name="connsiteY60" fmla="*/ 1337965 h 1399728"/>
              <a:gd name="connsiteX61" fmla="*/ 61764 w 1543905"/>
              <a:gd name="connsiteY61" fmla="*/ 1399729 h 1399728"/>
              <a:gd name="connsiteX62" fmla="*/ 1482142 w 1543905"/>
              <a:gd name="connsiteY62" fmla="*/ 1399729 h 1399728"/>
              <a:gd name="connsiteX63" fmla="*/ 1543906 w 1543905"/>
              <a:gd name="connsiteY63" fmla="*/ 1337965 h 1399728"/>
              <a:gd name="connsiteX64" fmla="*/ 1481956 w 1543905"/>
              <a:gd name="connsiteY64" fmla="*/ 1276201 h 1399728"/>
            </a:gdLst>
            <a:ahLst/>
            <a:cxnLst/>
            <a:rect l="l" t="t" r="r" b="b"/>
            <a:pathLst>
              <a:path w="1543905" h="1399728">
                <a:moveTo>
                  <a:pt x="351048" y="523317"/>
                </a:moveTo>
                <a:cubicBezTo>
                  <a:pt x="351234" y="523317"/>
                  <a:pt x="351234" y="523317"/>
                  <a:pt x="351048" y="523317"/>
                </a:cubicBezTo>
                <a:cubicBezTo>
                  <a:pt x="351234" y="523317"/>
                  <a:pt x="351420" y="523503"/>
                  <a:pt x="351420" y="523503"/>
                </a:cubicBezTo>
                <a:lnTo>
                  <a:pt x="351420" y="1020031"/>
                </a:lnTo>
                <a:lnTo>
                  <a:pt x="351048" y="1020403"/>
                </a:lnTo>
                <a:lnTo>
                  <a:pt x="163525" y="1020403"/>
                </a:lnTo>
                <a:lnTo>
                  <a:pt x="163153" y="1020031"/>
                </a:lnTo>
                <a:lnTo>
                  <a:pt x="163153" y="523503"/>
                </a:lnTo>
                <a:lnTo>
                  <a:pt x="163153" y="523317"/>
                </a:lnTo>
                <a:lnTo>
                  <a:pt x="163339" y="523131"/>
                </a:lnTo>
                <a:lnTo>
                  <a:pt x="351048" y="523131"/>
                </a:lnTo>
                <a:moveTo>
                  <a:pt x="351048" y="411696"/>
                </a:moveTo>
                <a:lnTo>
                  <a:pt x="163339" y="411696"/>
                </a:lnTo>
                <a:cubicBezTo>
                  <a:pt x="101575" y="411696"/>
                  <a:pt x="51346" y="461739"/>
                  <a:pt x="51346" y="523689"/>
                </a:cubicBezTo>
                <a:lnTo>
                  <a:pt x="51346" y="1020217"/>
                </a:lnTo>
                <a:cubicBezTo>
                  <a:pt x="51346" y="1081795"/>
                  <a:pt x="101761" y="1132210"/>
                  <a:pt x="163339" y="1132210"/>
                </a:cubicBezTo>
                <a:lnTo>
                  <a:pt x="351048" y="1132210"/>
                </a:lnTo>
                <a:cubicBezTo>
                  <a:pt x="412626" y="1132210"/>
                  <a:pt x="463042" y="1081795"/>
                  <a:pt x="463042" y="1020217"/>
                </a:cubicBezTo>
                <a:lnTo>
                  <a:pt x="463042" y="523503"/>
                </a:lnTo>
                <a:cubicBezTo>
                  <a:pt x="463042" y="461739"/>
                  <a:pt x="412998" y="411696"/>
                  <a:pt x="351048" y="411696"/>
                </a:cubicBezTo>
                <a:close/>
                <a:moveTo>
                  <a:pt x="865808" y="111621"/>
                </a:moveTo>
                <a:cubicBezTo>
                  <a:pt x="865994" y="111621"/>
                  <a:pt x="866180" y="111807"/>
                  <a:pt x="866180" y="111807"/>
                </a:cubicBezTo>
                <a:lnTo>
                  <a:pt x="866180" y="1020031"/>
                </a:lnTo>
                <a:lnTo>
                  <a:pt x="865808" y="1020403"/>
                </a:lnTo>
                <a:lnTo>
                  <a:pt x="678284" y="1020403"/>
                </a:lnTo>
                <a:lnTo>
                  <a:pt x="677912" y="1020031"/>
                </a:lnTo>
                <a:lnTo>
                  <a:pt x="677912" y="111993"/>
                </a:lnTo>
                <a:lnTo>
                  <a:pt x="677912" y="111807"/>
                </a:lnTo>
                <a:lnTo>
                  <a:pt x="678098" y="111621"/>
                </a:lnTo>
                <a:lnTo>
                  <a:pt x="865808" y="111621"/>
                </a:lnTo>
                <a:moveTo>
                  <a:pt x="865808" y="0"/>
                </a:moveTo>
                <a:lnTo>
                  <a:pt x="677912" y="0"/>
                </a:lnTo>
                <a:cubicBezTo>
                  <a:pt x="616148" y="0"/>
                  <a:pt x="565919" y="50043"/>
                  <a:pt x="565919" y="111993"/>
                </a:cubicBezTo>
                <a:lnTo>
                  <a:pt x="565919" y="1020217"/>
                </a:lnTo>
                <a:cubicBezTo>
                  <a:pt x="565919" y="1081795"/>
                  <a:pt x="616335" y="1132210"/>
                  <a:pt x="677912" y="1132210"/>
                </a:cubicBezTo>
                <a:lnTo>
                  <a:pt x="865622" y="1132210"/>
                </a:lnTo>
                <a:cubicBezTo>
                  <a:pt x="927199" y="1132210"/>
                  <a:pt x="977615" y="1081795"/>
                  <a:pt x="977615" y="1020217"/>
                </a:cubicBezTo>
                <a:lnTo>
                  <a:pt x="977615" y="111993"/>
                </a:lnTo>
                <a:cubicBezTo>
                  <a:pt x="977615" y="50043"/>
                  <a:pt x="927571" y="0"/>
                  <a:pt x="865808" y="0"/>
                </a:cubicBezTo>
                <a:close/>
                <a:moveTo>
                  <a:pt x="1380381" y="729072"/>
                </a:moveTo>
                <a:cubicBezTo>
                  <a:pt x="1380567" y="729072"/>
                  <a:pt x="1380753" y="729258"/>
                  <a:pt x="1380753" y="729258"/>
                </a:cubicBezTo>
                <a:lnTo>
                  <a:pt x="1380753" y="1020031"/>
                </a:lnTo>
                <a:lnTo>
                  <a:pt x="1380381" y="1020403"/>
                </a:lnTo>
                <a:lnTo>
                  <a:pt x="1192858" y="1020403"/>
                </a:lnTo>
                <a:lnTo>
                  <a:pt x="1192485" y="1020031"/>
                </a:lnTo>
                <a:lnTo>
                  <a:pt x="1192485" y="729444"/>
                </a:lnTo>
                <a:lnTo>
                  <a:pt x="1192485" y="729258"/>
                </a:lnTo>
                <a:lnTo>
                  <a:pt x="1192671" y="729072"/>
                </a:lnTo>
                <a:lnTo>
                  <a:pt x="1380381" y="729072"/>
                </a:lnTo>
                <a:moveTo>
                  <a:pt x="1380381" y="617451"/>
                </a:moveTo>
                <a:lnTo>
                  <a:pt x="1192671" y="617451"/>
                </a:lnTo>
                <a:cubicBezTo>
                  <a:pt x="1130908" y="617451"/>
                  <a:pt x="1080678" y="667494"/>
                  <a:pt x="1080678" y="729444"/>
                </a:cubicBezTo>
                <a:lnTo>
                  <a:pt x="1080678" y="1020031"/>
                </a:lnTo>
                <a:cubicBezTo>
                  <a:pt x="1080678" y="1081608"/>
                  <a:pt x="1131094" y="1132024"/>
                  <a:pt x="1192671" y="1132024"/>
                </a:cubicBezTo>
                <a:lnTo>
                  <a:pt x="1380381" y="1132024"/>
                </a:lnTo>
                <a:cubicBezTo>
                  <a:pt x="1441959" y="1132024"/>
                  <a:pt x="1492374" y="1081608"/>
                  <a:pt x="1492374" y="1020031"/>
                </a:cubicBezTo>
                <a:lnTo>
                  <a:pt x="1492374" y="729444"/>
                </a:lnTo>
                <a:cubicBezTo>
                  <a:pt x="1492374" y="667680"/>
                  <a:pt x="1442145" y="617451"/>
                  <a:pt x="1380381" y="617451"/>
                </a:cubicBezTo>
                <a:close/>
                <a:moveTo>
                  <a:pt x="1481956" y="1276201"/>
                </a:moveTo>
                <a:lnTo>
                  <a:pt x="61764" y="1276201"/>
                </a:lnTo>
                <a:cubicBezTo>
                  <a:pt x="27719" y="1276201"/>
                  <a:pt x="0" y="1303920"/>
                  <a:pt x="0" y="1337965"/>
                </a:cubicBezTo>
                <a:cubicBezTo>
                  <a:pt x="0" y="1372009"/>
                  <a:pt x="27719" y="1399729"/>
                  <a:pt x="61764" y="1399729"/>
                </a:cubicBezTo>
                <a:lnTo>
                  <a:pt x="1482142" y="1399729"/>
                </a:lnTo>
                <a:cubicBezTo>
                  <a:pt x="1516187" y="1399729"/>
                  <a:pt x="1543906" y="1372009"/>
                  <a:pt x="1543906" y="1337965"/>
                </a:cubicBezTo>
                <a:cubicBezTo>
                  <a:pt x="1543720" y="1303734"/>
                  <a:pt x="1516187" y="1276201"/>
                  <a:pt x="1481956" y="1276201"/>
                </a:cubicBezTo>
                <a:close/>
              </a:path>
            </a:pathLst>
          </a:custGeom>
          <a:solidFill>
            <a:schemeClr val="bg1"/>
          </a:solidFill>
          <a:ln cap="sq">
            <a:noFill/>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783520" y="46704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Participant Observation</a:t>
            </a:r>
            <a:endParaRPr kumimoji="1" lang="zh-CN" altLang="en-US"/>
          </a:p>
        </p:txBody>
      </p:sp>
      <p:grpSp>
        <p:nvGrpSpPr>
          <p:cNvPr id="15" name="组合 14"/>
          <p:cNvGrpSpPr/>
          <p:nvPr/>
        </p:nvGrpSpPr>
        <p:grpSpPr>
          <a:xfrm>
            <a:off x="176306" y="376135"/>
            <a:ext cx="484094" cy="470981"/>
            <a:chOff x="176306" y="376135"/>
            <a:chExt cx="484094" cy="470981"/>
          </a:xfrm>
        </p:grpSpPr>
        <p:sp>
          <p:nvSpPr>
            <p:cNvPr id="16" name="标题 1"/>
            <p:cNvSpPr txBox="1"/>
            <p:nvPr/>
          </p:nvSpPr>
          <p:spPr>
            <a:xfrm>
              <a:off x="176306" y="473900"/>
              <a:ext cx="373217" cy="373216"/>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409081" y="376135"/>
              <a:ext cx="251319" cy="251319"/>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1584325" y="1625600"/>
            <a:ext cx="4104640" cy="4883150"/>
          </a:xfrm>
          <a:prstGeom prst="roundRect">
            <a:avLst>
              <a:gd name="adj" fmla="val 3892"/>
            </a:avLst>
          </a:prstGeom>
          <a:solidFill>
            <a:schemeClr val="bg1"/>
          </a:solidFill>
          <a:ln w="12700" cap="sq">
            <a:solidFill>
              <a:schemeClr val="accent1"/>
            </a:solidFill>
            <a:miter/>
          </a:ln>
        </p:spPr>
        <p:txBody>
          <a:bodyPr vert="horz" wrap="square" lIns="91440" tIns="45720" rIns="91440" bIns="45720" rtlCol="0" anchor="ctr"/>
          <a:lstStyle/>
          <a:p>
            <a:pPr algn="l">
              <a:lnSpc>
                <a:spcPct val="150000"/>
              </a:lnSpc>
            </a:pPr>
            <a:r>
              <a:rPr kumimoji="1" lang="en-US" altLang="zh-CN" sz="14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sym typeface="+mn-ea"/>
              </a:rPr>
              <a:t>Interviews are a key fieldwork method where researchers conduct conversations with participants to gather information. Structured interviews follow a set of predetermined questions, while unstructured interviews allow for more open- ended discussions.
</a:t>
            </a:r>
            <a:endParaRPr kumimoji="1" lang="en-US" altLang="zh-CN" sz="14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sym typeface="+mn-ea"/>
            </a:endParaRPr>
          </a:p>
          <a:p>
            <a:pPr algn="l">
              <a:lnSpc>
                <a:spcPct val="150000"/>
              </a:lnSpc>
            </a:pPr>
            <a:r>
              <a:rPr kumimoji="1" lang="en-US" altLang="zh-CN" sz="14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sym typeface="+mn-ea"/>
              </a:rPr>
              <a:t>Interviewing a local resident about their experiences with intercultural interactions can provide valuable insights into the challenges and opportunities they face. Questions might include how they navigate cultural differences in daily life or what strategies they use to communicate effectively.</a:t>
            </a:r>
            <a:endParaRPr kumimoji="1" lang="zh-CN" altLang="en-US" sz="1400"/>
          </a:p>
        </p:txBody>
      </p:sp>
      <p:sp>
        <p:nvSpPr>
          <p:cNvPr id="5" name="标题 1"/>
          <p:cNvSpPr txBox="1"/>
          <p:nvPr/>
        </p:nvSpPr>
        <p:spPr>
          <a:xfrm>
            <a:off x="1584569" y="4814906"/>
            <a:ext cx="4104788" cy="916070"/>
          </a:xfrm>
          <a:prstGeom prst="rect">
            <a:avLst/>
          </a:prstGeom>
          <a:noFill/>
          <a:ln>
            <a:noFill/>
          </a:ln>
        </p:spPr>
        <p:txBody>
          <a:bodyPr vert="horz" wrap="square" lIns="0" tIns="0" rIns="0" bIns="0" rtlCol="0" anchor="t"/>
          <a:lstStyle/>
          <a:p>
            <a:pPr algn="ctr">
              <a:lnSpc>
                <a:spcPct val="150000"/>
              </a:lnSpc>
            </a:pPr>
            <a:endParaRPr kumimoji="1" lang="zh-CN" altLang="en-US"/>
          </a:p>
        </p:txBody>
      </p:sp>
      <p:sp>
        <p:nvSpPr>
          <p:cNvPr id="6" name="标题 1"/>
          <p:cNvSpPr txBox="1"/>
          <p:nvPr/>
        </p:nvSpPr>
        <p:spPr>
          <a:xfrm>
            <a:off x="1644880" y="1067419"/>
            <a:ext cx="3985436" cy="377527"/>
          </a:xfrm>
          <a:prstGeom prst="rect">
            <a:avLst/>
          </a:prstGeom>
          <a:noFill/>
          <a:ln>
            <a:noFill/>
          </a:ln>
        </p:spPr>
        <p:txBody>
          <a:bodyPr vert="horz" wrap="square" lIns="0" tIns="0" rIns="0" bIns="0" rtlCol="0" anchor="b"/>
          <a:lstStyle/>
          <a:p>
            <a:pPr algn="ctr">
              <a:lnSpc>
                <a:spcPct val="150000"/>
              </a:lnSpc>
            </a:pPr>
            <a:r>
              <a:rPr kumimoji="1" lang="en-US" altLang="zh-CN" sz="1210">
                <a:ln w="12700">
                  <a:noFill/>
                </a:ln>
                <a:solidFill>
                  <a:srgbClr val="5BD1D7">
                    <a:alpha val="100000"/>
                  </a:srgbClr>
                </a:solidFill>
                <a:latin typeface="Source Han Sans CN Bold" panose="020B0800000000000000" charset="-122"/>
                <a:ea typeface="Source Han Sans CN Bold" panose="020B0800000000000000" charset="-122"/>
                <a:cs typeface="Source Han Sans CN Bold" panose="020B0800000000000000" charset="-122"/>
              </a:rPr>
              <a:t>Conducting Structured and Unstructured Interviews</a:t>
            </a:r>
            <a:endParaRPr kumimoji="1" lang="zh-CN" altLang="en-US"/>
          </a:p>
        </p:txBody>
      </p:sp>
      <p:sp>
        <p:nvSpPr>
          <p:cNvPr id="7" name="标题 1"/>
          <p:cNvSpPr txBox="1"/>
          <p:nvPr/>
        </p:nvSpPr>
        <p:spPr>
          <a:xfrm>
            <a:off x="6489700" y="1626870"/>
            <a:ext cx="4104640" cy="4829175"/>
          </a:xfrm>
          <a:prstGeom prst="roundRect">
            <a:avLst>
              <a:gd name="adj" fmla="val 3892"/>
            </a:avLst>
          </a:prstGeom>
          <a:solidFill>
            <a:schemeClr val="bg1"/>
          </a:solidFill>
          <a:ln w="12700" cap="sq">
            <a:solidFill>
              <a:schemeClr val="accent1"/>
            </a:solidFill>
            <a:miter/>
          </a:ln>
        </p:spPr>
        <p:txBody>
          <a:bodyPr vert="horz" wrap="square" lIns="91440" tIns="45720" rIns="91440" bIns="45720" rtlCol="0" anchor="ctr"/>
          <a:lstStyle/>
          <a:p>
            <a:pPr algn="l">
              <a:lnSpc>
                <a:spcPct val="150000"/>
              </a:lnSpc>
            </a:pPr>
            <a:r>
              <a:rPr kumimoji="1" lang="en-US" altLang="zh-CN" sz="14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sym typeface="+mn-ea"/>
              </a:rPr>
              <a:t>Interviews help capture personal stories, opinions, and experiences that enrich the understanding of intercultural communication. Participants can share their perspectives on cultural practices, language use, and social norms.
</a:t>
            </a:r>
            <a:endParaRPr kumimoji="1" lang="en-US" altLang="zh-CN" sz="14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sym typeface="+mn-ea"/>
            </a:endParaRPr>
          </a:p>
          <a:p>
            <a:pPr algn="l">
              <a:lnSpc>
                <a:spcPct val="150000"/>
              </a:lnSpc>
            </a:pPr>
            <a:r>
              <a:rPr kumimoji="1" lang="en-US" altLang="zh-CN" sz="14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sym typeface="+mn-ea"/>
              </a:rPr>
              <a:t>For instance, an expatriate living in Guangzhou might share how they adapt to the local culture, what cultural misunderstandings they encounter, and how they build relationships with locals. These insights can highlight common themes and unique experiences in intercultural interactions.</a:t>
            </a:r>
            <a:endParaRPr kumimoji="1" lang="zh-CN" altLang="en-US" sz="1400"/>
          </a:p>
        </p:txBody>
      </p:sp>
      <p:sp>
        <p:nvSpPr>
          <p:cNvPr id="10" name="标题 1"/>
          <p:cNvSpPr txBox="1"/>
          <p:nvPr/>
        </p:nvSpPr>
        <p:spPr>
          <a:xfrm>
            <a:off x="6490578" y="4814906"/>
            <a:ext cx="4104788" cy="916070"/>
          </a:xfrm>
          <a:prstGeom prst="rect">
            <a:avLst/>
          </a:prstGeom>
          <a:noFill/>
          <a:ln>
            <a:noFill/>
          </a:ln>
        </p:spPr>
        <p:txBody>
          <a:bodyPr vert="horz" wrap="square" lIns="0" tIns="0" rIns="0" bIns="0" rtlCol="0" anchor="t"/>
          <a:lstStyle/>
          <a:p>
            <a:pPr algn="ctr">
              <a:lnSpc>
                <a:spcPct val="150000"/>
              </a:lnSpc>
            </a:pPr>
            <a:endParaRPr kumimoji="1" lang="zh-CN" altLang="en-US"/>
          </a:p>
        </p:txBody>
      </p:sp>
      <p:sp>
        <p:nvSpPr>
          <p:cNvPr id="11" name="标题 1"/>
          <p:cNvSpPr txBox="1"/>
          <p:nvPr/>
        </p:nvSpPr>
        <p:spPr>
          <a:xfrm>
            <a:off x="6549620" y="1062974"/>
            <a:ext cx="3985436" cy="377527"/>
          </a:xfrm>
          <a:prstGeom prst="rect">
            <a:avLst/>
          </a:prstGeom>
          <a:noFill/>
          <a:ln>
            <a:noFill/>
          </a:ln>
        </p:spPr>
        <p:txBody>
          <a:bodyPr vert="horz" wrap="square" lIns="0" tIns="0" rIns="0" bIns="0" rtlCol="0" anchor="b"/>
          <a:lstStyle/>
          <a:p>
            <a:pPr algn="ctr">
              <a:lnSpc>
                <a:spcPct val="150000"/>
              </a:lnSpc>
            </a:pPr>
            <a:r>
              <a:rPr kumimoji="1" lang="en-US" altLang="zh-CN" sz="1600">
                <a:ln w="12700">
                  <a:noFill/>
                </a:ln>
                <a:solidFill>
                  <a:srgbClr val="5BD1D7">
                    <a:alpha val="100000"/>
                  </a:srgbClr>
                </a:solidFill>
                <a:latin typeface="Source Han Sans CN Bold" panose="020B0800000000000000" charset="-122"/>
                <a:ea typeface="Source Han Sans CN Bold" panose="020B0800000000000000" charset="-122"/>
                <a:cs typeface="Source Han Sans CN Bold" panose="020B0800000000000000" charset="-122"/>
              </a:rPr>
              <a:t>Capturing Insights</a:t>
            </a:r>
            <a:endParaRPr kumimoji="1" lang="zh-CN" altLang="en-US"/>
          </a:p>
        </p:txBody>
      </p:sp>
      <p:sp>
        <p:nvSpPr>
          <p:cNvPr id="12" name="标题 1"/>
          <p:cNvSpPr txBox="1"/>
          <p:nvPr/>
        </p:nvSpPr>
        <p:spPr>
          <a:xfrm>
            <a:off x="783520" y="46704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Interviews</a:t>
            </a:r>
            <a:endParaRPr kumimoji="1" lang="zh-CN" altLang="en-US"/>
          </a:p>
        </p:txBody>
      </p:sp>
      <p:grpSp>
        <p:nvGrpSpPr>
          <p:cNvPr id="13" name="组合 12"/>
          <p:cNvGrpSpPr/>
          <p:nvPr/>
        </p:nvGrpSpPr>
        <p:grpSpPr>
          <a:xfrm>
            <a:off x="176306" y="376135"/>
            <a:ext cx="484094" cy="470981"/>
            <a:chOff x="176306" y="376135"/>
            <a:chExt cx="484094" cy="470981"/>
          </a:xfrm>
        </p:grpSpPr>
        <p:sp>
          <p:nvSpPr>
            <p:cNvPr id="14" name="标题 1"/>
            <p:cNvSpPr txBox="1"/>
            <p:nvPr/>
          </p:nvSpPr>
          <p:spPr>
            <a:xfrm>
              <a:off x="176306" y="473900"/>
              <a:ext cx="373217" cy="373216"/>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409081" y="376135"/>
              <a:ext cx="251319" cy="251319"/>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6403975" y="1984375"/>
            <a:ext cx="3943350" cy="4191000"/>
          </a:xfrm>
          <a:prstGeom prst="roundRect">
            <a:avLst>
              <a:gd name="adj" fmla="val 2930"/>
            </a:avLst>
          </a:prstGeom>
          <a:noFill/>
          <a:ln w="1905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6596967" y="2780919"/>
            <a:ext cx="3587489" cy="2704248"/>
          </a:xfrm>
          <a:prstGeom prst="rect">
            <a:avLst/>
          </a:prstGeom>
          <a:noFill/>
          <a:ln>
            <a:noFill/>
          </a:ln>
        </p:spPr>
        <p:txBody>
          <a:bodyPr vert="horz" wrap="square" lIns="91440" tIns="45720" rIns="91440" bIns="45720" rtlCol="0" anchor="t"/>
          <a:lstStyle/>
          <a:p>
            <a:pPr algn="l">
              <a:lnSpc>
                <a:spcPct val="150000"/>
              </a:lnSpc>
            </a:pPr>
            <a:r>
              <a:rPr kumimoji="1" lang="en-US" altLang="zh-CN" sz="12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Field notes are analyzed to identify patterns, themes, and insights. Researchers look for recurring behaviors, cultural practices, and communication strategies that emerge from their observations.
</a:t>
            </a:r>
            <a:endParaRPr kumimoji="1" lang="en-US" altLang="zh-CN" sz="12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endParaRPr>
          </a:p>
          <a:p>
            <a:pPr algn="l">
              <a:lnSpc>
                <a:spcPct val="150000"/>
              </a:lnSpc>
            </a:pPr>
            <a:r>
              <a:rPr kumimoji="1" lang="en-US" altLang="zh-CN" sz="12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Analyzing field notes from a local market might reveal common language barriers, non- verbal communication cues, and social norms that influence intercultural interactions. These findings can inform the development of intercultural communication strategies.</a:t>
            </a:r>
            <a:endParaRPr kumimoji="1" lang="zh-CN" altLang="en-US" sz="1200"/>
          </a:p>
        </p:txBody>
      </p:sp>
      <p:sp>
        <p:nvSpPr>
          <p:cNvPr id="4" name="标题 1"/>
          <p:cNvSpPr txBox="1"/>
          <p:nvPr/>
        </p:nvSpPr>
        <p:spPr>
          <a:xfrm>
            <a:off x="6600142" y="2194314"/>
            <a:ext cx="3584525" cy="692175"/>
          </a:xfrm>
          <a:prstGeom prst="rect">
            <a:avLst/>
          </a:prstGeom>
          <a:noFill/>
          <a:ln>
            <a:noFill/>
          </a:ln>
        </p:spPr>
        <p:txBody>
          <a:bodyPr vert="horz" wrap="square" lIns="91440" tIns="45720" rIns="91440" bIns="45720" rtlCol="0" anchor="ctr"/>
          <a:lstStyle/>
          <a:p>
            <a:pPr algn="ctr">
              <a:lnSpc>
                <a:spcPct val="110000"/>
              </a:lnSpc>
            </a:pPr>
            <a:r>
              <a:rPr kumimoji="1" lang="en-US" altLang="zh-CN" sz="1600">
                <a:ln w="12700">
                  <a:noFill/>
                </a:ln>
                <a:solidFill>
                  <a:srgbClr val="5BD1D7">
                    <a:alpha val="100000"/>
                  </a:srgbClr>
                </a:solidFill>
                <a:latin typeface="Source Han Sans CN Bold" panose="020B0800000000000000" charset="-122"/>
                <a:ea typeface="Source Han Sans CN Bold" panose="020B0800000000000000" charset="-122"/>
                <a:cs typeface="Source Han Sans CN Bold" panose="020B0800000000000000" charset="-122"/>
              </a:rPr>
              <a:t>Analyzing Field Notes</a:t>
            </a:r>
            <a:endParaRPr kumimoji="1" lang="zh-CN" altLang="en-US"/>
          </a:p>
        </p:txBody>
      </p:sp>
      <p:sp>
        <p:nvSpPr>
          <p:cNvPr id="5" name="标题 1"/>
          <p:cNvSpPr txBox="1"/>
          <p:nvPr/>
        </p:nvSpPr>
        <p:spPr>
          <a:xfrm>
            <a:off x="7967950" y="1556088"/>
            <a:ext cx="815043" cy="815406"/>
          </a:xfrm>
          <a:custGeom>
            <a:avLst/>
            <a:gdLst>
              <a:gd name="connsiteX0" fmla="*/ 1297676 w 2163261"/>
              <a:gd name="connsiteY0" fmla="*/ 2086117 h 2164219"/>
              <a:gd name="connsiteX1" fmla="*/ 2085143 w 2163261"/>
              <a:gd name="connsiteY1" fmla="*/ 1298651 h 2164219"/>
              <a:gd name="connsiteX2" fmla="*/ 2162610 w 2163261"/>
              <a:gd name="connsiteY2" fmla="*/ 1120329 h 2164219"/>
              <a:gd name="connsiteX3" fmla="*/ 1831911 w 2163261"/>
              <a:gd name="connsiteY3" fmla="*/ 303629 h 2164219"/>
              <a:gd name="connsiteX4" fmla="*/ 315079 w 2163261"/>
              <a:gd name="connsiteY4" fmla="*/ 319707 h 2164219"/>
              <a:gd name="connsiteX5" fmla="*/ 316906 w 2163261"/>
              <a:gd name="connsiteY5" fmla="*/ 1847502 h 2164219"/>
              <a:gd name="connsiteX6" fmla="*/ 1119354 w 2163261"/>
              <a:gd name="connsiteY6" fmla="*/ 2163585 h 2164219"/>
              <a:gd name="connsiteX7" fmla="*/ 1297676 w 2163261"/>
              <a:gd name="connsiteY7" fmla="*/ 2086117 h 2164219"/>
            </a:gdLst>
            <a:ahLst/>
            <a:cxnLst/>
            <a:rect l="l" t="t" r="r" b="b"/>
            <a:pathLst>
              <a:path w="2163261" h="2164219">
                <a:moveTo>
                  <a:pt x="1297676" y="2086117"/>
                </a:moveTo>
                <a:lnTo>
                  <a:pt x="2085143" y="1298651"/>
                </a:lnTo>
                <a:cubicBezTo>
                  <a:pt x="2132646" y="1251147"/>
                  <a:pt x="2160052" y="1187200"/>
                  <a:pt x="2162610" y="1120329"/>
                </a:cubicBezTo>
                <a:cubicBezTo>
                  <a:pt x="2172842" y="824709"/>
                  <a:pt x="2062487" y="525801"/>
                  <a:pt x="1831911" y="303629"/>
                </a:cubicBezTo>
                <a:cubicBezTo>
                  <a:pt x="1405108" y="-107461"/>
                  <a:pt x="733112" y="-100153"/>
                  <a:pt x="315079" y="319707"/>
                </a:cubicBezTo>
                <a:cubicBezTo>
                  <a:pt x="-105513" y="742126"/>
                  <a:pt x="-105147" y="1425815"/>
                  <a:pt x="316906" y="1847502"/>
                </a:cubicBezTo>
                <a:cubicBezTo>
                  <a:pt x="537616" y="2068212"/>
                  <a:pt x="829946" y="2173451"/>
                  <a:pt x="1119354" y="2163585"/>
                </a:cubicBezTo>
                <a:cubicBezTo>
                  <a:pt x="1186590" y="2161027"/>
                  <a:pt x="1250172" y="2133621"/>
                  <a:pt x="1297676" y="2086117"/>
                </a:cubicBezTo>
                <a:close/>
              </a:path>
            </a:pathLst>
          </a:custGeom>
          <a:solidFill>
            <a:schemeClr val="accent4">
              <a:alpha val="80000"/>
            </a:schemeClr>
          </a:solidFill>
          <a:ln w="3653" cap="flat">
            <a:noFill/>
            <a:miter/>
          </a:ln>
        </p:spPr>
        <p:txBody>
          <a:bodyPr vert="horz" wrap="square" lIns="91440" tIns="45720" rIns="91440" bIns="45720" rtlCol="0" anchor="ctr"/>
          <a:lstStyle/>
          <a:p>
            <a:pPr algn="l">
              <a:lnSpc>
                <a:spcPct val="110000"/>
              </a:lnSpc>
            </a:pPr>
            <a:endParaRPr kumimoji="1" lang="zh-CN" altLang="en-US"/>
          </a:p>
        </p:txBody>
      </p:sp>
      <p:sp>
        <p:nvSpPr>
          <p:cNvPr id="6" name="标题 1"/>
          <p:cNvSpPr txBox="1"/>
          <p:nvPr/>
        </p:nvSpPr>
        <p:spPr>
          <a:xfrm>
            <a:off x="7963202" y="1551341"/>
            <a:ext cx="824538" cy="824901"/>
          </a:xfrm>
          <a:custGeom>
            <a:avLst/>
            <a:gdLst>
              <a:gd name="connsiteX0" fmla="*/ 1292606 w 2188462"/>
              <a:gd name="connsiteY0" fmla="*/ 2123414 h 2189420"/>
              <a:gd name="connsiteX1" fmla="*/ 2122461 w 2188462"/>
              <a:gd name="connsiteY1" fmla="*/ 1293560 h 2189420"/>
              <a:gd name="connsiteX2" fmla="*/ 2187139 w 2188462"/>
              <a:gd name="connsiteY2" fmla="*/ 1149587 h 2189420"/>
              <a:gd name="connsiteX3" fmla="*/ 1850593 w 2188462"/>
              <a:gd name="connsiteY3" fmla="*/ 304385 h 2189420"/>
              <a:gd name="connsiteX4" fmla="*/ 318779 w 2188462"/>
              <a:gd name="connsiteY4" fmla="*/ 323386 h 2189420"/>
              <a:gd name="connsiteX5" fmla="*/ 320606 w 2188462"/>
              <a:gd name="connsiteY5" fmla="*/ 1869086 h 2189420"/>
              <a:gd name="connsiteX6" fmla="*/ 1148633 w 2188462"/>
              <a:gd name="connsiteY6" fmla="*/ 2188092 h 2189420"/>
              <a:gd name="connsiteX7" fmla="*/ 1292606 w 2188462"/>
              <a:gd name="connsiteY7" fmla="*/ 2123414 h 2189420"/>
            </a:gdLst>
            <a:ahLst/>
            <a:cxnLst/>
            <a:rect l="l" t="t" r="r" b="b"/>
            <a:pathLst>
              <a:path w="2188462" h="2189420">
                <a:moveTo>
                  <a:pt x="1292606" y="2123414"/>
                </a:moveTo>
                <a:lnTo>
                  <a:pt x="2122461" y="1293560"/>
                </a:lnTo>
                <a:cubicBezTo>
                  <a:pt x="2160829" y="1255191"/>
                  <a:pt x="2184216" y="1203668"/>
                  <a:pt x="2187139" y="1149587"/>
                </a:cubicBezTo>
                <a:cubicBezTo>
                  <a:pt x="2202121" y="844101"/>
                  <a:pt x="2089939" y="533865"/>
                  <a:pt x="1850593" y="304385"/>
                </a:cubicBezTo>
                <a:cubicBezTo>
                  <a:pt x="1418674" y="-108898"/>
                  <a:pt x="740466" y="-100128"/>
                  <a:pt x="318779" y="323386"/>
                </a:cubicBezTo>
                <a:cubicBezTo>
                  <a:pt x="-106928" y="750920"/>
                  <a:pt x="-106198" y="1442283"/>
                  <a:pt x="320606" y="1869086"/>
                </a:cubicBezTo>
                <a:cubicBezTo>
                  <a:pt x="548258" y="2096739"/>
                  <a:pt x="850821" y="2202709"/>
                  <a:pt x="1148633" y="2188092"/>
                </a:cubicBezTo>
                <a:cubicBezTo>
                  <a:pt x="1203080" y="2185535"/>
                  <a:pt x="1254238" y="2162148"/>
                  <a:pt x="1292606" y="2123414"/>
                </a:cubicBezTo>
                <a:close/>
              </a:path>
            </a:pathLst>
          </a:custGeom>
          <a:gradFill>
            <a:gsLst>
              <a:gs pos="36000">
                <a:schemeClr val="accent1"/>
              </a:gs>
              <a:gs pos="100000">
                <a:schemeClr val="accent1">
                  <a:lumMod val="40000"/>
                  <a:lumOff val="60000"/>
                </a:schemeClr>
              </a:gs>
            </a:gsLst>
            <a:path path="circle">
              <a:fillToRect r="100000" b="100000"/>
            </a:path>
            <a:tileRect l="-100000" t="-100000"/>
          </a:gradFill>
          <a:ln w="3653" cap="flat">
            <a:noFill/>
            <a:miter/>
          </a:ln>
        </p:spPr>
        <p:txBody>
          <a:bodyPr vert="horz" wrap="square" lIns="91440" tIns="45720" rIns="91440" bIns="45720" rtlCol="0" anchor="ctr"/>
          <a:lstStyle/>
          <a:p>
            <a:pPr algn="l">
              <a:lnSpc>
                <a:spcPct val="110000"/>
              </a:lnSpc>
            </a:pPr>
            <a:endParaRPr kumimoji="1" lang="zh-CN" altLang="en-US"/>
          </a:p>
        </p:txBody>
      </p:sp>
      <p:sp>
        <p:nvSpPr>
          <p:cNvPr id="7" name="标题 1"/>
          <p:cNvSpPr txBox="1"/>
          <p:nvPr/>
        </p:nvSpPr>
        <p:spPr>
          <a:xfrm>
            <a:off x="8441408" y="2049016"/>
            <a:ext cx="312660" cy="312800"/>
          </a:xfrm>
          <a:custGeom>
            <a:avLst/>
            <a:gdLst>
              <a:gd name="connsiteX0" fmla="*/ 308409 w 829854"/>
              <a:gd name="connsiteY0" fmla="*/ 308409 h 830220"/>
              <a:gd name="connsiteX1" fmla="*/ 0 w 829854"/>
              <a:gd name="connsiteY1" fmla="*/ 830220 h 830220"/>
              <a:gd name="connsiteX2" fmla="*/ 829854 w 829854"/>
              <a:gd name="connsiteY2" fmla="*/ 0 h 830220"/>
              <a:gd name="connsiteX3" fmla="*/ 308409 w 829854"/>
              <a:gd name="connsiteY3" fmla="*/ 308409 h 830220"/>
            </a:gdLst>
            <a:ahLst/>
            <a:cxnLst/>
            <a:rect l="l" t="t" r="r" b="b"/>
            <a:pathLst>
              <a:path w="829854" h="830220">
                <a:moveTo>
                  <a:pt x="308409" y="308409"/>
                </a:moveTo>
                <a:cubicBezTo>
                  <a:pt x="66505" y="550313"/>
                  <a:pt x="124606" y="705614"/>
                  <a:pt x="0" y="830220"/>
                </a:cubicBezTo>
                <a:lnTo>
                  <a:pt x="829854" y="0"/>
                </a:lnTo>
                <a:cubicBezTo>
                  <a:pt x="705614" y="124606"/>
                  <a:pt x="549948" y="66505"/>
                  <a:pt x="308409" y="308409"/>
                </a:cubicBezTo>
                <a:close/>
              </a:path>
            </a:pathLst>
          </a:custGeom>
          <a:gradFill>
            <a:gsLst>
              <a:gs pos="32000">
                <a:schemeClr val="accent1">
                  <a:lumMod val="60000"/>
                  <a:lumOff val="40000"/>
                </a:schemeClr>
              </a:gs>
              <a:gs pos="47000">
                <a:schemeClr val="accent1"/>
              </a:gs>
              <a:gs pos="63000">
                <a:schemeClr val="accent1">
                  <a:lumMod val="60000"/>
                  <a:lumOff val="40000"/>
                </a:schemeClr>
              </a:gs>
            </a:gsLst>
            <a:lin ang="2700000" scaled="0"/>
          </a:gradFill>
          <a:ln w="3653" cap="flat">
            <a:noFill/>
            <a:miter/>
          </a:ln>
        </p:spPr>
        <p:txBody>
          <a:bodyPr vert="horz" wrap="square" lIns="91440" tIns="45720" rIns="91440" bIns="45720" rtlCol="0" anchor="ctr"/>
          <a:lstStyle/>
          <a:p>
            <a:pPr algn="l">
              <a:lnSpc>
                <a:spcPct val="110000"/>
              </a:lnSpc>
            </a:pPr>
            <a:endParaRPr kumimoji="1" lang="zh-CN" altLang="en-US"/>
          </a:p>
        </p:txBody>
      </p:sp>
      <p:sp>
        <p:nvSpPr>
          <p:cNvPr id="8" name="标题 1"/>
          <p:cNvSpPr txBox="1"/>
          <p:nvPr/>
        </p:nvSpPr>
        <p:spPr>
          <a:xfrm>
            <a:off x="7967950" y="1732959"/>
            <a:ext cx="815043" cy="461665"/>
          </a:xfrm>
          <a:prstGeom prst="rect">
            <a:avLst/>
          </a:prstGeom>
          <a:noFill/>
          <a:ln>
            <a:noFill/>
          </a:ln>
        </p:spPr>
        <p:txBody>
          <a:bodyPr vert="horz" wrap="square" lIns="91440" tIns="45720" rIns="91440" bIns="45720" rtlCol="0" anchor="t"/>
          <a:lstStyle/>
          <a:p>
            <a:pPr algn="ctr">
              <a:lnSpc>
                <a:spcPct val="110000"/>
              </a:lnSpc>
            </a:pPr>
            <a:r>
              <a:rPr kumimoji="1" lang="en-US" altLang="zh-CN" sz="2400">
                <a:ln w="12700">
                  <a:noFill/>
                </a:ln>
                <a:solidFill>
                  <a:srgbClr val="FFFFFF">
                    <a:alpha val="100000"/>
                  </a:srgbClr>
                </a:solidFill>
                <a:latin typeface="OPPOSans H" panose="00020600040101010101" charset="-122"/>
                <a:ea typeface="OPPOSans H" panose="00020600040101010101" charset="-122"/>
                <a:cs typeface="OPPOSans H" panose="00020600040101010101" charset="-122"/>
              </a:rPr>
              <a:t>02</a:t>
            </a:r>
            <a:endParaRPr kumimoji="1" lang="zh-CN" altLang="en-US"/>
          </a:p>
        </p:txBody>
      </p:sp>
      <p:sp>
        <p:nvSpPr>
          <p:cNvPr id="9" name="标题 1"/>
          <p:cNvSpPr txBox="1"/>
          <p:nvPr/>
        </p:nvSpPr>
        <p:spPr>
          <a:xfrm>
            <a:off x="1844675" y="1984375"/>
            <a:ext cx="3943350" cy="4190365"/>
          </a:xfrm>
          <a:prstGeom prst="roundRect">
            <a:avLst>
              <a:gd name="adj" fmla="val 2930"/>
            </a:avLst>
          </a:prstGeom>
          <a:solidFill>
            <a:schemeClr val="accent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1844675" y="2780665"/>
            <a:ext cx="3968115" cy="2704465"/>
          </a:xfrm>
          <a:prstGeom prst="rect">
            <a:avLst/>
          </a:prstGeom>
          <a:noFill/>
          <a:ln>
            <a:noFill/>
          </a:ln>
        </p:spPr>
        <p:txBody>
          <a:bodyPr vert="horz" wrap="square" lIns="91440" tIns="45720" rIns="91440" bIns="45720" rtlCol="0" anchor="t"/>
          <a:lstStyle/>
          <a:p>
            <a:pPr algn="l">
              <a:lnSpc>
                <a:spcPct val="150000"/>
              </a:lnSpc>
            </a:pPr>
            <a:r>
              <a:rPr kumimoji="1" lang="en-US" altLang="zh-CN" sz="1260">
                <a:ln w="12700">
                  <a:noFill/>
                </a:ln>
                <a:solidFill>
                  <a:srgbClr val="FFFFFF">
                    <a:alpha val="100000"/>
                  </a:srgbClr>
                </a:solidFill>
                <a:latin typeface="Source Han Sans" panose="020B0500000000000000" charset="-122"/>
                <a:ea typeface="Source Han Sans" panose="020B0500000000000000" charset="-122"/>
                <a:cs typeface="Source Han Sans" panose="020B0500000000000000" charset="-122"/>
              </a:rPr>
              <a:t>Field notes are an essential tool for recording observations, reflections, and insights during fieldwork. Researchers write detailed notes about the context, behaviors, and interactions they witness.
</a:t>
            </a:r>
            <a:endParaRPr kumimoji="1" lang="en-US" altLang="zh-CN" sz="1260">
              <a:ln w="12700">
                <a:noFill/>
              </a:ln>
              <a:solidFill>
                <a:srgbClr val="FFFFFF">
                  <a:alpha val="100000"/>
                </a:srgbClr>
              </a:solidFill>
              <a:latin typeface="Source Han Sans" panose="020B0500000000000000" charset="-122"/>
              <a:ea typeface="Source Han Sans" panose="020B0500000000000000" charset="-122"/>
              <a:cs typeface="Source Han Sans" panose="020B0500000000000000" charset="-122"/>
            </a:endParaRPr>
          </a:p>
          <a:p>
            <a:pPr algn="l">
              <a:lnSpc>
                <a:spcPct val="150000"/>
              </a:lnSpc>
            </a:pPr>
            <a:r>
              <a:rPr kumimoji="1" lang="en-US" altLang="zh-CN" sz="1260">
                <a:ln w="12700">
                  <a:noFill/>
                </a:ln>
                <a:solidFill>
                  <a:srgbClr val="FFFFFF">
                    <a:alpha val="100000"/>
                  </a:srgbClr>
                </a:solidFill>
                <a:latin typeface="Source Han Sans" panose="020B0500000000000000" charset="-122"/>
                <a:ea typeface="Source Han Sans" panose="020B0500000000000000" charset="-122"/>
                <a:cs typeface="Source Han Sans" panose="020B0500000000000000" charset="-122"/>
              </a:rPr>
              <a:t>While observing a cultural festival, a researcher might note the types of performances, the audience’s reactions, and the cultural symbols used. These notes provide a rich source of data for later analysis.</a:t>
            </a:r>
            <a:endParaRPr kumimoji="1" lang="zh-CN" altLang="en-US"/>
          </a:p>
        </p:txBody>
      </p:sp>
      <p:sp>
        <p:nvSpPr>
          <p:cNvPr id="11" name="标题 1"/>
          <p:cNvSpPr txBox="1"/>
          <p:nvPr/>
        </p:nvSpPr>
        <p:spPr>
          <a:xfrm>
            <a:off x="1844675" y="2213610"/>
            <a:ext cx="3932555" cy="692150"/>
          </a:xfrm>
          <a:prstGeom prst="rect">
            <a:avLst/>
          </a:prstGeom>
          <a:noFill/>
          <a:ln>
            <a:noFill/>
          </a:ln>
        </p:spPr>
        <p:txBody>
          <a:bodyPr vert="horz" wrap="square" lIns="91440" tIns="45720" rIns="91440" bIns="45720" rtlCol="0" anchor="ctr"/>
          <a:lstStyle/>
          <a:p>
            <a:pPr algn="ctr">
              <a:lnSpc>
                <a:spcPct val="110000"/>
              </a:lnSpc>
            </a:pPr>
            <a:r>
              <a:rPr kumimoji="1" lang="en-US" altLang="zh-CN" sz="1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Documenting Observations and Reflections</a:t>
            </a:r>
            <a:endParaRPr kumimoji="1" lang="zh-CN" altLang="en-US"/>
          </a:p>
        </p:txBody>
      </p:sp>
      <p:sp>
        <p:nvSpPr>
          <p:cNvPr id="12" name="标题 1"/>
          <p:cNvSpPr txBox="1"/>
          <p:nvPr/>
        </p:nvSpPr>
        <p:spPr>
          <a:xfrm>
            <a:off x="3409008" y="1556088"/>
            <a:ext cx="815043" cy="815406"/>
          </a:xfrm>
          <a:custGeom>
            <a:avLst/>
            <a:gdLst>
              <a:gd name="connsiteX0" fmla="*/ 1297676 w 2163261"/>
              <a:gd name="connsiteY0" fmla="*/ 2086117 h 2164219"/>
              <a:gd name="connsiteX1" fmla="*/ 2085143 w 2163261"/>
              <a:gd name="connsiteY1" fmla="*/ 1298651 h 2164219"/>
              <a:gd name="connsiteX2" fmla="*/ 2162610 w 2163261"/>
              <a:gd name="connsiteY2" fmla="*/ 1120329 h 2164219"/>
              <a:gd name="connsiteX3" fmla="*/ 1831911 w 2163261"/>
              <a:gd name="connsiteY3" fmla="*/ 303629 h 2164219"/>
              <a:gd name="connsiteX4" fmla="*/ 315079 w 2163261"/>
              <a:gd name="connsiteY4" fmla="*/ 319707 h 2164219"/>
              <a:gd name="connsiteX5" fmla="*/ 316906 w 2163261"/>
              <a:gd name="connsiteY5" fmla="*/ 1847502 h 2164219"/>
              <a:gd name="connsiteX6" fmla="*/ 1119354 w 2163261"/>
              <a:gd name="connsiteY6" fmla="*/ 2163585 h 2164219"/>
              <a:gd name="connsiteX7" fmla="*/ 1297676 w 2163261"/>
              <a:gd name="connsiteY7" fmla="*/ 2086117 h 2164219"/>
            </a:gdLst>
            <a:ahLst/>
            <a:cxnLst/>
            <a:rect l="l" t="t" r="r" b="b"/>
            <a:pathLst>
              <a:path w="2163261" h="2164219">
                <a:moveTo>
                  <a:pt x="1297676" y="2086117"/>
                </a:moveTo>
                <a:lnTo>
                  <a:pt x="2085143" y="1298651"/>
                </a:lnTo>
                <a:cubicBezTo>
                  <a:pt x="2132646" y="1251147"/>
                  <a:pt x="2160052" y="1187200"/>
                  <a:pt x="2162610" y="1120329"/>
                </a:cubicBezTo>
                <a:cubicBezTo>
                  <a:pt x="2172842" y="824709"/>
                  <a:pt x="2062487" y="525801"/>
                  <a:pt x="1831911" y="303629"/>
                </a:cubicBezTo>
                <a:cubicBezTo>
                  <a:pt x="1405108" y="-107461"/>
                  <a:pt x="733112" y="-100153"/>
                  <a:pt x="315079" y="319707"/>
                </a:cubicBezTo>
                <a:cubicBezTo>
                  <a:pt x="-105513" y="742126"/>
                  <a:pt x="-105147" y="1425815"/>
                  <a:pt x="316906" y="1847502"/>
                </a:cubicBezTo>
                <a:cubicBezTo>
                  <a:pt x="537616" y="2068212"/>
                  <a:pt x="829946" y="2173451"/>
                  <a:pt x="1119354" y="2163585"/>
                </a:cubicBezTo>
                <a:cubicBezTo>
                  <a:pt x="1186590" y="2161027"/>
                  <a:pt x="1250172" y="2133621"/>
                  <a:pt x="1297676" y="2086117"/>
                </a:cubicBezTo>
                <a:close/>
              </a:path>
            </a:pathLst>
          </a:custGeom>
          <a:solidFill>
            <a:schemeClr val="accent2">
              <a:alpha val="80000"/>
            </a:schemeClr>
          </a:solidFill>
          <a:ln w="3653" cap="flat">
            <a:noFill/>
            <a:miter/>
          </a:ln>
        </p:spPr>
        <p:txBody>
          <a:bodyPr vert="horz" wrap="square" lIns="91440" tIns="45720" rIns="91440" bIns="45720" rtlCol="0" anchor="ctr"/>
          <a:lstStyle/>
          <a:p>
            <a:pPr algn="l">
              <a:lnSpc>
                <a:spcPct val="110000"/>
              </a:lnSpc>
            </a:pPr>
            <a:endParaRPr kumimoji="1" lang="zh-CN" altLang="en-US"/>
          </a:p>
        </p:txBody>
      </p:sp>
      <p:sp>
        <p:nvSpPr>
          <p:cNvPr id="13" name="标题 1"/>
          <p:cNvSpPr txBox="1"/>
          <p:nvPr/>
        </p:nvSpPr>
        <p:spPr>
          <a:xfrm>
            <a:off x="3404260" y="1551341"/>
            <a:ext cx="824538" cy="824901"/>
          </a:xfrm>
          <a:custGeom>
            <a:avLst/>
            <a:gdLst>
              <a:gd name="connsiteX0" fmla="*/ 1292606 w 2188462"/>
              <a:gd name="connsiteY0" fmla="*/ 2123414 h 2189420"/>
              <a:gd name="connsiteX1" fmla="*/ 2122461 w 2188462"/>
              <a:gd name="connsiteY1" fmla="*/ 1293560 h 2189420"/>
              <a:gd name="connsiteX2" fmla="*/ 2187139 w 2188462"/>
              <a:gd name="connsiteY2" fmla="*/ 1149587 h 2189420"/>
              <a:gd name="connsiteX3" fmla="*/ 1850593 w 2188462"/>
              <a:gd name="connsiteY3" fmla="*/ 304385 h 2189420"/>
              <a:gd name="connsiteX4" fmla="*/ 318779 w 2188462"/>
              <a:gd name="connsiteY4" fmla="*/ 323386 h 2189420"/>
              <a:gd name="connsiteX5" fmla="*/ 320606 w 2188462"/>
              <a:gd name="connsiteY5" fmla="*/ 1869086 h 2189420"/>
              <a:gd name="connsiteX6" fmla="*/ 1148633 w 2188462"/>
              <a:gd name="connsiteY6" fmla="*/ 2188092 h 2189420"/>
              <a:gd name="connsiteX7" fmla="*/ 1292606 w 2188462"/>
              <a:gd name="connsiteY7" fmla="*/ 2123414 h 2189420"/>
            </a:gdLst>
            <a:ahLst/>
            <a:cxnLst/>
            <a:rect l="l" t="t" r="r" b="b"/>
            <a:pathLst>
              <a:path w="2188462" h="2189420">
                <a:moveTo>
                  <a:pt x="1292606" y="2123414"/>
                </a:moveTo>
                <a:lnTo>
                  <a:pt x="2122461" y="1293560"/>
                </a:lnTo>
                <a:cubicBezTo>
                  <a:pt x="2160829" y="1255191"/>
                  <a:pt x="2184216" y="1203668"/>
                  <a:pt x="2187139" y="1149587"/>
                </a:cubicBezTo>
                <a:cubicBezTo>
                  <a:pt x="2202121" y="844101"/>
                  <a:pt x="2089939" y="533865"/>
                  <a:pt x="1850593" y="304385"/>
                </a:cubicBezTo>
                <a:cubicBezTo>
                  <a:pt x="1418674" y="-108898"/>
                  <a:pt x="740466" y="-100128"/>
                  <a:pt x="318779" y="323386"/>
                </a:cubicBezTo>
                <a:cubicBezTo>
                  <a:pt x="-106928" y="750920"/>
                  <a:pt x="-106198" y="1442283"/>
                  <a:pt x="320606" y="1869086"/>
                </a:cubicBezTo>
                <a:cubicBezTo>
                  <a:pt x="548258" y="2096739"/>
                  <a:pt x="850821" y="2202709"/>
                  <a:pt x="1148633" y="2188092"/>
                </a:cubicBezTo>
                <a:cubicBezTo>
                  <a:pt x="1203080" y="2185535"/>
                  <a:pt x="1254238" y="2162148"/>
                  <a:pt x="1292606" y="2123414"/>
                </a:cubicBezTo>
                <a:close/>
              </a:path>
            </a:pathLst>
          </a:custGeom>
          <a:gradFill>
            <a:gsLst>
              <a:gs pos="36000">
                <a:schemeClr val="accent1"/>
              </a:gs>
              <a:gs pos="100000">
                <a:schemeClr val="accent1">
                  <a:lumMod val="40000"/>
                  <a:lumOff val="60000"/>
                </a:schemeClr>
              </a:gs>
            </a:gsLst>
            <a:path path="circle">
              <a:fillToRect r="100000" b="100000"/>
            </a:path>
            <a:tileRect l="-100000" t="-100000"/>
          </a:gradFill>
          <a:ln w="3653" cap="flat">
            <a:noFill/>
            <a:miter/>
          </a:ln>
          <a:effectLst/>
        </p:spPr>
        <p:txBody>
          <a:bodyPr vert="horz" wrap="square" lIns="91440" tIns="45720" rIns="91440" bIns="45720" rtlCol="0" anchor="ctr"/>
          <a:lstStyle/>
          <a:p>
            <a:pPr algn="l">
              <a:lnSpc>
                <a:spcPct val="110000"/>
              </a:lnSpc>
            </a:pPr>
            <a:endParaRPr kumimoji="1" lang="zh-CN" altLang="en-US"/>
          </a:p>
        </p:txBody>
      </p:sp>
      <p:sp>
        <p:nvSpPr>
          <p:cNvPr id="14" name="标题 1"/>
          <p:cNvSpPr txBox="1"/>
          <p:nvPr/>
        </p:nvSpPr>
        <p:spPr>
          <a:xfrm>
            <a:off x="3876090" y="2053778"/>
            <a:ext cx="312660" cy="312800"/>
          </a:xfrm>
          <a:custGeom>
            <a:avLst/>
            <a:gdLst>
              <a:gd name="connsiteX0" fmla="*/ 308409 w 829854"/>
              <a:gd name="connsiteY0" fmla="*/ 308409 h 830220"/>
              <a:gd name="connsiteX1" fmla="*/ 0 w 829854"/>
              <a:gd name="connsiteY1" fmla="*/ 830220 h 830220"/>
              <a:gd name="connsiteX2" fmla="*/ 829854 w 829854"/>
              <a:gd name="connsiteY2" fmla="*/ 0 h 830220"/>
              <a:gd name="connsiteX3" fmla="*/ 308409 w 829854"/>
              <a:gd name="connsiteY3" fmla="*/ 308409 h 830220"/>
            </a:gdLst>
            <a:ahLst/>
            <a:cxnLst/>
            <a:rect l="l" t="t" r="r" b="b"/>
            <a:pathLst>
              <a:path w="829854" h="830220">
                <a:moveTo>
                  <a:pt x="308409" y="308409"/>
                </a:moveTo>
                <a:cubicBezTo>
                  <a:pt x="66505" y="550313"/>
                  <a:pt x="124606" y="705614"/>
                  <a:pt x="0" y="830220"/>
                </a:cubicBezTo>
                <a:lnTo>
                  <a:pt x="829854" y="0"/>
                </a:lnTo>
                <a:cubicBezTo>
                  <a:pt x="705614" y="124606"/>
                  <a:pt x="549948" y="66505"/>
                  <a:pt x="308409" y="308409"/>
                </a:cubicBezTo>
                <a:close/>
              </a:path>
            </a:pathLst>
          </a:custGeom>
          <a:gradFill>
            <a:gsLst>
              <a:gs pos="32000">
                <a:schemeClr val="accent1">
                  <a:lumMod val="60000"/>
                  <a:lumOff val="40000"/>
                </a:schemeClr>
              </a:gs>
              <a:gs pos="47000">
                <a:schemeClr val="accent1"/>
              </a:gs>
              <a:gs pos="63000">
                <a:schemeClr val="accent1">
                  <a:lumMod val="60000"/>
                  <a:lumOff val="40000"/>
                </a:schemeClr>
              </a:gs>
            </a:gsLst>
            <a:lin ang="2700000" scaled="0"/>
          </a:gradFill>
          <a:ln w="3653" cap="flat">
            <a:noFill/>
            <a:miter/>
          </a:ln>
        </p:spPr>
        <p:txBody>
          <a:bodyPr vert="horz" wrap="square" lIns="91440" tIns="45720" rIns="91440" bIns="45720" rtlCol="0" anchor="ctr"/>
          <a:lstStyle/>
          <a:p>
            <a:pPr algn="l">
              <a:lnSpc>
                <a:spcPct val="110000"/>
              </a:lnSpc>
            </a:pPr>
            <a:endParaRPr kumimoji="1" lang="zh-CN" altLang="en-US"/>
          </a:p>
        </p:txBody>
      </p:sp>
      <p:sp>
        <p:nvSpPr>
          <p:cNvPr id="15" name="标题 1"/>
          <p:cNvSpPr txBox="1"/>
          <p:nvPr/>
        </p:nvSpPr>
        <p:spPr>
          <a:xfrm>
            <a:off x="3409008" y="1732959"/>
            <a:ext cx="815043" cy="461665"/>
          </a:xfrm>
          <a:prstGeom prst="rect">
            <a:avLst/>
          </a:prstGeom>
          <a:noFill/>
          <a:ln>
            <a:noFill/>
          </a:ln>
        </p:spPr>
        <p:txBody>
          <a:bodyPr vert="horz" wrap="square" lIns="91440" tIns="45720" rIns="91440" bIns="45720" rtlCol="0" anchor="t"/>
          <a:lstStyle/>
          <a:p>
            <a:pPr algn="ctr">
              <a:lnSpc>
                <a:spcPct val="110000"/>
              </a:lnSpc>
            </a:pPr>
            <a:r>
              <a:rPr kumimoji="1" lang="en-US" altLang="zh-CN" sz="2400">
                <a:ln w="12700">
                  <a:noFill/>
                </a:ln>
                <a:solidFill>
                  <a:srgbClr val="FFFFFF">
                    <a:alpha val="100000"/>
                  </a:srgbClr>
                </a:solidFill>
                <a:latin typeface="OPPOSans H" panose="00020600040101010101" charset="-122"/>
                <a:ea typeface="OPPOSans H" panose="00020600040101010101" charset="-122"/>
                <a:cs typeface="OPPOSans H" panose="00020600040101010101" charset="-122"/>
              </a:rPr>
              <a:t>01</a:t>
            </a:r>
            <a:endParaRPr kumimoji="1" lang="zh-CN" altLang="en-US"/>
          </a:p>
        </p:txBody>
      </p:sp>
      <p:sp>
        <p:nvSpPr>
          <p:cNvPr id="16" name="标题 1"/>
          <p:cNvSpPr txBox="1"/>
          <p:nvPr/>
        </p:nvSpPr>
        <p:spPr>
          <a:xfrm>
            <a:off x="783520" y="46704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Field Notes</a:t>
            </a:r>
            <a:endParaRPr kumimoji="1" lang="zh-CN" altLang="en-US"/>
          </a:p>
        </p:txBody>
      </p:sp>
      <p:grpSp>
        <p:nvGrpSpPr>
          <p:cNvPr id="17" name="组合 16"/>
          <p:cNvGrpSpPr/>
          <p:nvPr/>
        </p:nvGrpSpPr>
        <p:grpSpPr>
          <a:xfrm>
            <a:off x="176306" y="376135"/>
            <a:ext cx="484094" cy="470981"/>
            <a:chOff x="176306" y="376135"/>
            <a:chExt cx="484094" cy="470981"/>
          </a:xfrm>
        </p:grpSpPr>
        <p:sp>
          <p:nvSpPr>
            <p:cNvPr id="18" name="标题 1"/>
            <p:cNvSpPr txBox="1"/>
            <p:nvPr/>
          </p:nvSpPr>
          <p:spPr>
            <a:xfrm>
              <a:off x="176306" y="473900"/>
              <a:ext cx="373217" cy="373216"/>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409081" y="376135"/>
              <a:ext cx="251319" cy="251319"/>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rot="5400000">
            <a:off x="2632202" y="-2707511"/>
            <a:ext cx="6858004" cy="12273026"/>
          </a:xfrm>
          <a:prstGeom prst="rect">
            <a:avLst/>
          </a:prstGeom>
          <a:gradFill>
            <a:gsLst>
              <a:gs pos="0">
                <a:schemeClr val="accent1">
                  <a:lumMod val="60000"/>
                  <a:lumOff val="40000"/>
                </a:schemeClr>
              </a:gs>
              <a:gs pos="100000">
                <a:schemeClr val="accent1">
                  <a:lumMod val="20000"/>
                  <a:lumOff val="8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grpSp>
        <p:nvGrpSpPr>
          <p:cNvPr id="3" name="组合 2"/>
          <p:cNvGrpSpPr/>
          <p:nvPr/>
        </p:nvGrpSpPr>
        <p:grpSpPr>
          <a:xfrm>
            <a:off x="-615366" y="1130300"/>
            <a:ext cx="4543428" cy="5192431"/>
            <a:chOff x="-615366" y="1130300"/>
            <a:chExt cx="4543428" cy="5192431"/>
          </a:xfrm>
        </p:grpSpPr>
        <p:sp>
          <p:nvSpPr>
            <p:cNvPr id="4" name="标题 1"/>
            <p:cNvSpPr txBox="1"/>
            <p:nvPr/>
          </p:nvSpPr>
          <p:spPr>
            <a:xfrm rot="16200000" flipH="1">
              <a:off x="-719143" y="2575163"/>
              <a:ext cx="1504761" cy="1297208"/>
            </a:xfrm>
            <a:prstGeom prst="hexagon">
              <a:avLst/>
            </a:prstGeom>
            <a:solidFill>
              <a:schemeClr val="accent1">
                <a:lumMod val="7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rot="16200000" flipH="1">
              <a:off x="576998" y="2575163"/>
              <a:ext cx="1504761" cy="1297208"/>
            </a:xfrm>
            <a:prstGeom prst="hexagon">
              <a:avLst/>
            </a:prstGeom>
            <a:solidFill>
              <a:schemeClr val="accent1">
                <a:lumMod val="40000"/>
                <a:lumOff val="6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rot="16200000" flipH="1">
              <a:off x="1225603" y="3744357"/>
              <a:ext cx="1504761" cy="1297208"/>
            </a:xfrm>
            <a:prstGeom prst="hexag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rot="16200000" flipH="1">
              <a:off x="2527078" y="3748624"/>
              <a:ext cx="1504761" cy="1297208"/>
            </a:xfrm>
            <a:prstGeom prst="hexagon">
              <a:avLst/>
            </a:prstGeom>
            <a:solidFill>
              <a:schemeClr val="accent1">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rot="16200000" flipH="1">
              <a:off x="-719143" y="4921746"/>
              <a:ext cx="1504761" cy="1297208"/>
            </a:xfrm>
            <a:prstGeom prst="hexag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grpSp>
          <p:nvGrpSpPr>
            <p:cNvPr id="9" name="组合 8"/>
            <p:cNvGrpSpPr/>
            <p:nvPr/>
          </p:nvGrpSpPr>
          <p:grpSpPr>
            <a:xfrm>
              <a:off x="1927722" y="2453090"/>
              <a:ext cx="1378284" cy="388004"/>
              <a:chOff x="1927722" y="2453090"/>
              <a:chExt cx="1378284" cy="388004"/>
            </a:xfrm>
          </p:grpSpPr>
          <p:sp>
            <p:nvSpPr>
              <p:cNvPr id="10" name="标题 1"/>
              <p:cNvSpPr txBox="1"/>
              <p:nvPr/>
            </p:nvSpPr>
            <p:spPr>
              <a:xfrm>
                <a:off x="1927722" y="2738683"/>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3203595" y="2738683"/>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rot="19996967">
                <a:off x="1929925" y="2614851"/>
                <a:ext cx="726780" cy="3024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rot="1603033" flipH="1">
                <a:off x="2565248" y="2614621"/>
                <a:ext cx="725748" cy="3024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grpSp>
          <p:nvGrpSpPr>
            <p:cNvPr id="14" name="组合 13"/>
            <p:cNvGrpSpPr/>
            <p:nvPr/>
          </p:nvGrpSpPr>
          <p:grpSpPr>
            <a:xfrm>
              <a:off x="303299" y="4020857"/>
              <a:ext cx="1469957" cy="1885587"/>
              <a:chOff x="303299" y="4020857"/>
              <a:chExt cx="1469957" cy="1885587"/>
            </a:xfrm>
          </p:grpSpPr>
          <p:sp>
            <p:nvSpPr>
              <p:cNvPr id="15" name="标题 1"/>
              <p:cNvSpPr txBox="1"/>
              <p:nvPr/>
            </p:nvSpPr>
            <p:spPr>
              <a:xfrm rot="6986950">
                <a:off x="873289" y="4551830"/>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rot="6986950">
                <a:off x="320746" y="5786585"/>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rot="4874959">
                <a:off x="627423" y="4971094"/>
                <a:ext cx="726780" cy="3024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rot="8589983" flipH="1">
                <a:off x="319709" y="5558523"/>
                <a:ext cx="816467" cy="3024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rot="20960850" flipH="1">
                <a:off x="1662261" y="5600282"/>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rot="1472841" flipH="1">
                <a:off x="1003880" y="5468830"/>
                <a:ext cx="726780" cy="3024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rot="8573900">
                <a:off x="867480" y="4318598"/>
                <a:ext cx="823013" cy="38403"/>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rot="6986950">
                <a:off x="1552252" y="4038304"/>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pic>
          <p:nvPicPr>
            <p:cNvPr id="23" name="图片 22"/>
            <p:cNvPicPr>
              <a:picLocks noChangeAspect="1"/>
            </p:cNvPicPr>
            <p:nvPr/>
          </p:nvPicPr>
          <p:blipFill>
            <a:blip r:embed="rId1">
              <a:alphaModFix amt="100000"/>
            </a:blip>
            <a:srcRect/>
            <a:stretch>
              <a:fillRect/>
            </a:stretch>
          </p:blipFill>
          <p:spPr>
            <a:xfrm flipH="1">
              <a:off x="1586352" y="4026289"/>
              <a:ext cx="716878" cy="836358"/>
            </a:xfrm>
            <a:prstGeom prst="rect">
              <a:avLst/>
            </a:prstGeom>
            <a:noFill/>
            <a:ln>
              <a:noFill/>
            </a:ln>
          </p:spPr>
        </p:pic>
        <p:sp>
          <p:nvSpPr>
            <p:cNvPr id="24" name="标题 1"/>
            <p:cNvSpPr txBox="1"/>
            <p:nvPr/>
          </p:nvSpPr>
          <p:spPr>
            <a:xfrm rot="16200000" flipH="1">
              <a:off x="1715115" y="2441694"/>
              <a:ext cx="1814410" cy="1564148"/>
            </a:xfrm>
            <a:prstGeom prst="hexagon">
              <a:avLst/>
            </a:prstGeom>
            <a:solidFill>
              <a:schemeClr val="accent1">
                <a:lumMod val="75000"/>
              </a:schemeClr>
            </a:solidFill>
            <a:ln w="12700" cap="sq">
              <a:noFill/>
              <a:miter/>
            </a:ln>
            <a:effectLst>
              <a:outerShdw blurRad="254000" dist="114300" dir="2700000" algn="tl" rotWithShape="0">
                <a:schemeClr val="accent1">
                  <a:lumMod val="50000"/>
                  <a:alpha val="30000"/>
                </a:schemeClr>
              </a:outerShdw>
            </a:effectLst>
          </p:spPr>
          <p:txBody>
            <a:bodyPr vert="horz" wrap="square" lIns="91440" tIns="45720" rIns="91440" bIns="45720" rtlCol="0" anchor="ctr"/>
            <a:lstStyle/>
            <a:p>
              <a:pPr algn="ctr">
                <a:lnSpc>
                  <a:spcPct val="110000"/>
                </a:lnSpc>
              </a:pPr>
              <a:endParaRPr kumimoji="1" lang="zh-CN" altLang="en-US"/>
            </a:p>
          </p:txBody>
        </p:sp>
        <p:grpSp>
          <p:nvGrpSpPr>
            <p:cNvPr id="25" name="组合 24"/>
            <p:cNvGrpSpPr/>
            <p:nvPr/>
          </p:nvGrpSpPr>
          <p:grpSpPr>
            <a:xfrm>
              <a:off x="2156570" y="2846391"/>
              <a:ext cx="1732412" cy="752572"/>
              <a:chOff x="2156570" y="2846391"/>
              <a:chExt cx="1732412" cy="752572"/>
            </a:xfrm>
          </p:grpSpPr>
          <p:sp>
            <p:nvSpPr>
              <p:cNvPr id="26" name="标题 1"/>
              <p:cNvSpPr txBox="1"/>
              <p:nvPr/>
            </p:nvSpPr>
            <p:spPr>
              <a:xfrm rot="6986950">
                <a:off x="2939726" y="3479104"/>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7" name="标题 1"/>
              <p:cNvSpPr txBox="1"/>
              <p:nvPr/>
            </p:nvSpPr>
            <p:spPr>
              <a:xfrm rot="8589983" flipH="1">
                <a:off x="2873635" y="3199613"/>
                <a:ext cx="1060142" cy="38403"/>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8" name="标题 1"/>
              <p:cNvSpPr txBox="1"/>
              <p:nvPr/>
            </p:nvSpPr>
            <p:spPr>
              <a:xfrm rot="12331924" flipH="1">
                <a:off x="2185835" y="3327510"/>
                <a:ext cx="868088" cy="38403"/>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9" name="标题 1"/>
              <p:cNvSpPr txBox="1"/>
              <p:nvPr/>
            </p:nvSpPr>
            <p:spPr>
              <a:xfrm rot="6986950">
                <a:off x="2174017" y="3103230"/>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0" name="标题 1"/>
              <p:cNvSpPr txBox="1"/>
              <p:nvPr/>
            </p:nvSpPr>
            <p:spPr>
              <a:xfrm rot="6986950">
                <a:off x="3769124" y="2863838"/>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pic>
          <p:nvPicPr>
            <p:cNvPr id="31" name="图片 30"/>
            <p:cNvPicPr>
              <a:picLocks noChangeAspect="1"/>
            </p:cNvPicPr>
            <p:nvPr/>
          </p:nvPicPr>
          <p:blipFill>
            <a:blip r:embed="rId2">
              <a:alphaModFix amt="100000"/>
            </a:blip>
            <a:srcRect/>
            <a:stretch>
              <a:fillRect/>
            </a:stretch>
          </p:blipFill>
          <p:spPr>
            <a:xfrm flipH="1">
              <a:off x="2137647" y="2722406"/>
              <a:ext cx="921701" cy="1024106"/>
            </a:xfrm>
            <a:prstGeom prst="rect">
              <a:avLst/>
            </a:prstGeom>
            <a:noFill/>
            <a:ln>
              <a:noFill/>
            </a:ln>
          </p:spPr>
        </p:pic>
        <p:pic>
          <p:nvPicPr>
            <p:cNvPr id="32" name="图片 31"/>
            <p:cNvPicPr>
              <a:picLocks noChangeAspect="1"/>
            </p:cNvPicPr>
            <p:nvPr/>
          </p:nvPicPr>
          <p:blipFill>
            <a:blip r:embed="rId3">
              <a:alphaModFix amt="100000"/>
            </a:blip>
            <a:srcRect/>
            <a:stretch>
              <a:fillRect/>
            </a:stretch>
          </p:blipFill>
          <p:spPr>
            <a:xfrm flipH="1">
              <a:off x="-292341" y="2823478"/>
              <a:ext cx="657557" cy="774975"/>
            </a:xfrm>
            <a:prstGeom prst="rect">
              <a:avLst/>
            </a:prstGeom>
            <a:noFill/>
            <a:ln>
              <a:noFill/>
            </a:ln>
          </p:spPr>
        </p:pic>
        <p:sp>
          <p:nvSpPr>
            <p:cNvPr id="33" name="标题 1"/>
            <p:cNvSpPr txBox="1"/>
            <p:nvPr/>
          </p:nvSpPr>
          <p:spPr>
            <a:xfrm rot="16200000" flipH="1">
              <a:off x="-220030" y="1255431"/>
              <a:ext cx="1814410" cy="1564147"/>
            </a:xfrm>
            <a:prstGeom prst="hexagon">
              <a:avLst/>
            </a:prstGeom>
            <a:solidFill>
              <a:schemeClr val="accent1"/>
            </a:solidFill>
            <a:ln w="12700" cap="sq">
              <a:noFill/>
              <a:miter/>
            </a:ln>
            <a:effectLst>
              <a:outerShdw blurRad="254000" dist="114300" dir="2700000" algn="tl" rotWithShape="0">
                <a:schemeClr val="accent1">
                  <a:lumMod val="50000"/>
                  <a:alpha val="30000"/>
                </a:schemeClr>
              </a:outerShdw>
            </a:effectLst>
          </p:spPr>
          <p:txBody>
            <a:bodyPr vert="horz" wrap="square" lIns="91440" tIns="45720" rIns="91440" bIns="45720" rtlCol="0" anchor="ctr"/>
            <a:lstStyle/>
            <a:p>
              <a:pPr algn="ctr">
                <a:lnSpc>
                  <a:spcPct val="110000"/>
                </a:lnSpc>
              </a:pPr>
              <a:endParaRPr kumimoji="1" lang="zh-CN" altLang="en-US"/>
            </a:p>
          </p:txBody>
        </p:sp>
        <p:grpSp>
          <p:nvGrpSpPr>
            <p:cNvPr id="34" name="组合 33"/>
            <p:cNvGrpSpPr/>
            <p:nvPr/>
          </p:nvGrpSpPr>
          <p:grpSpPr>
            <a:xfrm>
              <a:off x="-110640" y="1447861"/>
              <a:ext cx="1751984" cy="1617185"/>
              <a:chOff x="-110640" y="1447861"/>
              <a:chExt cx="1751984" cy="1617185"/>
            </a:xfrm>
          </p:grpSpPr>
          <p:sp>
            <p:nvSpPr>
              <p:cNvPr id="35" name="标题 1"/>
              <p:cNvSpPr txBox="1"/>
              <p:nvPr/>
            </p:nvSpPr>
            <p:spPr>
              <a:xfrm rot="6986950">
                <a:off x="1371196" y="1465309"/>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6" name="标题 1"/>
              <p:cNvSpPr txBox="1"/>
              <p:nvPr/>
            </p:nvSpPr>
            <p:spPr>
              <a:xfrm rot="6986950">
                <a:off x="719152" y="2945188"/>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7" name="标题 1"/>
              <p:cNvSpPr txBox="1"/>
              <p:nvPr/>
            </p:nvSpPr>
            <p:spPr>
              <a:xfrm rot="4874959">
                <a:off x="1054835" y="1921454"/>
                <a:ext cx="875537" cy="38403"/>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8" name="标题 1"/>
              <p:cNvSpPr txBox="1"/>
              <p:nvPr/>
            </p:nvSpPr>
            <p:spPr>
              <a:xfrm rot="8589983" flipH="1">
                <a:off x="689621" y="2659356"/>
                <a:ext cx="985521" cy="38403"/>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9" name="标题 1"/>
              <p:cNvSpPr txBox="1"/>
              <p:nvPr/>
            </p:nvSpPr>
            <p:spPr>
              <a:xfrm rot="12331924" flipH="1">
                <a:off x="-114620" y="2785586"/>
                <a:ext cx="968726" cy="38403"/>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0" name="标题 1"/>
              <p:cNvSpPr txBox="1"/>
              <p:nvPr/>
            </p:nvSpPr>
            <p:spPr>
              <a:xfrm rot="6986950">
                <a:off x="-93193" y="2553759"/>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1" name="标题 1"/>
              <p:cNvSpPr txBox="1"/>
              <p:nvPr/>
            </p:nvSpPr>
            <p:spPr>
              <a:xfrm rot="6986950">
                <a:off x="1521485" y="2338350"/>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pic>
          <p:nvPicPr>
            <p:cNvPr id="42" name="图片 41"/>
            <p:cNvPicPr>
              <a:picLocks noChangeAspect="1"/>
            </p:cNvPicPr>
            <p:nvPr/>
          </p:nvPicPr>
          <p:blipFill>
            <a:blip r:embed="rId4">
              <a:alphaModFix amt="100000"/>
            </a:blip>
            <a:srcRect/>
            <a:stretch>
              <a:fillRect/>
            </a:stretch>
          </p:blipFill>
          <p:spPr>
            <a:xfrm flipH="1">
              <a:off x="158996" y="1525755"/>
              <a:ext cx="1024112" cy="1024103"/>
            </a:xfrm>
            <a:prstGeom prst="rect">
              <a:avLst/>
            </a:prstGeom>
            <a:noFill/>
            <a:ln>
              <a:noFill/>
            </a:ln>
          </p:spPr>
        </p:pic>
        <p:pic>
          <p:nvPicPr>
            <p:cNvPr id="43" name="图片 42"/>
            <p:cNvPicPr>
              <a:picLocks noChangeAspect="1"/>
            </p:cNvPicPr>
            <p:nvPr/>
          </p:nvPicPr>
          <p:blipFill>
            <a:blip r:embed="rId5">
              <a:alphaModFix amt="100000"/>
            </a:blip>
            <a:srcRect/>
            <a:stretch>
              <a:fillRect/>
            </a:stretch>
          </p:blipFill>
          <p:spPr>
            <a:xfrm flipH="1">
              <a:off x="2959423" y="4041634"/>
              <a:ext cx="640072" cy="711188"/>
            </a:xfrm>
            <a:prstGeom prst="rect">
              <a:avLst/>
            </a:prstGeom>
            <a:noFill/>
            <a:ln>
              <a:noFill/>
            </a:ln>
          </p:spPr>
        </p:pic>
      </p:grpSp>
      <p:pic>
        <p:nvPicPr>
          <p:cNvPr id="44" name="图片 43"/>
          <p:cNvPicPr>
            <a:picLocks noChangeAspect="1"/>
          </p:cNvPicPr>
          <p:nvPr/>
        </p:nvPicPr>
        <p:blipFill>
          <a:blip r:embed="rId6">
            <a:alphaModFix amt="100000"/>
          </a:blip>
          <a:srcRect/>
          <a:stretch>
            <a:fillRect/>
          </a:stretch>
        </p:blipFill>
        <p:spPr>
          <a:xfrm rot="20126527" flipH="1">
            <a:off x="-400643" y="5186680"/>
            <a:ext cx="801284" cy="924560"/>
          </a:xfrm>
          <a:prstGeom prst="rect">
            <a:avLst/>
          </a:prstGeom>
          <a:noFill/>
          <a:ln>
            <a:noFill/>
          </a:ln>
        </p:spPr>
      </p:pic>
      <p:sp>
        <p:nvSpPr>
          <p:cNvPr id="45" name="标题 1"/>
          <p:cNvSpPr txBox="1"/>
          <p:nvPr/>
        </p:nvSpPr>
        <p:spPr>
          <a:xfrm>
            <a:off x="2632075" y="1582010"/>
            <a:ext cx="2932415" cy="3170965"/>
          </a:xfrm>
          <a:prstGeom prst="rect">
            <a:avLst/>
          </a:prstGeom>
          <a:noFill/>
          <a:ln w="12700" cap="sq">
            <a:noFill/>
            <a:miter/>
          </a:ln>
        </p:spPr>
        <p:txBody>
          <a:bodyPr vert="horz" wrap="square" lIns="0" tIns="0" rIns="0" bIns="0" rtlCol="0" anchor="ctr"/>
          <a:lstStyle/>
          <a:p>
            <a:pPr algn="r">
              <a:lnSpc>
                <a:spcPct val="120000"/>
              </a:lnSpc>
            </a:pPr>
            <a:r>
              <a:rPr kumimoji="1" lang="en-US" altLang="zh-CN" sz="4000">
                <a:ln w="12700">
                  <a:noFill/>
                </a:ln>
                <a:solidFill>
                  <a:srgbClr val="2DB2B8">
                    <a:alpha val="100000"/>
                  </a:srgbClr>
                </a:solidFill>
                <a:latin typeface="OPPOSans H" panose="00020600040101010101" charset="-122"/>
                <a:ea typeface="OPPOSans H" panose="00020600040101010101" charset="-122"/>
                <a:cs typeface="OPPOSans H" panose="00020600040101010101" charset="-122"/>
              </a:rPr>
              <a:t>03</a:t>
            </a:r>
            <a:endParaRPr kumimoji="1" lang="en-US" altLang="zh-CN" sz="4000">
              <a:ln w="12700">
                <a:noFill/>
              </a:ln>
              <a:solidFill>
                <a:srgbClr val="2DB2B8">
                  <a:alpha val="100000"/>
                </a:srgbClr>
              </a:solidFill>
              <a:latin typeface="OPPOSans H" panose="00020600040101010101" charset="-122"/>
              <a:ea typeface="OPPOSans H" panose="00020600040101010101" charset="-122"/>
              <a:cs typeface="OPPOSans H" panose="00020600040101010101" charset="-122"/>
            </a:endParaRPr>
          </a:p>
        </p:txBody>
      </p:sp>
      <p:sp>
        <p:nvSpPr>
          <p:cNvPr id="46" name="标题 1"/>
          <p:cNvSpPr txBox="1"/>
          <p:nvPr/>
        </p:nvSpPr>
        <p:spPr>
          <a:xfrm>
            <a:off x="5803900" y="1496061"/>
            <a:ext cx="5206839" cy="3174999"/>
          </a:xfrm>
          <a:prstGeom prst="rect">
            <a:avLst/>
          </a:prstGeom>
          <a:noFill/>
          <a:ln w="12700" cap="sq">
            <a:noFill/>
            <a:miter/>
          </a:ln>
        </p:spPr>
        <p:txBody>
          <a:bodyPr vert="horz" wrap="square" lIns="0" tIns="0" rIns="0" bIns="0" rtlCol="0" anchor="ctr"/>
          <a:lstStyle/>
          <a:p>
            <a:pPr algn="l">
              <a:lnSpc>
                <a:spcPct val="130000"/>
              </a:lnSpc>
            </a:pPr>
            <a:r>
              <a:rPr kumimoji="1" lang="en-US" altLang="zh-CN" sz="4000">
                <a:ln w="12700">
                  <a:noFill/>
                </a:ln>
                <a:solidFill>
                  <a:srgbClr val="348498">
                    <a:alpha val="100000"/>
                  </a:srgbClr>
                </a:solidFill>
                <a:latin typeface="Malgun Gothic" panose="020B0503020000020004" charset="-127"/>
                <a:ea typeface="Malgun Gothic" panose="020B0503020000020004" charset="-127"/>
                <a:cs typeface="OPPOSans H" panose="00020600040101010101" charset="-122"/>
              </a:rPr>
              <a:t>Fieldwork Ethics</a:t>
            </a:r>
            <a:endParaRPr kumimoji="1" lang="zh-CN" altLang="en-US">
              <a:latin typeface="Malgun Gothic" panose="020B0503020000020004" charset="-127"/>
              <a:ea typeface="Malgun Gothic" panose="020B0503020000020004" charset="-127"/>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6202634" y="1595033"/>
            <a:ext cx="4110152" cy="4683933"/>
          </a:xfrm>
          <a:prstGeom prst="roundRect">
            <a:avLst>
              <a:gd name="adj" fmla="val 4436"/>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1884634" y="1595033"/>
            <a:ext cx="4110152" cy="4683933"/>
          </a:xfrm>
          <a:prstGeom prst="roundRect">
            <a:avLst>
              <a:gd name="adj" fmla="val 4436"/>
            </a:avLst>
          </a:prstGeom>
          <a:solidFill>
            <a:schemeClr val="bg1"/>
          </a:solidFill>
          <a:ln w="28575"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2001605" y="3212981"/>
            <a:ext cx="3901610" cy="2205360"/>
          </a:xfrm>
          <a:prstGeom prst="rect">
            <a:avLst/>
          </a:prstGeom>
          <a:noFill/>
          <a:ln cap="sq">
            <a:noFill/>
          </a:ln>
          <a:effectLst/>
        </p:spPr>
        <p:txBody>
          <a:bodyPr vert="horz" wrap="square" lIns="85039" tIns="42520" rIns="85039" bIns="42520" rtlCol="0" anchor="t"/>
          <a:lstStyle/>
          <a:p>
            <a:pPr algn="l">
              <a:lnSpc>
                <a:spcPct val="150000"/>
              </a:lnSpc>
            </a:pPr>
            <a:r>
              <a:rPr kumimoji="1" lang="en-US" altLang="zh-CN" sz="1200">
                <a:ln w="12700">
                  <a:noFill/>
                </a:ln>
                <a:solidFill>
                  <a:srgbClr val="404040">
                    <a:alpha val="100000"/>
                  </a:srgbClr>
                </a:solidFill>
                <a:latin typeface="Source Han Sans" panose="020B0500000000000000" charset="-122"/>
                <a:ea typeface="Source Han Sans" panose="020B0500000000000000" charset="-122"/>
                <a:cs typeface="Source Han Sans" panose="020B0500000000000000" charset="-122"/>
              </a:rPr>
              <a:t>Ethical fieldwork requires obtaining informed consent from participants. This means explaining the purpose of the research, how the data will be used, and ensuring participants agree to participate voluntarily.
</a:t>
            </a:r>
            <a:endParaRPr kumimoji="1" lang="en-US" altLang="zh-CN" sz="1200">
              <a:ln w="12700">
                <a:noFill/>
              </a:ln>
              <a:solidFill>
                <a:srgbClr val="404040">
                  <a:alpha val="100000"/>
                </a:srgbClr>
              </a:solidFill>
              <a:latin typeface="Source Han Sans" panose="020B0500000000000000" charset="-122"/>
              <a:ea typeface="Source Han Sans" panose="020B0500000000000000" charset="-122"/>
              <a:cs typeface="Source Han Sans" panose="020B0500000000000000" charset="-122"/>
            </a:endParaRPr>
          </a:p>
          <a:p>
            <a:pPr algn="l">
              <a:lnSpc>
                <a:spcPct val="150000"/>
              </a:lnSpc>
            </a:pPr>
            <a:r>
              <a:rPr kumimoji="1" lang="en-US" altLang="zh-CN" sz="1200">
                <a:ln w="12700">
                  <a:noFill/>
                </a:ln>
                <a:solidFill>
                  <a:srgbClr val="404040">
                    <a:alpha val="100000"/>
                  </a:srgbClr>
                </a:solidFill>
                <a:latin typeface="Source Han Sans" panose="020B0500000000000000" charset="-122"/>
                <a:ea typeface="Source Han Sans" panose="020B0500000000000000" charset="-122"/>
                <a:cs typeface="Source Han Sans" panose="020B0500000000000000" charset="-122"/>
              </a:rPr>
              <a:t>Before conducting an interview, researchers should explain the research objectives, the confidentiality of the information, and how the data will be stored and shared. Participants should be given the option to withdraw at any time.</a:t>
            </a:r>
            <a:endParaRPr kumimoji="1" lang="zh-CN" altLang="en-US" sz="1200"/>
          </a:p>
        </p:txBody>
      </p:sp>
      <p:sp>
        <p:nvSpPr>
          <p:cNvPr id="5" name="标题 1"/>
          <p:cNvSpPr txBox="1"/>
          <p:nvPr/>
        </p:nvSpPr>
        <p:spPr>
          <a:xfrm>
            <a:off x="3290083" y="1636069"/>
            <a:ext cx="1311954" cy="1311950"/>
          </a:xfrm>
          <a:prstGeom prst="ellipse">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3647457" y="1917098"/>
            <a:ext cx="724206" cy="682580"/>
          </a:xfrm>
          <a:custGeom>
            <a:avLst/>
            <a:gdLst>
              <a:gd name="connsiteX0" fmla="*/ 565749 w 763907"/>
              <a:gd name="connsiteY0" fmla="*/ 529546 h 720000"/>
              <a:gd name="connsiteX1" fmla="*/ 585849 w 763907"/>
              <a:gd name="connsiteY1" fmla="*/ 537865 h 720000"/>
              <a:gd name="connsiteX2" fmla="*/ 698960 w 763907"/>
              <a:gd name="connsiteY2" fmla="*/ 650977 h 720000"/>
              <a:gd name="connsiteX3" fmla="*/ 698960 w 763907"/>
              <a:gd name="connsiteY3" fmla="*/ 691178 h 720000"/>
              <a:gd name="connsiteX4" fmla="*/ 678860 w 763907"/>
              <a:gd name="connsiteY4" fmla="*/ 699521 h 720000"/>
              <a:gd name="connsiteX5" fmla="*/ 658760 w 763907"/>
              <a:gd name="connsiteY5" fmla="*/ 691178 h 720000"/>
              <a:gd name="connsiteX6" fmla="*/ 545648 w 763907"/>
              <a:gd name="connsiteY6" fmla="*/ 578066 h 720000"/>
              <a:gd name="connsiteX7" fmla="*/ 545648 w 763907"/>
              <a:gd name="connsiteY7" fmla="*/ 537865 h 720000"/>
              <a:gd name="connsiteX8" fmla="*/ 565749 w 763907"/>
              <a:gd name="connsiteY8" fmla="*/ 529546 h 720000"/>
              <a:gd name="connsiteX9" fmla="*/ 565749 w 763907"/>
              <a:gd name="connsiteY9" fmla="*/ 359807 h 720000"/>
              <a:gd name="connsiteX10" fmla="*/ 735464 w 763907"/>
              <a:gd name="connsiteY10" fmla="*/ 359807 h 720000"/>
              <a:gd name="connsiteX11" fmla="*/ 763907 w 763907"/>
              <a:gd name="connsiteY11" fmla="*/ 388251 h 720000"/>
              <a:gd name="connsiteX12" fmla="*/ 735464 w 763907"/>
              <a:gd name="connsiteY12" fmla="*/ 416695 h 720000"/>
              <a:gd name="connsiteX13" fmla="*/ 565749 w 763907"/>
              <a:gd name="connsiteY13" fmla="*/ 416695 h 720000"/>
              <a:gd name="connsiteX14" fmla="*/ 537305 w 763907"/>
              <a:gd name="connsiteY14" fmla="*/ 388251 h 720000"/>
              <a:gd name="connsiteX15" fmla="*/ 565749 w 763907"/>
              <a:gd name="connsiteY15" fmla="*/ 359807 h 720000"/>
              <a:gd name="connsiteX16" fmla="*/ 678860 w 763907"/>
              <a:gd name="connsiteY16" fmla="*/ 77005 h 720000"/>
              <a:gd name="connsiteX17" fmla="*/ 698960 w 763907"/>
              <a:gd name="connsiteY17" fmla="*/ 85325 h 720000"/>
              <a:gd name="connsiteX18" fmla="*/ 698960 w 763907"/>
              <a:gd name="connsiteY18" fmla="*/ 125525 h 720000"/>
              <a:gd name="connsiteX19" fmla="*/ 585849 w 763907"/>
              <a:gd name="connsiteY19" fmla="*/ 238636 h 720000"/>
              <a:gd name="connsiteX20" fmla="*/ 565749 w 763907"/>
              <a:gd name="connsiteY20" fmla="*/ 246980 h 720000"/>
              <a:gd name="connsiteX21" fmla="*/ 545648 w 763907"/>
              <a:gd name="connsiteY21" fmla="*/ 238636 h 720000"/>
              <a:gd name="connsiteX22" fmla="*/ 545648 w 763907"/>
              <a:gd name="connsiteY22" fmla="*/ 198436 h 720000"/>
              <a:gd name="connsiteX23" fmla="*/ 658760 w 763907"/>
              <a:gd name="connsiteY23" fmla="*/ 85325 h 720000"/>
              <a:gd name="connsiteX24" fmla="*/ 678860 w 763907"/>
              <a:gd name="connsiteY24" fmla="*/ 77005 h 720000"/>
              <a:gd name="connsiteX25" fmla="*/ 362802 w 763907"/>
              <a:gd name="connsiteY25" fmla="*/ 5 h 720000"/>
              <a:gd name="connsiteX26" fmla="*/ 422012 w 763907"/>
              <a:gd name="connsiteY26" fmla="*/ 16490 h 720000"/>
              <a:gd name="connsiteX27" fmla="*/ 481080 w 763907"/>
              <a:gd name="connsiteY27" fmla="*/ 119457 h 720000"/>
              <a:gd name="connsiteX28" fmla="*/ 481080 w 763907"/>
              <a:gd name="connsiteY28" fmla="*/ 600631 h 720000"/>
              <a:gd name="connsiteX29" fmla="*/ 422012 w 763907"/>
              <a:gd name="connsiteY29" fmla="*/ 703598 h 720000"/>
              <a:gd name="connsiteX30" fmla="*/ 361806 w 763907"/>
              <a:gd name="connsiteY30" fmla="*/ 720000 h 720000"/>
              <a:gd name="connsiteX31" fmla="*/ 303306 w 763907"/>
              <a:gd name="connsiteY31" fmla="*/ 704546 h 720000"/>
              <a:gd name="connsiteX32" fmla="*/ 60870 w 763907"/>
              <a:gd name="connsiteY32" fmla="*/ 568300 h 720000"/>
              <a:gd name="connsiteX33" fmla="*/ 0 w 763907"/>
              <a:gd name="connsiteY33" fmla="*/ 464291 h 720000"/>
              <a:gd name="connsiteX34" fmla="*/ 0 w 763907"/>
              <a:gd name="connsiteY34" fmla="*/ 255702 h 720000"/>
              <a:gd name="connsiteX35" fmla="*/ 60870 w 763907"/>
              <a:gd name="connsiteY35" fmla="*/ 151693 h 720000"/>
              <a:gd name="connsiteX36" fmla="*/ 303306 w 763907"/>
              <a:gd name="connsiteY36" fmla="*/ 15447 h 720000"/>
              <a:gd name="connsiteX37" fmla="*/ 362802 w 763907"/>
              <a:gd name="connsiteY37" fmla="*/ 5 h 720000"/>
            </a:gdLst>
            <a:ahLst/>
            <a:cxnLst/>
            <a:rect l="l" t="t" r="r" b="b"/>
            <a:pathLst>
              <a:path w="763907" h="720000">
                <a:moveTo>
                  <a:pt x="565749" y="529546"/>
                </a:moveTo>
                <a:cubicBezTo>
                  <a:pt x="573025" y="529546"/>
                  <a:pt x="580302" y="532319"/>
                  <a:pt x="585849" y="537865"/>
                </a:cubicBezTo>
                <a:lnTo>
                  <a:pt x="698960" y="650977"/>
                </a:lnTo>
                <a:cubicBezTo>
                  <a:pt x="710054" y="662070"/>
                  <a:pt x="710054" y="680084"/>
                  <a:pt x="698960" y="691178"/>
                </a:cubicBezTo>
                <a:cubicBezTo>
                  <a:pt x="693461" y="696677"/>
                  <a:pt x="686161" y="699521"/>
                  <a:pt x="678860" y="699521"/>
                </a:cubicBezTo>
                <a:cubicBezTo>
                  <a:pt x="671560" y="699521"/>
                  <a:pt x="664259" y="696771"/>
                  <a:pt x="658760" y="691178"/>
                </a:cubicBezTo>
                <a:lnTo>
                  <a:pt x="545648" y="578066"/>
                </a:lnTo>
                <a:cubicBezTo>
                  <a:pt x="534555" y="566973"/>
                  <a:pt x="534555" y="548959"/>
                  <a:pt x="545648" y="537865"/>
                </a:cubicBezTo>
                <a:cubicBezTo>
                  <a:pt x="551195" y="532319"/>
                  <a:pt x="558471" y="529546"/>
                  <a:pt x="565749" y="529546"/>
                </a:cubicBezTo>
                <a:close/>
                <a:moveTo>
                  <a:pt x="565749" y="359807"/>
                </a:moveTo>
                <a:lnTo>
                  <a:pt x="735464" y="359807"/>
                </a:lnTo>
                <a:cubicBezTo>
                  <a:pt x="751202" y="359807"/>
                  <a:pt x="763907" y="372512"/>
                  <a:pt x="763907" y="388251"/>
                </a:cubicBezTo>
                <a:cubicBezTo>
                  <a:pt x="763907" y="403990"/>
                  <a:pt x="751107" y="416695"/>
                  <a:pt x="735464" y="416695"/>
                </a:cubicBezTo>
                <a:lnTo>
                  <a:pt x="565749" y="416695"/>
                </a:lnTo>
                <a:cubicBezTo>
                  <a:pt x="550010" y="416695"/>
                  <a:pt x="537305" y="403990"/>
                  <a:pt x="537305" y="388251"/>
                </a:cubicBezTo>
                <a:cubicBezTo>
                  <a:pt x="537305" y="372512"/>
                  <a:pt x="550010" y="359807"/>
                  <a:pt x="565749" y="359807"/>
                </a:cubicBezTo>
                <a:close/>
                <a:moveTo>
                  <a:pt x="678860" y="77005"/>
                </a:moveTo>
                <a:cubicBezTo>
                  <a:pt x="686137" y="77005"/>
                  <a:pt x="693414" y="79778"/>
                  <a:pt x="698960" y="85325"/>
                </a:cubicBezTo>
                <a:cubicBezTo>
                  <a:pt x="710054" y="96418"/>
                  <a:pt x="710054" y="114432"/>
                  <a:pt x="698960" y="125525"/>
                </a:cubicBezTo>
                <a:lnTo>
                  <a:pt x="585849" y="238636"/>
                </a:lnTo>
                <a:cubicBezTo>
                  <a:pt x="580350" y="244231"/>
                  <a:pt x="573049" y="246980"/>
                  <a:pt x="565749" y="246980"/>
                </a:cubicBezTo>
                <a:cubicBezTo>
                  <a:pt x="558448" y="246980"/>
                  <a:pt x="551147" y="244231"/>
                  <a:pt x="545648" y="238636"/>
                </a:cubicBezTo>
                <a:cubicBezTo>
                  <a:pt x="534555" y="227543"/>
                  <a:pt x="534555" y="209529"/>
                  <a:pt x="545648" y="198436"/>
                </a:cubicBezTo>
                <a:lnTo>
                  <a:pt x="658760" y="85325"/>
                </a:lnTo>
                <a:cubicBezTo>
                  <a:pt x="664306" y="79778"/>
                  <a:pt x="671583" y="77005"/>
                  <a:pt x="678860" y="77005"/>
                </a:cubicBezTo>
                <a:close/>
                <a:moveTo>
                  <a:pt x="362802" y="5"/>
                </a:moveTo>
                <a:cubicBezTo>
                  <a:pt x="383186" y="183"/>
                  <a:pt x="403524" y="5682"/>
                  <a:pt x="422012" y="16490"/>
                </a:cubicBezTo>
                <a:cubicBezTo>
                  <a:pt x="458989" y="38108"/>
                  <a:pt x="481080" y="76601"/>
                  <a:pt x="481080" y="119457"/>
                </a:cubicBezTo>
                <a:lnTo>
                  <a:pt x="481080" y="600631"/>
                </a:lnTo>
                <a:cubicBezTo>
                  <a:pt x="481080" y="643486"/>
                  <a:pt x="458989" y="681980"/>
                  <a:pt x="422012" y="703598"/>
                </a:cubicBezTo>
                <a:cubicBezTo>
                  <a:pt x="403240" y="714501"/>
                  <a:pt x="382475" y="720000"/>
                  <a:pt x="361806" y="720000"/>
                </a:cubicBezTo>
                <a:cubicBezTo>
                  <a:pt x="341706" y="720000"/>
                  <a:pt x="321700" y="714881"/>
                  <a:pt x="303306" y="704546"/>
                </a:cubicBezTo>
                <a:lnTo>
                  <a:pt x="60870" y="568300"/>
                </a:lnTo>
                <a:cubicBezTo>
                  <a:pt x="23324" y="547157"/>
                  <a:pt x="0" y="507336"/>
                  <a:pt x="0" y="464291"/>
                </a:cubicBezTo>
                <a:lnTo>
                  <a:pt x="0" y="255702"/>
                </a:lnTo>
                <a:cubicBezTo>
                  <a:pt x="0" y="212657"/>
                  <a:pt x="23324" y="172742"/>
                  <a:pt x="60870" y="151693"/>
                </a:cubicBezTo>
                <a:lnTo>
                  <a:pt x="303306" y="15447"/>
                </a:lnTo>
                <a:cubicBezTo>
                  <a:pt x="321984" y="4970"/>
                  <a:pt x="342417" y="-173"/>
                  <a:pt x="362802" y="5"/>
                </a:cubicBezTo>
                <a:close/>
              </a:path>
            </a:pathLst>
          </a:custGeom>
          <a:solidFill>
            <a:schemeClr val="bg1"/>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7" name="标题 1"/>
          <p:cNvSpPr txBox="1"/>
          <p:nvPr/>
        </p:nvSpPr>
        <p:spPr>
          <a:xfrm>
            <a:off x="6239949" y="3428881"/>
            <a:ext cx="3914310" cy="2136977"/>
          </a:xfrm>
          <a:prstGeom prst="rect">
            <a:avLst/>
          </a:prstGeom>
          <a:noFill/>
          <a:ln cap="sq">
            <a:noFill/>
          </a:ln>
          <a:effectLst/>
        </p:spPr>
        <p:txBody>
          <a:bodyPr vert="horz" wrap="square" lIns="85039" tIns="42520" rIns="85039" bIns="42520" rtlCol="0" anchor="t"/>
          <a:lstStyle/>
          <a:p>
            <a:pPr algn="l">
              <a:lnSpc>
                <a:spcPct val="150000"/>
              </a:lnSpc>
            </a:pPr>
            <a:r>
              <a:rPr kumimoji="1" lang="en-US" altLang="zh-CN" sz="1100">
                <a:ln w="12700">
                  <a:noFill/>
                </a:ln>
                <a:solidFill>
                  <a:srgbClr val="FFFFFF">
                    <a:alpha val="100000"/>
                  </a:srgbClr>
                </a:solidFill>
                <a:latin typeface="Source Han Sans" panose="020B0500000000000000" charset="-122"/>
                <a:ea typeface="Source Han Sans" panose="020B0500000000000000" charset="-122"/>
                <a:cs typeface="Source Han Sans" panose="020B0500000000000000" charset="-122"/>
              </a:rPr>
              <a:t>Researchers must protect the privacy of participants by keeping their identities confidential and using pseudonyms in reports. This ensures that sensitive information is not disclosed and participants are not identifiable.
</a:t>
            </a:r>
            <a:endParaRPr kumimoji="1" lang="en-US" altLang="zh-CN" sz="1100">
              <a:ln w="12700">
                <a:noFill/>
              </a:ln>
              <a:solidFill>
                <a:srgbClr val="FFFFFF">
                  <a:alpha val="100000"/>
                </a:srgbClr>
              </a:solidFill>
              <a:latin typeface="Source Han Sans" panose="020B0500000000000000" charset="-122"/>
              <a:ea typeface="Source Han Sans" panose="020B0500000000000000" charset="-122"/>
              <a:cs typeface="Source Han Sans" panose="020B0500000000000000" charset="-122"/>
            </a:endParaRPr>
          </a:p>
          <a:p>
            <a:pPr algn="l">
              <a:lnSpc>
                <a:spcPct val="150000"/>
              </a:lnSpc>
            </a:pPr>
            <a:r>
              <a:rPr kumimoji="1" lang="en-US" altLang="zh-CN" sz="1100">
                <a:ln w="12700">
                  <a:noFill/>
                </a:ln>
                <a:solidFill>
                  <a:srgbClr val="FFFFFF">
                    <a:alpha val="100000"/>
                  </a:srgbClr>
                </a:solidFill>
                <a:latin typeface="Source Han Sans" panose="020B0500000000000000" charset="-122"/>
                <a:ea typeface="Source Han Sans" panose="020B0500000000000000" charset="-122"/>
                <a:cs typeface="Source Han Sans" panose="020B0500000000000000" charset="-122"/>
              </a:rPr>
              <a:t>When recording interviews or taking photographs, researchers should obtain explicit consent and ensure that the data is stored securely. This protects participants from potential harm or misuse of their information.</a:t>
            </a:r>
            <a:endParaRPr kumimoji="1" lang="zh-CN" altLang="en-US"/>
          </a:p>
        </p:txBody>
      </p:sp>
      <p:sp>
        <p:nvSpPr>
          <p:cNvPr id="8" name="标题 1"/>
          <p:cNvSpPr txBox="1"/>
          <p:nvPr/>
        </p:nvSpPr>
        <p:spPr>
          <a:xfrm>
            <a:off x="7607802" y="1636704"/>
            <a:ext cx="1311954" cy="1311950"/>
          </a:xfrm>
          <a:prstGeom prst="ellipse">
            <a:avLst/>
          </a:prstGeom>
          <a:solidFill>
            <a:schemeClr val="bg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7968237" y="1844414"/>
            <a:ext cx="630455" cy="720001"/>
          </a:xfrm>
          <a:custGeom>
            <a:avLst/>
            <a:gdLst>
              <a:gd name="connsiteX0" fmla="*/ 361901 w 630455"/>
              <a:gd name="connsiteY0" fmla="*/ 82589 h 720001"/>
              <a:gd name="connsiteX1" fmla="*/ 361901 w 630455"/>
              <a:gd name="connsiteY1" fmla="*/ 203034 h 720001"/>
              <a:gd name="connsiteX2" fmla="*/ 427179 w 630455"/>
              <a:gd name="connsiteY2" fmla="*/ 268312 h 720001"/>
              <a:gd name="connsiteX3" fmla="*/ 547624 w 630455"/>
              <a:gd name="connsiteY3" fmla="*/ 268312 h 720001"/>
              <a:gd name="connsiteX4" fmla="*/ 113812 w 630455"/>
              <a:gd name="connsiteY4" fmla="*/ 0 h 720001"/>
              <a:gd name="connsiteX5" fmla="*/ 338847 w 630455"/>
              <a:gd name="connsiteY5" fmla="*/ 0 h 720001"/>
              <a:gd name="connsiteX6" fmla="*/ 340465 w 630455"/>
              <a:gd name="connsiteY6" fmla="*/ 162 h 720001"/>
              <a:gd name="connsiteX7" fmla="*/ 340789 w 630455"/>
              <a:gd name="connsiteY7" fmla="*/ 162 h 720001"/>
              <a:gd name="connsiteX8" fmla="*/ 344106 w 630455"/>
              <a:gd name="connsiteY8" fmla="*/ 809 h 720001"/>
              <a:gd name="connsiteX9" fmla="*/ 344186 w 630455"/>
              <a:gd name="connsiteY9" fmla="*/ 809 h 720001"/>
              <a:gd name="connsiteX10" fmla="*/ 347422 w 630455"/>
              <a:gd name="connsiteY10" fmla="*/ 1942 h 720001"/>
              <a:gd name="connsiteX11" fmla="*/ 347503 w 630455"/>
              <a:gd name="connsiteY11" fmla="*/ 1942 h 720001"/>
              <a:gd name="connsiteX12" fmla="*/ 349040 w 630455"/>
              <a:gd name="connsiteY12" fmla="*/ 2670 h 720001"/>
              <a:gd name="connsiteX13" fmla="*/ 349121 w 630455"/>
              <a:gd name="connsiteY13" fmla="*/ 2670 h 720001"/>
              <a:gd name="connsiteX14" fmla="*/ 350576 w 630455"/>
              <a:gd name="connsiteY14" fmla="*/ 3479 h 720001"/>
              <a:gd name="connsiteX15" fmla="*/ 350819 w 630455"/>
              <a:gd name="connsiteY15" fmla="*/ 3640 h 720001"/>
              <a:gd name="connsiteX16" fmla="*/ 352033 w 630455"/>
              <a:gd name="connsiteY16" fmla="*/ 4449 h 720001"/>
              <a:gd name="connsiteX17" fmla="*/ 352194 w 630455"/>
              <a:gd name="connsiteY17" fmla="*/ 4530 h 720001"/>
              <a:gd name="connsiteX18" fmla="*/ 353408 w 630455"/>
              <a:gd name="connsiteY18" fmla="*/ 5501 h 720001"/>
              <a:gd name="connsiteX19" fmla="*/ 353651 w 630455"/>
              <a:gd name="connsiteY19" fmla="*/ 5743 h 720001"/>
              <a:gd name="connsiteX20" fmla="*/ 354864 w 630455"/>
              <a:gd name="connsiteY20" fmla="*/ 6876 h 720001"/>
              <a:gd name="connsiteX21" fmla="*/ 623418 w 630455"/>
              <a:gd name="connsiteY21" fmla="*/ 275430 h 720001"/>
              <a:gd name="connsiteX22" fmla="*/ 624551 w 630455"/>
              <a:gd name="connsiteY22" fmla="*/ 276643 h 720001"/>
              <a:gd name="connsiteX23" fmla="*/ 624793 w 630455"/>
              <a:gd name="connsiteY23" fmla="*/ 276886 h 720001"/>
              <a:gd name="connsiteX24" fmla="*/ 625764 w 630455"/>
              <a:gd name="connsiteY24" fmla="*/ 278180 h 720001"/>
              <a:gd name="connsiteX25" fmla="*/ 625845 w 630455"/>
              <a:gd name="connsiteY25" fmla="*/ 278342 h 720001"/>
              <a:gd name="connsiteX26" fmla="*/ 626734 w 630455"/>
              <a:gd name="connsiteY26" fmla="*/ 279637 h 720001"/>
              <a:gd name="connsiteX27" fmla="*/ 626896 w 630455"/>
              <a:gd name="connsiteY27" fmla="*/ 279798 h 720001"/>
              <a:gd name="connsiteX28" fmla="*/ 627705 w 630455"/>
              <a:gd name="connsiteY28" fmla="*/ 281254 h 720001"/>
              <a:gd name="connsiteX29" fmla="*/ 628433 w 630455"/>
              <a:gd name="connsiteY29" fmla="*/ 282791 h 720001"/>
              <a:gd name="connsiteX30" fmla="*/ 629646 w 630455"/>
              <a:gd name="connsiteY30" fmla="*/ 286107 h 720001"/>
              <a:gd name="connsiteX31" fmla="*/ 630293 w 630455"/>
              <a:gd name="connsiteY31" fmla="*/ 289424 h 720001"/>
              <a:gd name="connsiteX32" fmla="*/ 630293 w 630455"/>
              <a:gd name="connsiteY32" fmla="*/ 289667 h 720001"/>
              <a:gd name="connsiteX33" fmla="*/ 630455 w 630455"/>
              <a:gd name="connsiteY33" fmla="*/ 291285 h 720001"/>
              <a:gd name="connsiteX34" fmla="*/ 630455 w 630455"/>
              <a:gd name="connsiteY34" fmla="*/ 292579 h 720001"/>
              <a:gd name="connsiteX35" fmla="*/ 630455 w 630455"/>
              <a:gd name="connsiteY35" fmla="*/ 606189 h 720001"/>
              <a:gd name="connsiteX36" fmla="*/ 516644 w 630455"/>
              <a:gd name="connsiteY36" fmla="*/ 720001 h 720001"/>
              <a:gd name="connsiteX37" fmla="*/ 113812 w 630455"/>
              <a:gd name="connsiteY37" fmla="*/ 720001 h 720001"/>
              <a:gd name="connsiteX38" fmla="*/ 0 w 630455"/>
              <a:gd name="connsiteY38" fmla="*/ 606189 h 720001"/>
              <a:gd name="connsiteX39" fmla="*/ 0 w 630455"/>
              <a:gd name="connsiteY39" fmla="*/ 113812 h 720001"/>
              <a:gd name="connsiteX40" fmla="*/ 113812 w 630455"/>
              <a:gd name="connsiteY40" fmla="*/ 0 h 720001"/>
            </a:gdLst>
            <a:ahLst/>
            <a:cxnLst/>
            <a:rect l="l" t="t" r="r" b="b"/>
            <a:pathLst>
              <a:path w="630455" h="720001">
                <a:moveTo>
                  <a:pt x="361901" y="82589"/>
                </a:moveTo>
                <a:lnTo>
                  <a:pt x="361901" y="203034"/>
                </a:lnTo>
                <a:cubicBezTo>
                  <a:pt x="361901" y="239030"/>
                  <a:pt x="391183" y="268312"/>
                  <a:pt x="427179" y="268312"/>
                </a:cubicBezTo>
                <a:lnTo>
                  <a:pt x="547624" y="268312"/>
                </a:lnTo>
                <a:close/>
                <a:moveTo>
                  <a:pt x="113812" y="0"/>
                </a:moveTo>
                <a:lnTo>
                  <a:pt x="338847" y="0"/>
                </a:lnTo>
                <a:cubicBezTo>
                  <a:pt x="339414" y="81"/>
                  <a:pt x="339899" y="81"/>
                  <a:pt x="340465" y="162"/>
                </a:cubicBezTo>
                <a:lnTo>
                  <a:pt x="340789" y="162"/>
                </a:lnTo>
                <a:cubicBezTo>
                  <a:pt x="341922" y="324"/>
                  <a:pt x="343054" y="485"/>
                  <a:pt x="344106" y="809"/>
                </a:cubicBezTo>
                <a:lnTo>
                  <a:pt x="344186" y="809"/>
                </a:lnTo>
                <a:cubicBezTo>
                  <a:pt x="345238" y="1052"/>
                  <a:pt x="346371" y="1456"/>
                  <a:pt x="347422" y="1942"/>
                </a:cubicBezTo>
                <a:lnTo>
                  <a:pt x="347503" y="1942"/>
                </a:lnTo>
                <a:cubicBezTo>
                  <a:pt x="348069" y="2184"/>
                  <a:pt x="348555" y="2427"/>
                  <a:pt x="349040" y="2670"/>
                </a:cubicBezTo>
                <a:lnTo>
                  <a:pt x="349121" y="2670"/>
                </a:lnTo>
                <a:cubicBezTo>
                  <a:pt x="349606" y="2912"/>
                  <a:pt x="350091" y="3155"/>
                  <a:pt x="350576" y="3479"/>
                </a:cubicBezTo>
                <a:cubicBezTo>
                  <a:pt x="350657" y="3560"/>
                  <a:pt x="350739" y="3560"/>
                  <a:pt x="350819" y="3640"/>
                </a:cubicBezTo>
                <a:cubicBezTo>
                  <a:pt x="351224" y="3883"/>
                  <a:pt x="351628" y="4126"/>
                  <a:pt x="352033" y="4449"/>
                </a:cubicBezTo>
                <a:cubicBezTo>
                  <a:pt x="352113" y="4449"/>
                  <a:pt x="352113" y="4530"/>
                  <a:pt x="352194" y="4530"/>
                </a:cubicBezTo>
                <a:lnTo>
                  <a:pt x="353408" y="5501"/>
                </a:lnTo>
                <a:lnTo>
                  <a:pt x="353651" y="5743"/>
                </a:lnTo>
                <a:cubicBezTo>
                  <a:pt x="354055" y="6148"/>
                  <a:pt x="354459" y="6472"/>
                  <a:pt x="354864" y="6876"/>
                </a:cubicBezTo>
                <a:lnTo>
                  <a:pt x="623418" y="275430"/>
                </a:lnTo>
                <a:cubicBezTo>
                  <a:pt x="623822" y="275835"/>
                  <a:pt x="624227" y="276239"/>
                  <a:pt x="624551" y="276643"/>
                </a:cubicBezTo>
                <a:lnTo>
                  <a:pt x="624793" y="276886"/>
                </a:lnTo>
                <a:cubicBezTo>
                  <a:pt x="625117" y="277291"/>
                  <a:pt x="625440" y="277776"/>
                  <a:pt x="625764" y="278180"/>
                </a:cubicBezTo>
                <a:cubicBezTo>
                  <a:pt x="625764" y="278261"/>
                  <a:pt x="625845" y="278342"/>
                  <a:pt x="625845" y="278342"/>
                </a:cubicBezTo>
                <a:cubicBezTo>
                  <a:pt x="626168" y="278747"/>
                  <a:pt x="626491" y="279232"/>
                  <a:pt x="626734" y="279637"/>
                </a:cubicBezTo>
                <a:cubicBezTo>
                  <a:pt x="626815" y="279637"/>
                  <a:pt x="626815" y="279717"/>
                  <a:pt x="626896" y="279798"/>
                </a:cubicBezTo>
                <a:cubicBezTo>
                  <a:pt x="627139" y="280284"/>
                  <a:pt x="627462" y="280769"/>
                  <a:pt x="627705" y="281254"/>
                </a:cubicBezTo>
                <a:cubicBezTo>
                  <a:pt x="627948" y="281739"/>
                  <a:pt x="628190" y="282225"/>
                  <a:pt x="628433" y="282791"/>
                </a:cubicBezTo>
                <a:cubicBezTo>
                  <a:pt x="628918" y="283843"/>
                  <a:pt x="629323" y="284975"/>
                  <a:pt x="629646" y="286107"/>
                </a:cubicBezTo>
                <a:cubicBezTo>
                  <a:pt x="629889" y="287159"/>
                  <a:pt x="630132" y="288291"/>
                  <a:pt x="630293" y="289424"/>
                </a:cubicBezTo>
                <a:lnTo>
                  <a:pt x="630293" y="289667"/>
                </a:lnTo>
                <a:cubicBezTo>
                  <a:pt x="630374" y="290152"/>
                  <a:pt x="630455" y="290718"/>
                  <a:pt x="630455" y="291285"/>
                </a:cubicBezTo>
                <a:lnTo>
                  <a:pt x="630455" y="292579"/>
                </a:lnTo>
                <a:lnTo>
                  <a:pt x="630455" y="606189"/>
                </a:lnTo>
                <a:cubicBezTo>
                  <a:pt x="630455" y="668959"/>
                  <a:pt x="579414" y="720001"/>
                  <a:pt x="516644" y="720001"/>
                </a:cubicBezTo>
                <a:lnTo>
                  <a:pt x="113812" y="720001"/>
                </a:lnTo>
                <a:cubicBezTo>
                  <a:pt x="51042" y="720001"/>
                  <a:pt x="0" y="668959"/>
                  <a:pt x="0" y="606189"/>
                </a:cubicBezTo>
                <a:lnTo>
                  <a:pt x="0" y="113812"/>
                </a:lnTo>
                <a:cubicBezTo>
                  <a:pt x="0" y="51042"/>
                  <a:pt x="51042" y="0"/>
                  <a:pt x="113812" y="0"/>
                </a:cubicBezTo>
                <a:close/>
              </a:path>
            </a:pathLst>
          </a:custGeom>
          <a:solidFill>
            <a:schemeClr val="accent1"/>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10" name="标题 1"/>
          <p:cNvSpPr txBox="1"/>
          <p:nvPr/>
        </p:nvSpPr>
        <p:spPr>
          <a:xfrm>
            <a:off x="2001520" y="2853055"/>
            <a:ext cx="3888740" cy="503555"/>
          </a:xfrm>
          <a:prstGeom prst="rect">
            <a:avLst/>
          </a:prstGeom>
          <a:noFill/>
          <a:ln cap="sq">
            <a:noFill/>
          </a:ln>
          <a:effectLst/>
        </p:spPr>
        <p:txBody>
          <a:bodyPr vert="horz" wrap="square" lIns="85039" tIns="42520" rIns="85039" bIns="42520" rtlCol="0" anchor="ctr"/>
          <a:lstStyle/>
          <a:p>
            <a:pPr algn="ctr">
              <a:lnSpc>
                <a:spcPct val="150000"/>
              </a:lnSpc>
            </a:pPr>
            <a:r>
              <a:rPr kumimoji="1" lang="en-US" altLang="zh-CN" sz="1600">
                <a:ln w="12700">
                  <a:noFill/>
                </a:ln>
                <a:solidFill>
                  <a:srgbClr val="5BD1D7">
                    <a:alpha val="100000"/>
                  </a:srgbClr>
                </a:solidFill>
                <a:latin typeface="Source Han Sans CN Bold" panose="020B0800000000000000" charset="-122"/>
                <a:ea typeface="Source Han Sans CN Bold" panose="020B0800000000000000" charset="-122"/>
                <a:cs typeface="Source Han Sans CN Bold" panose="020B0800000000000000" charset="-122"/>
              </a:rPr>
              <a:t>Obtaining Informed Consent</a:t>
            </a:r>
            <a:endParaRPr kumimoji="1" lang="zh-CN" altLang="en-US"/>
          </a:p>
        </p:txBody>
      </p:sp>
      <p:sp>
        <p:nvSpPr>
          <p:cNvPr id="11" name="标题 1"/>
          <p:cNvSpPr txBox="1"/>
          <p:nvPr/>
        </p:nvSpPr>
        <p:spPr>
          <a:xfrm>
            <a:off x="6294205" y="2924691"/>
            <a:ext cx="3927010" cy="605160"/>
          </a:xfrm>
          <a:prstGeom prst="rect">
            <a:avLst/>
          </a:prstGeom>
          <a:noFill/>
          <a:ln cap="sq">
            <a:noFill/>
          </a:ln>
          <a:effectLst/>
        </p:spPr>
        <p:txBody>
          <a:bodyPr vert="horz" wrap="square" lIns="85039" tIns="42520" rIns="85039" bIns="42520" rtlCol="0" anchor="ctr"/>
          <a:lstStyle/>
          <a:p>
            <a:pPr algn="ctr">
              <a:lnSpc>
                <a:spcPct val="150000"/>
              </a:lnSpc>
            </a:pPr>
            <a:r>
              <a:rPr kumimoji="1" lang="en-US" altLang="zh-CN" sz="1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Protecting Participant Privacy</a:t>
            </a:r>
            <a:endParaRPr kumimoji="1" lang="zh-CN" altLang="en-US"/>
          </a:p>
        </p:txBody>
      </p:sp>
      <p:sp>
        <p:nvSpPr>
          <p:cNvPr id="12" name="标题 1"/>
          <p:cNvSpPr txBox="1"/>
          <p:nvPr/>
        </p:nvSpPr>
        <p:spPr>
          <a:xfrm>
            <a:off x="783520" y="46704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Respecting Privacy and Consent</a:t>
            </a:r>
            <a:endParaRPr kumimoji="1" lang="zh-CN" altLang="en-US"/>
          </a:p>
        </p:txBody>
      </p:sp>
      <p:grpSp>
        <p:nvGrpSpPr>
          <p:cNvPr id="13" name="组合 12"/>
          <p:cNvGrpSpPr/>
          <p:nvPr/>
        </p:nvGrpSpPr>
        <p:grpSpPr>
          <a:xfrm>
            <a:off x="176306" y="376135"/>
            <a:ext cx="484094" cy="470981"/>
            <a:chOff x="176306" y="376135"/>
            <a:chExt cx="484094" cy="470981"/>
          </a:xfrm>
        </p:grpSpPr>
        <p:sp>
          <p:nvSpPr>
            <p:cNvPr id="14" name="标题 1"/>
            <p:cNvSpPr txBox="1"/>
            <p:nvPr/>
          </p:nvSpPr>
          <p:spPr>
            <a:xfrm>
              <a:off x="176306" y="473900"/>
              <a:ext cx="373217" cy="373216"/>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409081" y="376135"/>
              <a:ext cx="251319" cy="251319"/>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1297071" y="1864895"/>
            <a:ext cx="2574758" cy="529390"/>
          </a:xfrm>
          <a:custGeom>
            <a:avLst/>
            <a:gdLst>
              <a:gd name="connsiteX0" fmla="*/ 0 w 2574758"/>
              <a:gd name="connsiteY0" fmla="*/ 0 h 637674"/>
              <a:gd name="connsiteX1" fmla="*/ 2574758 w 2574758"/>
              <a:gd name="connsiteY1" fmla="*/ 0 h 637674"/>
              <a:gd name="connsiteX2" fmla="*/ 1680828 w 2574758"/>
              <a:gd name="connsiteY2" fmla="*/ 637674 h 637674"/>
              <a:gd name="connsiteX3" fmla="*/ 1680828 w 2574758"/>
              <a:gd name="connsiteY3" fmla="*/ 238624 h 637674"/>
              <a:gd name="connsiteX4" fmla="*/ 0 w 2574758"/>
              <a:gd name="connsiteY4" fmla="*/ 238624 h 637674"/>
            </a:gdLst>
            <a:ahLst/>
            <a:cxnLst/>
            <a:rect l="l" t="t" r="r" b="b"/>
            <a:pathLst>
              <a:path w="2574758" h="637674">
                <a:moveTo>
                  <a:pt x="0" y="0"/>
                </a:moveTo>
                <a:lnTo>
                  <a:pt x="2574758" y="0"/>
                </a:lnTo>
                <a:lnTo>
                  <a:pt x="1680828" y="637674"/>
                </a:lnTo>
                <a:lnTo>
                  <a:pt x="1680828" y="238624"/>
                </a:lnTo>
                <a:lnTo>
                  <a:pt x="0" y="238624"/>
                </a:lnTo>
                <a:close/>
              </a:path>
            </a:pathLst>
          </a:cu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1297305" y="2494280"/>
            <a:ext cx="9585325" cy="1496060"/>
          </a:xfrm>
          <a:prstGeom prst="rect">
            <a:avLst/>
          </a:prstGeom>
          <a:noFill/>
          <a:ln cap="sq">
            <a:noFill/>
          </a:ln>
        </p:spPr>
        <p:txBody>
          <a:bodyPr vert="horz" wrap="square" lIns="0" tIns="0" rIns="0" bIns="0" rtlCol="0" anchor="t"/>
          <a:lstStyle/>
          <a:p>
            <a:pPr algn="l">
              <a:lnSpc>
                <a:spcPct val="150000"/>
              </a:lnSpc>
            </a:pPr>
            <a:r>
              <a:rPr kumimoji="1" lang="en-US" altLang="zh-CN" sz="12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Fieldwork requires researchers to be culturally sensitive and respectful of different cultural practices and beliefs. This involves being aware of cultural norms, avoiding stereotypes, and approaching the research with an open mind.
</a:t>
            </a:r>
            <a:endParaRPr kumimoji="1" lang="en-US" altLang="zh-CN" sz="12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endParaRPr>
          </a:p>
          <a:p>
            <a:pPr algn="l">
              <a:lnSpc>
                <a:spcPct val="150000"/>
              </a:lnSpc>
            </a:pPr>
            <a:r>
              <a:rPr kumimoji="1" lang="en-US" altLang="zh-CN" sz="12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When studying a religious ceremony, researchers should observe and participate in a respectful manner, avoiding any actions that might be considered offensive or disrespectful. This helps build trust and ensures accurate and authentic data collection.</a:t>
            </a:r>
            <a:endParaRPr kumimoji="1" lang="zh-CN" altLang="en-US" sz="1200"/>
          </a:p>
        </p:txBody>
      </p:sp>
      <p:sp>
        <p:nvSpPr>
          <p:cNvPr id="4" name="标题 1"/>
          <p:cNvSpPr txBox="1"/>
          <p:nvPr/>
        </p:nvSpPr>
        <p:spPr>
          <a:xfrm>
            <a:off x="1311272" y="1383631"/>
            <a:ext cx="9570956" cy="429128"/>
          </a:xfrm>
          <a:prstGeom prst="rect">
            <a:avLst/>
          </a:prstGeom>
          <a:noFill/>
          <a:ln cap="sq">
            <a:noFill/>
          </a:ln>
        </p:spPr>
        <p:txBody>
          <a:bodyPr vert="horz" wrap="square" lIns="0" tIns="0" rIns="0" bIns="0" rtlCol="0" anchor="b"/>
          <a:lstStyle/>
          <a:p>
            <a:pPr algn="l">
              <a:lnSpc>
                <a:spcPct val="150000"/>
              </a:lnSpc>
            </a:pPr>
            <a:r>
              <a:rPr kumimoji="1" lang="en-US" altLang="zh-CN" sz="1600">
                <a:ln w="12700">
                  <a:noFill/>
                </a:ln>
                <a:solidFill>
                  <a:srgbClr val="5BD1D7">
                    <a:alpha val="100000"/>
                  </a:srgbClr>
                </a:solidFill>
                <a:latin typeface="Source Han Sans CN Bold" panose="020B0800000000000000" charset="-122"/>
                <a:ea typeface="Source Han Sans CN Bold" panose="020B0800000000000000" charset="-122"/>
                <a:cs typeface="Source Han Sans CN Bold" panose="020B0800000000000000" charset="-122"/>
              </a:rPr>
              <a:t>Being Culturally Sensitive</a:t>
            </a:r>
            <a:endParaRPr kumimoji="1" lang="zh-CN" altLang="en-US"/>
          </a:p>
        </p:txBody>
      </p:sp>
      <p:sp>
        <p:nvSpPr>
          <p:cNvPr id="5" name="标题 1"/>
          <p:cNvSpPr txBox="1"/>
          <p:nvPr/>
        </p:nvSpPr>
        <p:spPr>
          <a:xfrm>
            <a:off x="1271036" y="4580621"/>
            <a:ext cx="2574758" cy="529390"/>
          </a:xfrm>
          <a:custGeom>
            <a:avLst/>
            <a:gdLst>
              <a:gd name="connsiteX0" fmla="*/ 0 w 2574758"/>
              <a:gd name="connsiteY0" fmla="*/ 0 h 637674"/>
              <a:gd name="connsiteX1" fmla="*/ 2574758 w 2574758"/>
              <a:gd name="connsiteY1" fmla="*/ 0 h 637674"/>
              <a:gd name="connsiteX2" fmla="*/ 1680828 w 2574758"/>
              <a:gd name="connsiteY2" fmla="*/ 637674 h 637674"/>
              <a:gd name="connsiteX3" fmla="*/ 1680828 w 2574758"/>
              <a:gd name="connsiteY3" fmla="*/ 238624 h 637674"/>
              <a:gd name="connsiteX4" fmla="*/ 0 w 2574758"/>
              <a:gd name="connsiteY4" fmla="*/ 238624 h 637674"/>
            </a:gdLst>
            <a:ahLst/>
            <a:cxnLst/>
            <a:rect l="l" t="t" r="r" b="b"/>
            <a:pathLst>
              <a:path w="2574758" h="637674">
                <a:moveTo>
                  <a:pt x="0" y="0"/>
                </a:moveTo>
                <a:lnTo>
                  <a:pt x="2574758" y="0"/>
                </a:lnTo>
                <a:lnTo>
                  <a:pt x="1680828" y="637674"/>
                </a:lnTo>
                <a:lnTo>
                  <a:pt x="1680828" y="238624"/>
                </a:lnTo>
                <a:lnTo>
                  <a:pt x="0" y="238624"/>
                </a:lnTo>
                <a:close/>
              </a:path>
            </a:pathLst>
          </a:cu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1271270" y="5172075"/>
            <a:ext cx="9585325" cy="1520190"/>
          </a:xfrm>
          <a:prstGeom prst="rect">
            <a:avLst/>
          </a:prstGeom>
          <a:noFill/>
          <a:ln cap="sq">
            <a:noFill/>
          </a:ln>
        </p:spPr>
        <p:txBody>
          <a:bodyPr vert="horz" wrap="square" lIns="0" tIns="0" rIns="0" bIns="0" rtlCol="0" anchor="t"/>
          <a:lstStyle/>
          <a:p>
            <a:pPr algn="l">
              <a:lnSpc>
                <a:spcPct val="150000"/>
              </a:lnSpc>
            </a:pPr>
            <a:r>
              <a:rPr kumimoji="1" lang="en-US" altLang="zh-CN" sz="12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Researchers must strive to avoid bias in their observations and interpretations. This involves recognizing their own cultural assumptions and being mindful of how these might influence their research.
</a:t>
            </a:r>
            <a:endParaRPr kumimoji="1" lang="en-US" altLang="zh-CN" sz="12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endParaRPr>
          </a:p>
          <a:p>
            <a:pPr algn="l">
              <a:lnSpc>
                <a:spcPct val="150000"/>
              </a:lnSpc>
            </a:pPr>
            <a:r>
              <a:rPr kumimoji="1" lang="en-US" altLang="zh-CN" sz="12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When analyzing field notes, researchers should critically reflect on their own perspectives and consider multiple viewpoints. This helps ensure that the findings are objective and accurately represent the cultural context being studied.</a:t>
            </a:r>
            <a:endParaRPr kumimoji="1" lang="zh-CN" altLang="en-US" sz="1200"/>
          </a:p>
        </p:txBody>
      </p:sp>
      <p:sp>
        <p:nvSpPr>
          <p:cNvPr id="7" name="标题 1"/>
          <p:cNvSpPr txBox="1"/>
          <p:nvPr/>
        </p:nvSpPr>
        <p:spPr>
          <a:xfrm>
            <a:off x="1271267" y="4089832"/>
            <a:ext cx="9570956" cy="429128"/>
          </a:xfrm>
          <a:prstGeom prst="rect">
            <a:avLst/>
          </a:prstGeom>
          <a:noFill/>
          <a:ln cap="sq">
            <a:noFill/>
          </a:ln>
        </p:spPr>
        <p:txBody>
          <a:bodyPr vert="horz" wrap="square" lIns="0" tIns="0" rIns="0" bIns="0" rtlCol="0" anchor="b"/>
          <a:lstStyle/>
          <a:p>
            <a:pPr algn="l">
              <a:lnSpc>
                <a:spcPct val="150000"/>
              </a:lnSpc>
            </a:pPr>
            <a:r>
              <a:rPr kumimoji="1" lang="en-US" altLang="zh-CN" sz="1600">
                <a:ln w="12700">
                  <a:noFill/>
                </a:ln>
                <a:solidFill>
                  <a:srgbClr val="5BD1D7">
                    <a:alpha val="100000"/>
                  </a:srgbClr>
                </a:solidFill>
                <a:latin typeface="Source Han Sans CN Bold" panose="020B0800000000000000" charset="-122"/>
                <a:ea typeface="Source Han Sans CN Bold" panose="020B0800000000000000" charset="-122"/>
                <a:cs typeface="Source Han Sans CN Bold" panose="020B0800000000000000" charset="-122"/>
              </a:rPr>
              <a:t>Avoiding Bias</a:t>
            </a:r>
            <a:endParaRPr kumimoji="1" lang="zh-CN" altLang="en-US"/>
          </a:p>
        </p:txBody>
      </p:sp>
      <p:sp>
        <p:nvSpPr>
          <p:cNvPr id="8" name="标题 1"/>
          <p:cNvSpPr txBox="1"/>
          <p:nvPr/>
        </p:nvSpPr>
        <p:spPr>
          <a:xfrm>
            <a:off x="783520" y="46704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Cultural Sensitivity and Bias</a:t>
            </a:r>
            <a:endParaRPr kumimoji="1" lang="zh-CN" altLang="en-US"/>
          </a:p>
        </p:txBody>
      </p:sp>
      <p:grpSp>
        <p:nvGrpSpPr>
          <p:cNvPr id="9" name="组合 8"/>
          <p:cNvGrpSpPr/>
          <p:nvPr/>
        </p:nvGrpSpPr>
        <p:grpSpPr>
          <a:xfrm>
            <a:off x="176306" y="376135"/>
            <a:ext cx="484094" cy="470981"/>
            <a:chOff x="176306" y="376135"/>
            <a:chExt cx="484094" cy="470981"/>
          </a:xfrm>
        </p:grpSpPr>
        <p:sp>
          <p:nvSpPr>
            <p:cNvPr id="10" name="标题 1"/>
            <p:cNvSpPr txBox="1"/>
            <p:nvPr/>
          </p:nvSpPr>
          <p:spPr>
            <a:xfrm>
              <a:off x="176306" y="473900"/>
              <a:ext cx="373217" cy="373216"/>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409081" y="376135"/>
              <a:ext cx="251319" cy="251319"/>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rot="5400000">
            <a:off x="2632202" y="-2707511"/>
            <a:ext cx="6858004" cy="12273026"/>
          </a:xfrm>
          <a:prstGeom prst="rect">
            <a:avLst/>
          </a:prstGeom>
          <a:gradFill>
            <a:gsLst>
              <a:gs pos="0">
                <a:schemeClr val="accent1">
                  <a:lumMod val="60000"/>
                  <a:lumOff val="40000"/>
                </a:schemeClr>
              </a:gs>
              <a:gs pos="100000">
                <a:schemeClr val="accent1">
                  <a:lumMod val="20000"/>
                  <a:lumOff val="80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grpSp>
        <p:nvGrpSpPr>
          <p:cNvPr id="3" name="组合 2"/>
          <p:cNvGrpSpPr/>
          <p:nvPr/>
        </p:nvGrpSpPr>
        <p:grpSpPr>
          <a:xfrm>
            <a:off x="-615366" y="1130300"/>
            <a:ext cx="4543428" cy="5192431"/>
            <a:chOff x="-615366" y="1130300"/>
            <a:chExt cx="4543428" cy="5192431"/>
          </a:xfrm>
        </p:grpSpPr>
        <p:sp>
          <p:nvSpPr>
            <p:cNvPr id="4" name="标题 1"/>
            <p:cNvSpPr txBox="1"/>
            <p:nvPr/>
          </p:nvSpPr>
          <p:spPr>
            <a:xfrm rot="16200000" flipH="1">
              <a:off x="-719143" y="2575163"/>
              <a:ext cx="1504761" cy="1297208"/>
            </a:xfrm>
            <a:prstGeom prst="hexagon">
              <a:avLst/>
            </a:prstGeom>
            <a:solidFill>
              <a:schemeClr val="accent1">
                <a:lumMod val="7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rot="16200000" flipH="1">
              <a:off x="576998" y="2575163"/>
              <a:ext cx="1504761" cy="1297208"/>
            </a:xfrm>
            <a:prstGeom prst="hexagon">
              <a:avLst/>
            </a:prstGeom>
            <a:solidFill>
              <a:schemeClr val="accent1">
                <a:lumMod val="40000"/>
                <a:lumOff val="6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rot="16200000" flipH="1">
              <a:off x="1225603" y="3744357"/>
              <a:ext cx="1504761" cy="1297208"/>
            </a:xfrm>
            <a:prstGeom prst="hexag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rot="16200000" flipH="1">
              <a:off x="2527078" y="3748624"/>
              <a:ext cx="1504761" cy="1297208"/>
            </a:xfrm>
            <a:prstGeom prst="hexagon">
              <a:avLst/>
            </a:prstGeom>
            <a:solidFill>
              <a:schemeClr val="accent1">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rot="16200000" flipH="1">
              <a:off x="-719143" y="4921746"/>
              <a:ext cx="1504761" cy="1297208"/>
            </a:xfrm>
            <a:prstGeom prst="hexag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grpSp>
          <p:nvGrpSpPr>
            <p:cNvPr id="9" name="组合 8"/>
            <p:cNvGrpSpPr/>
            <p:nvPr/>
          </p:nvGrpSpPr>
          <p:grpSpPr>
            <a:xfrm>
              <a:off x="1927722" y="2453090"/>
              <a:ext cx="1378284" cy="388004"/>
              <a:chOff x="1927722" y="2453090"/>
              <a:chExt cx="1378284" cy="388004"/>
            </a:xfrm>
          </p:grpSpPr>
          <p:sp>
            <p:nvSpPr>
              <p:cNvPr id="10" name="标题 1"/>
              <p:cNvSpPr txBox="1"/>
              <p:nvPr/>
            </p:nvSpPr>
            <p:spPr>
              <a:xfrm>
                <a:off x="1927722" y="2738683"/>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3203595" y="2738683"/>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rot="19996967">
                <a:off x="1929925" y="2614851"/>
                <a:ext cx="726780" cy="3024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rot="1603033" flipH="1">
                <a:off x="2565248" y="2614621"/>
                <a:ext cx="725748" cy="3024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grpSp>
          <p:nvGrpSpPr>
            <p:cNvPr id="14" name="组合 13"/>
            <p:cNvGrpSpPr/>
            <p:nvPr/>
          </p:nvGrpSpPr>
          <p:grpSpPr>
            <a:xfrm>
              <a:off x="303299" y="4020857"/>
              <a:ext cx="1469957" cy="1885587"/>
              <a:chOff x="303299" y="4020857"/>
              <a:chExt cx="1469957" cy="1885587"/>
            </a:xfrm>
          </p:grpSpPr>
          <p:sp>
            <p:nvSpPr>
              <p:cNvPr id="15" name="标题 1"/>
              <p:cNvSpPr txBox="1"/>
              <p:nvPr/>
            </p:nvSpPr>
            <p:spPr>
              <a:xfrm rot="6986950">
                <a:off x="873289" y="4551830"/>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rot="6986950">
                <a:off x="320746" y="5786585"/>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rot="4874959">
                <a:off x="627423" y="4971094"/>
                <a:ext cx="726780" cy="3024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rot="8589983" flipH="1">
                <a:off x="319709" y="5558523"/>
                <a:ext cx="816467" cy="3024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rot="20960850" flipH="1">
                <a:off x="1662261" y="5600282"/>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rot="1472841" flipH="1">
                <a:off x="1003880" y="5468830"/>
                <a:ext cx="726780" cy="3024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rot="8573900">
                <a:off x="867480" y="4318598"/>
                <a:ext cx="823013" cy="38403"/>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rot="6986950">
                <a:off x="1552252" y="4038304"/>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pic>
          <p:nvPicPr>
            <p:cNvPr id="23" name="图片 22"/>
            <p:cNvPicPr>
              <a:picLocks noChangeAspect="1"/>
            </p:cNvPicPr>
            <p:nvPr/>
          </p:nvPicPr>
          <p:blipFill>
            <a:blip r:embed="rId1">
              <a:alphaModFix amt="100000"/>
            </a:blip>
            <a:srcRect/>
            <a:stretch>
              <a:fillRect/>
            </a:stretch>
          </p:blipFill>
          <p:spPr>
            <a:xfrm flipH="1">
              <a:off x="1586352" y="4026289"/>
              <a:ext cx="716878" cy="836358"/>
            </a:xfrm>
            <a:prstGeom prst="rect">
              <a:avLst/>
            </a:prstGeom>
            <a:noFill/>
            <a:ln>
              <a:noFill/>
            </a:ln>
          </p:spPr>
        </p:pic>
        <p:sp>
          <p:nvSpPr>
            <p:cNvPr id="24" name="标题 1"/>
            <p:cNvSpPr txBox="1"/>
            <p:nvPr/>
          </p:nvSpPr>
          <p:spPr>
            <a:xfrm rot="16200000" flipH="1">
              <a:off x="1715115" y="2441694"/>
              <a:ext cx="1814410" cy="1564148"/>
            </a:xfrm>
            <a:prstGeom prst="hexagon">
              <a:avLst/>
            </a:prstGeom>
            <a:solidFill>
              <a:schemeClr val="accent1">
                <a:lumMod val="75000"/>
              </a:schemeClr>
            </a:solidFill>
            <a:ln w="12700" cap="sq">
              <a:noFill/>
              <a:miter/>
            </a:ln>
            <a:effectLst>
              <a:outerShdw blurRad="254000" dist="114300" dir="2700000" algn="tl" rotWithShape="0">
                <a:schemeClr val="accent1">
                  <a:lumMod val="50000"/>
                  <a:alpha val="30000"/>
                </a:schemeClr>
              </a:outerShdw>
            </a:effectLst>
          </p:spPr>
          <p:txBody>
            <a:bodyPr vert="horz" wrap="square" lIns="91440" tIns="45720" rIns="91440" bIns="45720" rtlCol="0" anchor="ctr"/>
            <a:lstStyle/>
            <a:p>
              <a:pPr algn="ctr">
                <a:lnSpc>
                  <a:spcPct val="110000"/>
                </a:lnSpc>
              </a:pPr>
              <a:endParaRPr kumimoji="1" lang="zh-CN" altLang="en-US"/>
            </a:p>
          </p:txBody>
        </p:sp>
        <p:grpSp>
          <p:nvGrpSpPr>
            <p:cNvPr id="25" name="组合 24"/>
            <p:cNvGrpSpPr/>
            <p:nvPr/>
          </p:nvGrpSpPr>
          <p:grpSpPr>
            <a:xfrm>
              <a:off x="2156570" y="2846391"/>
              <a:ext cx="1732412" cy="752572"/>
              <a:chOff x="2156570" y="2846391"/>
              <a:chExt cx="1732412" cy="752572"/>
            </a:xfrm>
          </p:grpSpPr>
          <p:sp>
            <p:nvSpPr>
              <p:cNvPr id="26" name="标题 1"/>
              <p:cNvSpPr txBox="1"/>
              <p:nvPr/>
            </p:nvSpPr>
            <p:spPr>
              <a:xfrm rot="6986950">
                <a:off x="2939726" y="3479104"/>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7" name="标题 1"/>
              <p:cNvSpPr txBox="1"/>
              <p:nvPr/>
            </p:nvSpPr>
            <p:spPr>
              <a:xfrm rot="8589983" flipH="1">
                <a:off x="2873635" y="3199613"/>
                <a:ext cx="1060142" cy="38403"/>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8" name="标题 1"/>
              <p:cNvSpPr txBox="1"/>
              <p:nvPr/>
            </p:nvSpPr>
            <p:spPr>
              <a:xfrm rot="12331924" flipH="1">
                <a:off x="2185835" y="3327510"/>
                <a:ext cx="868088" cy="38403"/>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9" name="标题 1"/>
              <p:cNvSpPr txBox="1"/>
              <p:nvPr/>
            </p:nvSpPr>
            <p:spPr>
              <a:xfrm rot="6986950">
                <a:off x="2174017" y="3103230"/>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0" name="标题 1"/>
              <p:cNvSpPr txBox="1"/>
              <p:nvPr/>
            </p:nvSpPr>
            <p:spPr>
              <a:xfrm rot="6986950">
                <a:off x="3769124" y="2863838"/>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pic>
          <p:nvPicPr>
            <p:cNvPr id="31" name="图片 30"/>
            <p:cNvPicPr>
              <a:picLocks noChangeAspect="1"/>
            </p:cNvPicPr>
            <p:nvPr/>
          </p:nvPicPr>
          <p:blipFill>
            <a:blip r:embed="rId2">
              <a:alphaModFix amt="100000"/>
            </a:blip>
            <a:srcRect/>
            <a:stretch>
              <a:fillRect/>
            </a:stretch>
          </p:blipFill>
          <p:spPr>
            <a:xfrm flipH="1">
              <a:off x="2137647" y="2722406"/>
              <a:ext cx="921701" cy="1024106"/>
            </a:xfrm>
            <a:prstGeom prst="rect">
              <a:avLst/>
            </a:prstGeom>
            <a:noFill/>
            <a:ln>
              <a:noFill/>
            </a:ln>
          </p:spPr>
        </p:pic>
        <p:pic>
          <p:nvPicPr>
            <p:cNvPr id="32" name="图片 31"/>
            <p:cNvPicPr>
              <a:picLocks noChangeAspect="1"/>
            </p:cNvPicPr>
            <p:nvPr/>
          </p:nvPicPr>
          <p:blipFill>
            <a:blip r:embed="rId3">
              <a:alphaModFix amt="100000"/>
            </a:blip>
            <a:srcRect/>
            <a:stretch>
              <a:fillRect/>
            </a:stretch>
          </p:blipFill>
          <p:spPr>
            <a:xfrm flipH="1">
              <a:off x="-292341" y="2823478"/>
              <a:ext cx="657557" cy="774975"/>
            </a:xfrm>
            <a:prstGeom prst="rect">
              <a:avLst/>
            </a:prstGeom>
            <a:noFill/>
            <a:ln>
              <a:noFill/>
            </a:ln>
          </p:spPr>
        </p:pic>
        <p:sp>
          <p:nvSpPr>
            <p:cNvPr id="33" name="标题 1"/>
            <p:cNvSpPr txBox="1"/>
            <p:nvPr/>
          </p:nvSpPr>
          <p:spPr>
            <a:xfrm rot="16200000" flipH="1">
              <a:off x="-220030" y="1255431"/>
              <a:ext cx="1814410" cy="1564147"/>
            </a:xfrm>
            <a:prstGeom prst="hexagon">
              <a:avLst/>
            </a:prstGeom>
            <a:solidFill>
              <a:schemeClr val="accent1"/>
            </a:solidFill>
            <a:ln w="12700" cap="sq">
              <a:noFill/>
              <a:miter/>
            </a:ln>
            <a:effectLst>
              <a:outerShdw blurRad="254000" dist="114300" dir="2700000" algn="tl" rotWithShape="0">
                <a:schemeClr val="accent1">
                  <a:lumMod val="50000"/>
                  <a:alpha val="30000"/>
                </a:schemeClr>
              </a:outerShdw>
            </a:effectLst>
          </p:spPr>
          <p:txBody>
            <a:bodyPr vert="horz" wrap="square" lIns="91440" tIns="45720" rIns="91440" bIns="45720" rtlCol="0" anchor="ctr"/>
            <a:lstStyle/>
            <a:p>
              <a:pPr algn="ctr">
                <a:lnSpc>
                  <a:spcPct val="110000"/>
                </a:lnSpc>
              </a:pPr>
              <a:endParaRPr kumimoji="1" lang="zh-CN" altLang="en-US"/>
            </a:p>
          </p:txBody>
        </p:sp>
        <p:grpSp>
          <p:nvGrpSpPr>
            <p:cNvPr id="34" name="组合 33"/>
            <p:cNvGrpSpPr/>
            <p:nvPr/>
          </p:nvGrpSpPr>
          <p:grpSpPr>
            <a:xfrm>
              <a:off x="-110640" y="1447861"/>
              <a:ext cx="1751984" cy="1617185"/>
              <a:chOff x="-110640" y="1447861"/>
              <a:chExt cx="1751984" cy="1617185"/>
            </a:xfrm>
          </p:grpSpPr>
          <p:sp>
            <p:nvSpPr>
              <p:cNvPr id="35" name="标题 1"/>
              <p:cNvSpPr txBox="1"/>
              <p:nvPr/>
            </p:nvSpPr>
            <p:spPr>
              <a:xfrm rot="6986950">
                <a:off x="1371196" y="1465309"/>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6" name="标题 1"/>
              <p:cNvSpPr txBox="1"/>
              <p:nvPr/>
            </p:nvSpPr>
            <p:spPr>
              <a:xfrm rot="6986950">
                <a:off x="719152" y="2945188"/>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7" name="标题 1"/>
              <p:cNvSpPr txBox="1"/>
              <p:nvPr/>
            </p:nvSpPr>
            <p:spPr>
              <a:xfrm rot="4874959">
                <a:off x="1054835" y="1921454"/>
                <a:ext cx="875537" cy="38403"/>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8" name="标题 1"/>
              <p:cNvSpPr txBox="1"/>
              <p:nvPr/>
            </p:nvSpPr>
            <p:spPr>
              <a:xfrm rot="8589983" flipH="1">
                <a:off x="689621" y="2659356"/>
                <a:ext cx="985521" cy="38403"/>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9" name="标题 1"/>
              <p:cNvSpPr txBox="1"/>
              <p:nvPr/>
            </p:nvSpPr>
            <p:spPr>
              <a:xfrm rot="12331924" flipH="1">
                <a:off x="-114620" y="2785586"/>
                <a:ext cx="968726" cy="38403"/>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0" name="标题 1"/>
              <p:cNvSpPr txBox="1"/>
              <p:nvPr/>
            </p:nvSpPr>
            <p:spPr>
              <a:xfrm rot="6986950">
                <a:off x="-93193" y="2553759"/>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1" name="标题 1"/>
              <p:cNvSpPr txBox="1"/>
              <p:nvPr/>
            </p:nvSpPr>
            <p:spPr>
              <a:xfrm rot="6986950">
                <a:off x="1521485" y="2338350"/>
                <a:ext cx="102411" cy="102411"/>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pic>
          <p:nvPicPr>
            <p:cNvPr id="42" name="图片 41"/>
            <p:cNvPicPr>
              <a:picLocks noChangeAspect="1"/>
            </p:cNvPicPr>
            <p:nvPr/>
          </p:nvPicPr>
          <p:blipFill>
            <a:blip r:embed="rId4">
              <a:alphaModFix amt="100000"/>
            </a:blip>
            <a:srcRect/>
            <a:stretch>
              <a:fillRect/>
            </a:stretch>
          </p:blipFill>
          <p:spPr>
            <a:xfrm flipH="1">
              <a:off x="158996" y="1525755"/>
              <a:ext cx="1024112" cy="1024103"/>
            </a:xfrm>
            <a:prstGeom prst="rect">
              <a:avLst/>
            </a:prstGeom>
            <a:noFill/>
            <a:ln>
              <a:noFill/>
            </a:ln>
          </p:spPr>
        </p:pic>
        <p:pic>
          <p:nvPicPr>
            <p:cNvPr id="43" name="图片 42"/>
            <p:cNvPicPr>
              <a:picLocks noChangeAspect="1"/>
            </p:cNvPicPr>
            <p:nvPr/>
          </p:nvPicPr>
          <p:blipFill>
            <a:blip r:embed="rId5">
              <a:alphaModFix amt="100000"/>
            </a:blip>
            <a:srcRect/>
            <a:stretch>
              <a:fillRect/>
            </a:stretch>
          </p:blipFill>
          <p:spPr>
            <a:xfrm flipH="1">
              <a:off x="2959423" y="4041634"/>
              <a:ext cx="640072" cy="711188"/>
            </a:xfrm>
            <a:prstGeom prst="rect">
              <a:avLst/>
            </a:prstGeom>
            <a:noFill/>
            <a:ln>
              <a:noFill/>
            </a:ln>
          </p:spPr>
        </p:pic>
      </p:grpSp>
      <p:pic>
        <p:nvPicPr>
          <p:cNvPr id="44" name="图片 43"/>
          <p:cNvPicPr>
            <a:picLocks noChangeAspect="1"/>
          </p:cNvPicPr>
          <p:nvPr/>
        </p:nvPicPr>
        <p:blipFill>
          <a:blip r:embed="rId6">
            <a:alphaModFix amt="100000"/>
          </a:blip>
          <a:srcRect/>
          <a:stretch>
            <a:fillRect/>
          </a:stretch>
        </p:blipFill>
        <p:spPr>
          <a:xfrm rot="20126527" flipH="1">
            <a:off x="-400643" y="5186680"/>
            <a:ext cx="801284" cy="924560"/>
          </a:xfrm>
          <a:prstGeom prst="rect">
            <a:avLst/>
          </a:prstGeom>
          <a:noFill/>
          <a:ln>
            <a:noFill/>
          </a:ln>
        </p:spPr>
      </p:pic>
      <p:sp>
        <p:nvSpPr>
          <p:cNvPr id="45" name="标题 1"/>
          <p:cNvSpPr txBox="1"/>
          <p:nvPr/>
        </p:nvSpPr>
        <p:spPr>
          <a:xfrm>
            <a:off x="2628900" y="1477235"/>
            <a:ext cx="2932415" cy="3170965"/>
          </a:xfrm>
          <a:prstGeom prst="rect">
            <a:avLst/>
          </a:prstGeom>
          <a:noFill/>
          <a:ln w="12700" cap="sq">
            <a:noFill/>
            <a:miter/>
          </a:ln>
        </p:spPr>
        <p:txBody>
          <a:bodyPr vert="horz" wrap="square" lIns="0" tIns="0" rIns="0" bIns="0" rtlCol="0" anchor="ctr"/>
          <a:lstStyle/>
          <a:p>
            <a:pPr algn="r">
              <a:lnSpc>
                <a:spcPct val="120000"/>
              </a:lnSpc>
            </a:pPr>
            <a:r>
              <a:rPr kumimoji="1" lang="en-US" altLang="zh-CN" sz="9600">
                <a:ln w="12700">
                  <a:noFill/>
                </a:ln>
                <a:solidFill>
                  <a:srgbClr val="2DB2B8">
                    <a:alpha val="100000"/>
                  </a:srgbClr>
                </a:solidFill>
                <a:latin typeface="OPPOSans H" panose="00020600040101010101" charset="-122"/>
                <a:ea typeface="OPPOSans H" panose="00020600040101010101" charset="-122"/>
                <a:cs typeface="OPPOSans H" panose="00020600040101010101" charset="-122"/>
              </a:rPr>
              <a:t>04</a:t>
            </a:r>
            <a:endParaRPr kumimoji="1" lang="zh-CN" altLang="en-US"/>
          </a:p>
        </p:txBody>
      </p:sp>
      <p:sp>
        <p:nvSpPr>
          <p:cNvPr id="46" name="标题 1"/>
          <p:cNvSpPr txBox="1"/>
          <p:nvPr/>
        </p:nvSpPr>
        <p:spPr>
          <a:xfrm>
            <a:off x="5808345" y="1485266"/>
            <a:ext cx="5206839" cy="3174999"/>
          </a:xfrm>
          <a:prstGeom prst="rect">
            <a:avLst/>
          </a:prstGeom>
          <a:noFill/>
          <a:ln w="12700" cap="sq">
            <a:noFill/>
            <a:miter/>
          </a:ln>
        </p:spPr>
        <p:txBody>
          <a:bodyPr vert="horz" wrap="square" lIns="0" tIns="0" rIns="0" bIns="0" rtlCol="0" anchor="ctr"/>
          <a:lstStyle/>
          <a:p>
            <a:pPr algn="l">
              <a:lnSpc>
                <a:spcPct val="130000"/>
              </a:lnSpc>
            </a:pPr>
            <a:r>
              <a:rPr kumimoji="1" lang="en-US" altLang="zh-CN" sz="4000">
                <a:ln w="12700">
                  <a:noFill/>
                </a:ln>
                <a:solidFill>
                  <a:srgbClr val="348498">
                    <a:alpha val="100000"/>
                  </a:srgbClr>
                </a:solidFill>
                <a:latin typeface="Malgun Gothic" panose="020B0503020000020004" charset="-127"/>
                <a:ea typeface="Malgun Gothic" panose="020B0503020000020004" charset="-127"/>
                <a:cs typeface="OPPOSans H" panose="00020600040101010101" charset="-122"/>
              </a:rPr>
              <a:t>In-Class Simulated Fieldwork Activities</a:t>
            </a:r>
            <a:endParaRPr kumimoji="1" lang="zh-CN" altLang="en-US">
              <a:latin typeface="Malgun Gothic" panose="020B0503020000020004" charset="-127"/>
              <a:ea typeface="Malgun Gothic" panose="020B0503020000020004" charset="-127"/>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660400" y="1950238"/>
            <a:ext cx="453863" cy="453863"/>
          </a:xfrm>
          <a:prstGeom prst="halfFrame">
            <a:avLst>
              <a:gd name="adj1" fmla="val 14215"/>
              <a:gd name="adj2" fmla="val 15686"/>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887095" y="2153920"/>
            <a:ext cx="4563745" cy="3818890"/>
          </a:xfrm>
          <a:prstGeom prst="rect">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887331" y="2153808"/>
            <a:ext cx="4563842" cy="545802"/>
          </a:xfrm>
          <a:prstGeom prst="rect">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1114262" y="2774009"/>
            <a:ext cx="4109977" cy="2111690"/>
          </a:xfrm>
          <a:prstGeom prst="rect">
            <a:avLst/>
          </a:prstGeom>
          <a:noFill/>
          <a:ln>
            <a:noFill/>
          </a:ln>
        </p:spPr>
        <p:txBody>
          <a:bodyPr vert="horz" wrap="square" lIns="0" tIns="0" rIns="0" bIns="0" rtlCol="0" anchor="t"/>
          <a:lstStyle/>
          <a:p>
            <a:pPr algn="l">
              <a:lnSpc>
                <a:spcPct val="150000"/>
              </a:lnSpc>
            </a:pPr>
            <a:r>
              <a:rPr kumimoji="1" lang="en-US" altLang="zh-CN" sz="12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Students participate in role- playing scenarios that simulate intercultural interactions in Guangzhou. These scenarios can include interactions at a local market, a business meeting, or a social gathering.
</a:t>
            </a:r>
            <a:endParaRPr kumimoji="1" lang="en-US" altLang="zh-CN" sz="12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endParaRPr>
          </a:p>
          <a:p>
            <a:pPr algn="l">
              <a:lnSpc>
                <a:spcPct val="150000"/>
              </a:lnSpc>
            </a:pPr>
            <a:r>
              <a:rPr kumimoji="1" lang="en-US" altLang="zh-CN" sz="12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Students can role- play a conversation between a local vendor and an international tourist, focusing on non- verbal communication, language use, and cultural symbols. This activity helps students practice observing and recording intercultural dynamics.</a:t>
            </a:r>
            <a:endParaRPr kumimoji="1" lang="zh-CN" altLang="en-US" sz="1200"/>
          </a:p>
        </p:txBody>
      </p:sp>
      <p:sp>
        <p:nvSpPr>
          <p:cNvPr id="7" name="标题 1"/>
          <p:cNvSpPr txBox="1"/>
          <p:nvPr/>
        </p:nvSpPr>
        <p:spPr>
          <a:xfrm>
            <a:off x="1115798" y="2164119"/>
            <a:ext cx="4090900" cy="545802"/>
          </a:xfrm>
          <a:prstGeom prst="rect">
            <a:avLst/>
          </a:prstGeom>
          <a:noFill/>
          <a:ln>
            <a:noFill/>
          </a:ln>
        </p:spPr>
        <p:txBody>
          <a:bodyPr vert="horz" wrap="square" lIns="0" tIns="0" rIns="0" bIns="0" rtlCol="0" anchor="ctr"/>
          <a:lstStyle/>
          <a:p>
            <a:pPr algn="ctr">
              <a:lnSpc>
                <a:spcPct val="150000"/>
              </a:lnSpc>
            </a:pPr>
            <a:r>
              <a:rPr kumimoji="1" lang="en-US" altLang="zh-CN" sz="1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Role-Playing Scenarios</a:t>
            </a:r>
            <a:endParaRPr kumimoji="1" lang="zh-CN" altLang="en-US"/>
          </a:p>
        </p:txBody>
      </p:sp>
      <p:sp>
        <p:nvSpPr>
          <p:cNvPr id="8" name="标题 1"/>
          <p:cNvSpPr txBox="1"/>
          <p:nvPr/>
        </p:nvSpPr>
        <p:spPr>
          <a:xfrm>
            <a:off x="6501196" y="1950238"/>
            <a:ext cx="453863" cy="453863"/>
          </a:xfrm>
          <a:prstGeom prst="halfFrame">
            <a:avLst>
              <a:gd name="adj1" fmla="val 14215"/>
              <a:gd name="adj2" fmla="val 15686"/>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6727825" y="2164080"/>
            <a:ext cx="4563745" cy="3818890"/>
          </a:xfrm>
          <a:prstGeom prst="rect">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6728127" y="2153808"/>
            <a:ext cx="4563842" cy="545802"/>
          </a:xfrm>
          <a:prstGeom prst="rect">
            <a:avLst/>
          </a:pr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a:off x="6955058" y="2774009"/>
            <a:ext cx="4109977" cy="2111690"/>
          </a:xfrm>
          <a:prstGeom prst="rect">
            <a:avLst/>
          </a:prstGeom>
          <a:noFill/>
          <a:ln>
            <a:noFill/>
          </a:ln>
        </p:spPr>
        <p:txBody>
          <a:bodyPr vert="horz" wrap="square" lIns="0" tIns="0" rIns="0" bIns="0" rtlCol="0" anchor="t"/>
          <a:lstStyle/>
          <a:p>
            <a:pPr algn="l">
              <a:lnSpc>
                <a:spcPct val="150000"/>
              </a:lnSpc>
            </a:pPr>
            <a:r>
              <a:rPr kumimoji="1" lang="en-US" altLang="zh-CN" sz="12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Students take detailed field notes during the role- playing scenarios, capturing the context, behaviors, and interactions. These notes will be used to analyze the simulated intercultural interactions.
</a:t>
            </a:r>
            <a:endParaRPr kumimoji="1" lang="en-US" altLang="zh-CN" sz="12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endParaRPr>
          </a:p>
          <a:p>
            <a:pPr algn="l">
              <a:lnSpc>
                <a:spcPct val="150000"/>
              </a:lnSpc>
            </a:pPr>
            <a:r>
              <a:rPr kumimoji="1" lang="en-US" altLang="zh-CN" sz="1200">
                <a:ln w="12700">
                  <a:noFill/>
                </a:ln>
                <a:solidFill>
                  <a:srgbClr val="262626">
                    <a:alpha val="100000"/>
                  </a:srgbClr>
                </a:solidFill>
                <a:latin typeface="Source Han Sans" panose="020B0500000000000000" charset="-122"/>
                <a:ea typeface="Source Han Sans" panose="020B0500000000000000" charset="-122"/>
                <a:cs typeface="Source Han Sans" panose="020B0500000000000000" charset="-122"/>
              </a:rPr>
              <a:t>Students note how participants adapt their communication styles, use gestures, and navigate cultural differences. This exercise helps develop skills in observation and data recording.</a:t>
            </a:r>
            <a:endParaRPr kumimoji="1" lang="zh-CN" altLang="en-US" sz="1200"/>
          </a:p>
        </p:txBody>
      </p:sp>
      <p:sp>
        <p:nvSpPr>
          <p:cNvPr id="13" name="标题 1"/>
          <p:cNvSpPr txBox="1"/>
          <p:nvPr/>
        </p:nvSpPr>
        <p:spPr>
          <a:xfrm>
            <a:off x="6956594" y="2164119"/>
            <a:ext cx="4116300" cy="545802"/>
          </a:xfrm>
          <a:prstGeom prst="rect">
            <a:avLst/>
          </a:prstGeom>
          <a:noFill/>
          <a:ln>
            <a:noFill/>
          </a:ln>
        </p:spPr>
        <p:txBody>
          <a:bodyPr vert="horz" wrap="square" lIns="0" tIns="0" rIns="0" bIns="0" rtlCol="0" anchor="ctr"/>
          <a:lstStyle/>
          <a:p>
            <a:pPr algn="ctr">
              <a:lnSpc>
                <a:spcPct val="150000"/>
              </a:lnSpc>
            </a:pPr>
            <a:r>
              <a:rPr kumimoji="1" lang="en-US" altLang="zh-CN" sz="1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Recording Simulated Observations</a:t>
            </a:r>
            <a:endParaRPr kumimoji="1" lang="zh-CN" altLang="en-US"/>
          </a:p>
        </p:txBody>
      </p:sp>
      <p:sp>
        <p:nvSpPr>
          <p:cNvPr id="14" name="标题 1"/>
          <p:cNvSpPr txBox="1"/>
          <p:nvPr/>
        </p:nvSpPr>
        <p:spPr>
          <a:xfrm>
            <a:off x="783520" y="46704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Simulated Observation of Intercultural Interactions</a:t>
            </a:r>
            <a:endParaRPr kumimoji="1" lang="zh-CN" altLang="en-US"/>
          </a:p>
        </p:txBody>
      </p:sp>
      <p:grpSp>
        <p:nvGrpSpPr>
          <p:cNvPr id="15" name="组合 14"/>
          <p:cNvGrpSpPr/>
          <p:nvPr/>
        </p:nvGrpSpPr>
        <p:grpSpPr>
          <a:xfrm>
            <a:off x="176306" y="376135"/>
            <a:ext cx="484094" cy="470981"/>
            <a:chOff x="176306" y="376135"/>
            <a:chExt cx="484094" cy="470981"/>
          </a:xfrm>
        </p:grpSpPr>
        <p:sp>
          <p:nvSpPr>
            <p:cNvPr id="16" name="标题 1"/>
            <p:cNvSpPr txBox="1"/>
            <p:nvPr/>
          </p:nvSpPr>
          <p:spPr>
            <a:xfrm>
              <a:off x="176306" y="473900"/>
              <a:ext cx="373217" cy="373216"/>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409081" y="376135"/>
              <a:ext cx="251319" cy="251319"/>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flipV="1">
            <a:off x="8705945" y="1"/>
            <a:ext cx="4162330" cy="3490910"/>
          </a:xfrm>
          <a:custGeom>
            <a:avLst/>
            <a:gdLst>
              <a:gd name="connsiteX0" fmla="*/ 0 w 4162330"/>
              <a:gd name="connsiteY0" fmla="*/ 3490910 h 3490910"/>
              <a:gd name="connsiteX1" fmla="*/ 4162330 w 4162330"/>
              <a:gd name="connsiteY1" fmla="*/ 3490910 h 3490910"/>
              <a:gd name="connsiteX2" fmla="*/ 4162330 w 4162330"/>
              <a:gd name="connsiteY2" fmla="*/ 2172685 h 3490910"/>
              <a:gd name="connsiteX3" fmla="*/ 1989645 w 4162330"/>
              <a:gd name="connsiteY3" fmla="*/ 0 h 3490910"/>
              <a:gd name="connsiteX4" fmla="*/ 0 w 4162330"/>
              <a:gd name="connsiteY4" fmla="*/ 0 h 3490910"/>
            </a:gdLst>
            <a:ahLst/>
            <a:cxnLst/>
            <a:rect l="l" t="t" r="r" b="b"/>
            <a:pathLst>
              <a:path w="4162330" h="3490910">
                <a:moveTo>
                  <a:pt x="0" y="3490910"/>
                </a:moveTo>
                <a:lnTo>
                  <a:pt x="4162330" y="3490910"/>
                </a:lnTo>
                <a:lnTo>
                  <a:pt x="4162330" y="2172685"/>
                </a:lnTo>
                <a:cubicBezTo>
                  <a:pt x="4162330" y="972744"/>
                  <a:pt x="3189587" y="0"/>
                  <a:pt x="1989645" y="0"/>
                </a:cubicBezTo>
                <a:lnTo>
                  <a:pt x="0" y="0"/>
                </a:lnTo>
                <a:close/>
              </a:path>
            </a:pathLst>
          </a:custGeom>
          <a:solidFill>
            <a:schemeClr val="accent1">
              <a:alpha val="20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pic>
        <p:nvPicPr>
          <p:cNvPr id="3" name="图片 2"/>
          <p:cNvPicPr>
            <a:picLocks noChangeAspect="1"/>
          </p:cNvPicPr>
          <p:nvPr/>
        </p:nvPicPr>
        <p:blipFill>
          <a:blip r:embed="rId1">
            <a:alphaModFix amt="100000"/>
          </a:blip>
          <a:srcRect l="52830" t="1886" r="3656" b="2867"/>
          <a:stretch>
            <a:fillRect/>
          </a:stretch>
        </p:blipFill>
        <p:spPr>
          <a:xfrm>
            <a:off x="8464550" y="1264285"/>
            <a:ext cx="3611245" cy="5581015"/>
          </a:xfrm>
          <a:custGeom>
            <a:avLst/>
            <a:gdLst/>
            <a:ahLst/>
            <a:cxnLst/>
            <a:rect l="l" t="t" r="r" b="b"/>
            <a:pathLst>
              <a:path w="3819429" h="5581314">
                <a:moveTo>
                  <a:pt x="0" y="0"/>
                </a:moveTo>
                <a:lnTo>
                  <a:pt x="1825735" y="0"/>
                </a:lnTo>
                <a:cubicBezTo>
                  <a:pt x="2926822" y="0"/>
                  <a:pt x="3819429" y="892607"/>
                  <a:pt x="3819429" y="1993695"/>
                </a:cubicBezTo>
                <a:lnTo>
                  <a:pt x="3819429" y="5581314"/>
                </a:lnTo>
                <a:lnTo>
                  <a:pt x="0" y="5581314"/>
                </a:lnTo>
                <a:close/>
              </a:path>
            </a:pathLst>
          </a:custGeom>
          <a:noFill/>
          <a:ln>
            <a:noFill/>
          </a:ln>
        </p:spPr>
      </p:pic>
      <p:sp>
        <p:nvSpPr>
          <p:cNvPr id="4" name="标题 1"/>
          <p:cNvSpPr txBox="1"/>
          <p:nvPr/>
        </p:nvSpPr>
        <p:spPr>
          <a:xfrm>
            <a:off x="695325" y="1557020"/>
            <a:ext cx="3870960" cy="4551045"/>
          </a:xfrm>
          <a:prstGeom prst="roundRect">
            <a:avLst>
              <a:gd name="adj" fmla="val 6682"/>
            </a:avLst>
          </a:prstGeom>
          <a:solidFill>
            <a:schemeClr val="bg1"/>
          </a:solidFill>
          <a:ln w="3175" cap="sq">
            <a:solidFill>
              <a:schemeClr val="accent1"/>
            </a:solidFill>
          </a:ln>
          <a:effectLst>
            <a:outerShdw blurRad="254000" sx="109000" sy="109000" algn="ctr" rotWithShape="0">
              <a:schemeClr val="accent1">
                <a:alpha val="5000"/>
              </a:schemeClr>
            </a:outerShdw>
          </a:effectLst>
        </p:spPr>
        <p:txBody>
          <a:bodyPr vert="horz" wrap="square" lIns="91440" tIns="45720" rIns="91440" bIns="45720" rtlCol="0" anchor="t"/>
          <a:lstStyle/>
          <a:p>
            <a:pPr algn="l">
              <a:lnSpc>
                <a:spcPct val="110000"/>
              </a:lnSpc>
            </a:pPr>
            <a:endParaRPr kumimoji="1" lang="zh-CN" altLang="en-US"/>
          </a:p>
        </p:txBody>
      </p:sp>
      <p:sp>
        <p:nvSpPr>
          <p:cNvPr id="5" name="标题 1"/>
          <p:cNvSpPr txBox="1"/>
          <p:nvPr/>
        </p:nvSpPr>
        <p:spPr>
          <a:xfrm>
            <a:off x="4867275" y="1557020"/>
            <a:ext cx="3521075" cy="4516120"/>
          </a:xfrm>
          <a:prstGeom prst="roundRect">
            <a:avLst>
              <a:gd name="adj" fmla="val 6682"/>
            </a:avLst>
          </a:prstGeom>
          <a:solidFill>
            <a:schemeClr val="accent1"/>
          </a:solidFill>
          <a:ln cap="sq">
            <a:noFill/>
            <a:prstDash val="solid"/>
          </a:ln>
          <a:effectLst>
            <a:outerShdw blurRad="254000" sx="109000" sy="109000" algn="ctr" rotWithShape="0">
              <a:schemeClr val="accent1">
                <a:alpha val="5000"/>
              </a:schemeClr>
            </a:outerShdw>
          </a:effectLst>
        </p:spPr>
        <p:txBody>
          <a:bodyPr vert="horz" wrap="square" lIns="91440" tIns="45720" rIns="91440" bIns="45720" rtlCol="0" anchor="t"/>
          <a:lstStyle/>
          <a:p>
            <a:pPr algn="l">
              <a:lnSpc>
                <a:spcPct val="110000"/>
              </a:lnSpc>
            </a:pPr>
            <a:endParaRPr kumimoji="1" lang="zh-CN" altLang="en-US"/>
          </a:p>
        </p:txBody>
      </p:sp>
      <p:sp>
        <p:nvSpPr>
          <p:cNvPr id="6" name="标题 1"/>
          <p:cNvSpPr txBox="1"/>
          <p:nvPr/>
        </p:nvSpPr>
        <p:spPr>
          <a:xfrm>
            <a:off x="2423701" y="1773101"/>
            <a:ext cx="445997" cy="449576"/>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6600075" y="1798718"/>
            <a:ext cx="449580" cy="423740"/>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bg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839470" y="2277110"/>
            <a:ext cx="3724275" cy="398145"/>
          </a:xfrm>
          <a:prstGeom prst="rect">
            <a:avLst/>
          </a:prstGeom>
          <a:noFill/>
          <a:ln>
            <a:noFill/>
          </a:ln>
        </p:spPr>
        <p:txBody>
          <a:bodyPr vert="horz" wrap="square" lIns="0" tIns="0" rIns="0" bIns="0" rtlCol="0" anchor="b"/>
          <a:lstStyle/>
          <a:p>
            <a:pPr algn="ctr">
              <a:lnSpc>
                <a:spcPct val="130000"/>
              </a:lnSpc>
            </a:pPr>
            <a:r>
              <a:rPr kumimoji="1" lang="en-US" altLang="zh-CN" sz="16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Peer Interviews</a:t>
            </a:r>
            <a:endParaRPr kumimoji="1" lang="zh-CN" altLang="en-US"/>
          </a:p>
        </p:txBody>
      </p:sp>
      <p:sp>
        <p:nvSpPr>
          <p:cNvPr id="11" name="标题 1"/>
          <p:cNvSpPr txBox="1"/>
          <p:nvPr/>
        </p:nvSpPr>
        <p:spPr>
          <a:xfrm>
            <a:off x="839470" y="2708910"/>
            <a:ext cx="3724275" cy="2857500"/>
          </a:xfrm>
          <a:prstGeom prst="rect">
            <a:avLst/>
          </a:prstGeom>
          <a:noFill/>
          <a:ln>
            <a:noFill/>
          </a:ln>
        </p:spPr>
        <p:txBody>
          <a:bodyPr vert="horz" wrap="square" lIns="0" tIns="0" rIns="0" bIns="0" rtlCol="0" anchor="t"/>
          <a:lstStyle/>
          <a:p>
            <a:pPr algn="l">
              <a:lnSpc>
                <a:spcPct val="150000"/>
              </a:lnSpc>
            </a:pPr>
            <a:r>
              <a:rPr kumimoji="1" lang="en-US" altLang="zh-CN" sz="1200">
                <a:ln w="12700">
                  <a:noFill/>
                </a:ln>
                <a:solidFill>
                  <a:srgbClr val="404040">
                    <a:alpha val="100000"/>
                  </a:srgbClr>
                </a:solidFill>
                <a:latin typeface="Source Han Sans" panose="020B0500000000000000" charset="-122"/>
                <a:ea typeface="Source Han Sans" panose="020B0500000000000000" charset="-122"/>
                <a:cs typeface="Source Han Sans" panose="020B0500000000000000" charset="-122"/>
              </a:rPr>
              <a:t>Students conduct mini- interviews with their peers, focusing on intercultural experiences and communication strategies. Interview questions can be designed to explore challenges, successes, and insights.
</a:t>
            </a:r>
            <a:endParaRPr kumimoji="1" lang="en-US" altLang="zh-CN" sz="1200">
              <a:ln w="12700">
                <a:noFill/>
              </a:ln>
              <a:solidFill>
                <a:srgbClr val="404040">
                  <a:alpha val="100000"/>
                </a:srgbClr>
              </a:solidFill>
              <a:latin typeface="Source Han Sans" panose="020B0500000000000000" charset="-122"/>
              <a:ea typeface="Source Han Sans" panose="020B0500000000000000" charset="-122"/>
              <a:cs typeface="Source Han Sans" panose="020B0500000000000000" charset="-122"/>
            </a:endParaRPr>
          </a:p>
          <a:p>
            <a:pPr algn="l">
              <a:lnSpc>
                <a:spcPct val="150000"/>
              </a:lnSpc>
            </a:pPr>
            <a:r>
              <a:rPr kumimoji="1" lang="en-US" altLang="zh-CN" sz="1200">
                <a:ln w="12700">
                  <a:noFill/>
                </a:ln>
                <a:solidFill>
                  <a:srgbClr val="404040">
                    <a:alpha val="100000"/>
                  </a:srgbClr>
                </a:solidFill>
                <a:latin typeface="Source Han Sans" panose="020B0500000000000000" charset="-122"/>
                <a:ea typeface="Source Han Sans" panose="020B0500000000000000" charset="-122"/>
                <a:cs typeface="Source Han Sans" panose="020B0500000000000000" charset="-122"/>
              </a:rPr>
              <a:t>Interview each other about their experiences with language barriers, cultural misunderstandings, and effective communication techniques. This activity helps students practice interview skills and gather qualitative data.</a:t>
            </a:r>
            <a:endParaRPr kumimoji="1" lang="zh-CN" altLang="en-US" sz="1200"/>
          </a:p>
        </p:txBody>
      </p:sp>
      <p:sp>
        <p:nvSpPr>
          <p:cNvPr id="12" name="标题 1"/>
          <p:cNvSpPr txBox="1"/>
          <p:nvPr/>
        </p:nvSpPr>
        <p:spPr>
          <a:xfrm>
            <a:off x="4908550" y="2277110"/>
            <a:ext cx="3724275" cy="409575"/>
          </a:xfrm>
          <a:prstGeom prst="rect">
            <a:avLst/>
          </a:prstGeom>
          <a:noFill/>
          <a:ln>
            <a:noFill/>
          </a:ln>
        </p:spPr>
        <p:txBody>
          <a:bodyPr vert="horz" wrap="square" lIns="0" tIns="0" rIns="0" bIns="0" rtlCol="0" anchor="b"/>
          <a:lstStyle/>
          <a:p>
            <a:pPr algn="ctr">
              <a:lnSpc>
                <a:spcPct val="130000"/>
              </a:lnSpc>
            </a:pPr>
            <a:r>
              <a:rPr kumimoji="1" lang="en-US" altLang="zh-CN" sz="1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Analyzing Interview Insights</a:t>
            </a:r>
            <a:endParaRPr kumimoji="1" lang="zh-CN" altLang="en-US"/>
          </a:p>
        </p:txBody>
      </p:sp>
      <p:sp>
        <p:nvSpPr>
          <p:cNvPr id="13" name="标题 1"/>
          <p:cNvSpPr txBox="1"/>
          <p:nvPr/>
        </p:nvSpPr>
        <p:spPr>
          <a:xfrm>
            <a:off x="4990465" y="3158490"/>
            <a:ext cx="3282950" cy="1334135"/>
          </a:xfrm>
          <a:prstGeom prst="rect">
            <a:avLst/>
          </a:prstGeom>
          <a:noFill/>
          <a:ln>
            <a:noFill/>
          </a:ln>
        </p:spPr>
        <p:txBody>
          <a:bodyPr vert="horz" wrap="square" lIns="0" tIns="0" rIns="0" bIns="0" rtlCol="0" anchor="t"/>
          <a:lstStyle/>
          <a:p>
            <a:pPr algn="l">
              <a:lnSpc>
                <a:spcPct val="150000"/>
              </a:lnSpc>
            </a:pPr>
            <a:r>
              <a:rPr kumimoji="1" lang="en-US" altLang="zh-CN" sz="1200">
                <a:ln w="12700">
                  <a:noFill/>
                </a:ln>
                <a:solidFill>
                  <a:srgbClr val="FFFFFF">
                    <a:alpha val="100000"/>
                  </a:srgbClr>
                </a:solidFill>
                <a:latin typeface="Source Han Sans" panose="020B0500000000000000" charset="-122"/>
                <a:ea typeface="Source Han Sans" panose="020B0500000000000000" charset="-122"/>
                <a:cs typeface="Source Han Sans" panose="020B0500000000000000" charset="-122"/>
              </a:rPr>
              <a:t>After conducting the mini- interviews, students  summarize the key insights gained. This involves identifying common themes, challenges, and opportunities for intercultural interactions.
</a:t>
            </a:r>
            <a:endParaRPr kumimoji="1" lang="en-US" altLang="zh-CN" sz="1200">
              <a:ln w="12700">
                <a:noFill/>
              </a:ln>
              <a:solidFill>
                <a:srgbClr val="FFFFFF">
                  <a:alpha val="100000"/>
                </a:srgbClr>
              </a:solidFill>
              <a:latin typeface="Source Han Sans" panose="020B0500000000000000" charset="-122"/>
              <a:ea typeface="Source Han Sans" panose="020B0500000000000000" charset="-122"/>
              <a:cs typeface="Source Han Sans" panose="020B0500000000000000" charset="-122"/>
            </a:endParaRPr>
          </a:p>
          <a:p>
            <a:pPr algn="l">
              <a:lnSpc>
                <a:spcPct val="150000"/>
              </a:lnSpc>
            </a:pPr>
            <a:r>
              <a:rPr kumimoji="1" lang="en-US" altLang="zh-CN" sz="1200">
                <a:ln w="12700">
                  <a:noFill/>
                </a:ln>
                <a:solidFill>
                  <a:srgbClr val="FFFFFF">
                    <a:alpha val="100000"/>
                  </a:srgbClr>
                </a:solidFill>
                <a:latin typeface="Source Han Sans" panose="020B0500000000000000" charset="-122"/>
                <a:ea typeface="Source Han Sans" panose="020B0500000000000000" charset="-122"/>
                <a:cs typeface="Source Han Sans" panose="020B0500000000000000" charset="-122"/>
              </a:rPr>
              <a:t>Discuss how cultural adaptability and patience contribute to successful intercultural communication. This analysis helps develop critical thinking and data interpretation skills.</a:t>
            </a:r>
            <a:endParaRPr kumimoji="1" lang="zh-CN" altLang="en-US" sz="1200"/>
          </a:p>
        </p:txBody>
      </p:sp>
      <p:sp>
        <p:nvSpPr>
          <p:cNvPr id="14" name="标题 1"/>
          <p:cNvSpPr txBox="1"/>
          <p:nvPr/>
        </p:nvSpPr>
        <p:spPr>
          <a:xfrm>
            <a:off x="783520" y="46704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Simulated Mini-Interviews</a:t>
            </a:r>
            <a:endParaRPr kumimoji="1" lang="zh-CN" altLang="en-US"/>
          </a:p>
        </p:txBody>
      </p:sp>
      <p:grpSp>
        <p:nvGrpSpPr>
          <p:cNvPr id="15" name="组合 14"/>
          <p:cNvGrpSpPr/>
          <p:nvPr/>
        </p:nvGrpSpPr>
        <p:grpSpPr>
          <a:xfrm>
            <a:off x="176306" y="376135"/>
            <a:ext cx="484094" cy="470981"/>
            <a:chOff x="176306" y="376135"/>
            <a:chExt cx="484094" cy="470981"/>
          </a:xfrm>
        </p:grpSpPr>
        <p:sp>
          <p:nvSpPr>
            <p:cNvPr id="16" name="标题 1"/>
            <p:cNvSpPr txBox="1"/>
            <p:nvPr/>
          </p:nvSpPr>
          <p:spPr>
            <a:xfrm>
              <a:off x="176306" y="473900"/>
              <a:ext cx="373217" cy="373216"/>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a:off x="409081" y="376135"/>
              <a:ext cx="251319" cy="251319"/>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660400" y="1550460"/>
            <a:ext cx="5335631" cy="4154150"/>
          </a:xfrm>
          <a:prstGeom prst="roundRect">
            <a:avLst>
              <a:gd name="adj" fmla="val 2814"/>
            </a:avLst>
          </a:prstGeom>
          <a:solidFill>
            <a:srgbClr val="FFFFFF">
              <a:alpha val="100000"/>
            </a:srgbClr>
          </a:solidFill>
          <a:ln w="15875" cap="flat">
            <a:noFill/>
            <a:miter/>
          </a:ln>
          <a:effectLst>
            <a:outerShdw blurRad="152400" dist="38100" dir="2700000" algn="tl" rotWithShape="0">
              <a:schemeClr val="accent1">
                <a:lumMod val="50000"/>
                <a:alpha val="19000"/>
              </a:schemeClr>
            </a:outerShdw>
          </a:effectLst>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794242" y="1361210"/>
            <a:ext cx="5067946" cy="425223"/>
          </a:xfrm>
          <a:prstGeom prst="roundRect">
            <a:avLst>
              <a:gd name="adj" fmla="val 50000"/>
            </a:avLst>
          </a:prstGeom>
          <a:gradFill>
            <a:gsLst>
              <a:gs pos="24000">
                <a:schemeClr val="accent1">
                  <a:lumMod val="75000"/>
                </a:schemeClr>
              </a:gs>
              <a:gs pos="100000">
                <a:schemeClr val="accent1"/>
              </a:gs>
            </a:gsLst>
            <a:lin ang="5400000" scaled="0"/>
          </a:gradFill>
          <a:ln w="25400" cap="flat">
            <a:noFill/>
            <a:miter/>
          </a:ln>
          <a:effectLst>
            <a:outerShdw blurRad="139700" dist="101600" dir="2700000" sx="96000" sy="96000" algn="tl" rotWithShape="0">
              <a:schemeClr val="accent1">
                <a:lumMod val="50000"/>
                <a:alpha val="19000"/>
              </a:schemeClr>
            </a:outerShdw>
          </a:effectLst>
        </p:spPr>
        <p:txBody>
          <a:bodyPr vert="horz" wrap="square" lIns="0" tIns="0" rIns="0" bIns="0" rtlCol="0" anchor="ctr"/>
          <a:lstStyle/>
          <a:p>
            <a:pPr algn="ctr">
              <a:lnSpc>
                <a:spcPct val="110000"/>
              </a:lnSpc>
            </a:pPr>
            <a:endParaRPr kumimoji="1" lang="zh-CN" altLang="en-US"/>
          </a:p>
        </p:txBody>
      </p:sp>
      <p:sp>
        <p:nvSpPr>
          <p:cNvPr id="4" name="标题 1"/>
          <p:cNvSpPr txBox="1"/>
          <p:nvPr/>
        </p:nvSpPr>
        <p:spPr>
          <a:xfrm>
            <a:off x="921820" y="1411400"/>
            <a:ext cx="4812791" cy="336816"/>
          </a:xfrm>
          <a:prstGeom prst="rect">
            <a:avLst/>
          </a:prstGeom>
          <a:noFill/>
          <a:ln>
            <a:noFill/>
          </a:ln>
        </p:spPr>
        <p:txBody>
          <a:bodyPr vert="horz" wrap="square" lIns="0" tIns="0" rIns="0" bIns="0" rtlCol="0" anchor="ctr"/>
          <a:lstStyle/>
          <a:p>
            <a:pPr algn="ctr">
              <a:lnSpc>
                <a:spcPct val="100000"/>
              </a:lnSpc>
            </a:pPr>
            <a:r>
              <a:rPr kumimoji="1" lang="en-US" altLang="zh-CN" sz="1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Simulated Cultural Experiences</a:t>
            </a:r>
            <a:endParaRPr kumimoji="1" lang="zh-CN" altLang="en-US"/>
          </a:p>
        </p:txBody>
      </p:sp>
      <p:sp>
        <p:nvSpPr>
          <p:cNvPr id="5" name="标题 1"/>
          <p:cNvSpPr txBox="1"/>
          <p:nvPr/>
        </p:nvSpPr>
        <p:spPr>
          <a:xfrm>
            <a:off x="794242" y="1960033"/>
            <a:ext cx="5067946" cy="3630277"/>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000000">
                    <a:alpha val="100000"/>
                  </a:srgbClr>
                </a:solidFill>
                <a:latin typeface="Source Han Sans" panose="020B0500000000000000" charset="-122"/>
                <a:ea typeface="Source Han Sans" panose="020B0500000000000000" charset="-122"/>
                <a:cs typeface="Source Han Sans" panose="020B0500000000000000" charset="-122"/>
              </a:rPr>
              <a:t>Participate in simulated cultural experiences, such as a traditional tea ceremony or a mock cultural festival. These activities aim to replicate cultural practices and provide opportunities for reflection.
</a:t>
            </a:r>
            <a:endParaRPr kumimoji="1" lang="en-US" altLang="zh-CN" sz="1400">
              <a:ln w="12700">
                <a:noFill/>
              </a:ln>
              <a:solidFill>
                <a:srgbClr val="000000">
                  <a:alpha val="100000"/>
                </a:srgbClr>
              </a:solidFill>
              <a:latin typeface="Source Han Sans" panose="020B0500000000000000" charset="-122"/>
              <a:ea typeface="Source Han Sans" panose="020B0500000000000000" charset="-122"/>
              <a:cs typeface="Source Han Sans" panose="020B0500000000000000" charset="-122"/>
            </a:endParaRPr>
          </a:p>
          <a:p>
            <a:pPr algn="ctr">
              <a:lnSpc>
                <a:spcPct val="150000"/>
              </a:lnSpc>
            </a:pPr>
            <a:r>
              <a:rPr kumimoji="1" lang="en-US" altLang="zh-CN" sz="1400">
                <a:ln w="12700">
                  <a:noFill/>
                </a:ln>
                <a:solidFill>
                  <a:srgbClr val="000000">
                    <a:alpha val="100000"/>
                  </a:srgbClr>
                </a:solidFill>
                <a:latin typeface="Source Han Sans" panose="020B0500000000000000" charset="-122"/>
                <a:ea typeface="Source Han Sans" panose="020B0500000000000000" charset="-122"/>
                <a:cs typeface="Source Han Sans" panose="020B0500000000000000" charset="-122"/>
              </a:rPr>
              <a:t>Students  participate in a tea ceremony, observing and participating in the rituals and social interactions. This activity helps students understand cultural practices and their significance.</a:t>
            </a:r>
            <a:endParaRPr kumimoji="1" lang="zh-CN" altLang="en-US"/>
          </a:p>
        </p:txBody>
      </p:sp>
      <p:cxnSp>
        <p:nvCxnSpPr>
          <p:cNvPr id="6" name="标题 1"/>
          <p:cNvCxnSpPr/>
          <p:nvPr/>
        </p:nvCxnSpPr>
        <p:spPr>
          <a:xfrm>
            <a:off x="3006747" y="1921815"/>
            <a:ext cx="642937" cy="0"/>
          </a:xfrm>
          <a:prstGeom prst="line">
            <a:avLst/>
          </a:prstGeom>
          <a:noFill/>
          <a:ln w="6350" cap="rnd">
            <a:solidFill>
              <a:schemeClr val="accent1"/>
            </a:solidFill>
            <a:miter/>
          </a:ln>
        </p:spPr>
      </p:cxnSp>
      <p:sp>
        <p:nvSpPr>
          <p:cNvPr id="7" name="标题 1"/>
          <p:cNvSpPr txBox="1"/>
          <p:nvPr/>
        </p:nvSpPr>
        <p:spPr>
          <a:xfrm>
            <a:off x="6183269" y="1550460"/>
            <a:ext cx="5335631" cy="4154150"/>
          </a:xfrm>
          <a:prstGeom prst="roundRect">
            <a:avLst>
              <a:gd name="adj" fmla="val 2814"/>
            </a:avLst>
          </a:prstGeom>
          <a:solidFill>
            <a:srgbClr val="FFFFFF">
              <a:alpha val="100000"/>
            </a:srgbClr>
          </a:solidFill>
          <a:ln w="15875" cap="flat">
            <a:noFill/>
            <a:miter/>
          </a:ln>
          <a:effectLst>
            <a:outerShdw blurRad="152400" dist="38100" dir="2700000" algn="tl" rotWithShape="0">
              <a:schemeClr val="accent1">
                <a:lumMod val="50000"/>
                <a:alpha val="19000"/>
              </a:schemeClr>
            </a:outerShdw>
          </a:effectLst>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6317111" y="1361210"/>
            <a:ext cx="5067946" cy="425223"/>
          </a:xfrm>
          <a:prstGeom prst="roundRect">
            <a:avLst>
              <a:gd name="adj" fmla="val 50000"/>
            </a:avLst>
          </a:prstGeom>
          <a:gradFill>
            <a:gsLst>
              <a:gs pos="24000">
                <a:schemeClr val="accent1">
                  <a:lumMod val="75000"/>
                </a:schemeClr>
              </a:gs>
              <a:gs pos="100000">
                <a:schemeClr val="accent1"/>
              </a:gs>
            </a:gsLst>
            <a:lin ang="5400000" scaled="0"/>
          </a:gradFill>
          <a:ln w="25400" cap="flat">
            <a:noFill/>
            <a:miter/>
          </a:ln>
          <a:effectLst>
            <a:outerShdw blurRad="139700" dist="101600" dir="2700000" sx="96000" sy="96000" algn="tl" rotWithShape="0">
              <a:schemeClr val="accent1">
                <a:lumMod val="50000"/>
                <a:alpha val="19000"/>
              </a:schemeClr>
            </a:outerShdw>
          </a:effectLst>
        </p:spPr>
        <p:txBody>
          <a:bodyPr vert="horz" wrap="square" lIns="0" tIns="0" rIns="0" bIns="0" rtlCol="0" anchor="ctr"/>
          <a:lstStyle/>
          <a:p>
            <a:pPr algn="ctr">
              <a:lnSpc>
                <a:spcPct val="110000"/>
              </a:lnSpc>
            </a:pPr>
            <a:endParaRPr kumimoji="1" lang="zh-CN" altLang="en-US"/>
          </a:p>
        </p:txBody>
      </p:sp>
      <p:sp>
        <p:nvSpPr>
          <p:cNvPr id="9" name="标题 1"/>
          <p:cNvSpPr txBox="1"/>
          <p:nvPr/>
        </p:nvSpPr>
        <p:spPr>
          <a:xfrm>
            <a:off x="6444689" y="1411400"/>
            <a:ext cx="4812791" cy="336816"/>
          </a:xfrm>
          <a:prstGeom prst="rect">
            <a:avLst/>
          </a:prstGeom>
          <a:noFill/>
          <a:ln>
            <a:noFill/>
          </a:ln>
        </p:spPr>
        <p:txBody>
          <a:bodyPr vert="horz" wrap="square" lIns="0" tIns="0" rIns="0" bIns="0" rtlCol="0" anchor="ctr"/>
          <a:lstStyle/>
          <a:p>
            <a:pPr algn="ctr">
              <a:lnSpc>
                <a:spcPct val="100000"/>
              </a:lnSpc>
            </a:pPr>
            <a:r>
              <a:rPr kumimoji="1" lang="en-US" altLang="zh-CN" sz="1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Writing Reflective Notes</a:t>
            </a:r>
            <a:endParaRPr kumimoji="1" lang="zh-CN" altLang="en-US"/>
          </a:p>
        </p:txBody>
      </p:sp>
      <p:sp>
        <p:nvSpPr>
          <p:cNvPr id="10" name="标题 1"/>
          <p:cNvSpPr txBox="1"/>
          <p:nvPr/>
        </p:nvSpPr>
        <p:spPr>
          <a:xfrm>
            <a:off x="6317111" y="1960033"/>
            <a:ext cx="5067946" cy="3630277"/>
          </a:xfrm>
          <a:prstGeom prst="rect">
            <a:avLst/>
          </a:prstGeom>
          <a:noFill/>
          <a:ln>
            <a:noFill/>
          </a:ln>
        </p:spPr>
        <p:txBody>
          <a:bodyPr vert="horz" wrap="square" lIns="0" tIns="0" rIns="0" bIns="0" rtlCol="0" anchor="t"/>
          <a:lstStyle/>
          <a:p>
            <a:pPr algn="ctr">
              <a:lnSpc>
                <a:spcPct val="150000"/>
              </a:lnSpc>
            </a:pPr>
            <a:r>
              <a:rPr kumimoji="1" lang="en-US" altLang="zh-CN" sz="1400">
                <a:ln w="12700">
                  <a:noFill/>
                </a:ln>
                <a:solidFill>
                  <a:srgbClr val="000000">
                    <a:alpha val="100000"/>
                  </a:srgbClr>
                </a:solidFill>
                <a:latin typeface="Source Han Sans" panose="020B0500000000000000" charset="-122"/>
                <a:ea typeface="Source Han Sans" panose="020B0500000000000000" charset="-122"/>
                <a:cs typeface="Source Han Sans" panose="020B0500000000000000" charset="-122"/>
              </a:rPr>
              <a:t>Write reflective notes on their simulated cultural experiences, focusing on how these practices reflect cultural identity and influence intercultural interactions.
</a:t>
            </a:r>
            <a:endParaRPr kumimoji="1" lang="en-US" altLang="zh-CN" sz="1400">
              <a:ln w="12700">
                <a:noFill/>
              </a:ln>
              <a:solidFill>
                <a:srgbClr val="000000">
                  <a:alpha val="100000"/>
                </a:srgbClr>
              </a:solidFill>
              <a:latin typeface="Source Han Sans" panose="020B0500000000000000" charset="-122"/>
              <a:ea typeface="Source Han Sans" panose="020B0500000000000000" charset="-122"/>
              <a:cs typeface="Source Han Sans" panose="020B0500000000000000" charset="-122"/>
            </a:endParaRPr>
          </a:p>
          <a:p>
            <a:pPr algn="ctr">
              <a:lnSpc>
                <a:spcPct val="150000"/>
              </a:lnSpc>
            </a:pPr>
            <a:r>
              <a:rPr kumimoji="1" lang="en-US" altLang="zh-CN" sz="1400">
                <a:ln w="12700">
                  <a:noFill/>
                </a:ln>
                <a:solidFill>
                  <a:srgbClr val="000000">
                    <a:alpha val="100000"/>
                  </a:srgbClr>
                </a:solidFill>
                <a:latin typeface="Source Han Sans" panose="020B0500000000000000" charset="-122"/>
                <a:ea typeface="Source Han Sans" panose="020B0500000000000000" charset="-122"/>
                <a:cs typeface="Source Han Sans" panose="020B0500000000000000" charset="-122"/>
              </a:rPr>
              <a:t>Students  reflect on how the tea ceremony highlights values of hospitality and respect. This reflection helps develop a deeper understanding of cultural practices and their role in intercultural communication.</a:t>
            </a:r>
            <a:endParaRPr kumimoji="1" lang="zh-CN" altLang="en-US"/>
          </a:p>
        </p:txBody>
      </p:sp>
      <p:cxnSp>
        <p:nvCxnSpPr>
          <p:cNvPr id="11" name="标题 1"/>
          <p:cNvCxnSpPr/>
          <p:nvPr/>
        </p:nvCxnSpPr>
        <p:spPr>
          <a:xfrm>
            <a:off x="8529616" y="1921815"/>
            <a:ext cx="642937" cy="0"/>
          </a:xfrm>
          <a:prstGeom prst="line">
            <a:avLst/>
          </a:prstGeom>
          <a:noFill/>
          <a:ln w="6350" cap="rnd">
            <a:solidFill>
              <a:schemeClr val="accent1"/>
            </a:solidFill>
            <a:miter/>
          </a:ln>
        </p:spPr>
      </p:cxnSp>
      <p:sp>
        <p:nvSpPr>
          <p:cNvPr id="12" name="标题 1"/>
          <p:cNvSpPr txBox="1"/>
          <p:nvPr/>
        </p:nvSpPr>
        <p:spPr>
          <a:xfrm>
            <a:off x="783520" y="46704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Reflecting on Simulated Cultural Practices</a:t>
            </a:r>
            <a:endParaRPr kumimoji="1" lang="zh-CN" altLang="en-US"/>
          </a:p>
        </p:txBody>
      </p:sp>
      <p:grpSp>
        <p:nvGrpSpPr>
          <p:cNvPr id="13" name="组合 12"/>
          <p:cNvGrpSpPr/>
          <p:nvPr/>
        </p:nvGrpSpPr>
        <p:grpSpPr>
          <a:xfrm>
            <a:off x="176306" y="376135"/>
            <a:ext cx="484094" cy="470981"/>
            <a:chOff x="176306" y="376135"/>
            <a:chExt cx="484094" cy="470981"/>
          </a:xfrm>
        </p:grpSpPr>
        <p:sp>
          <p:nvSpPr>
            <p:cNvPr id="14" name="标题 1"/>
            <p:cNvSpPr txBox="1"/>
            <p:nvPr/>
          </p:nvSpPr>
          <p:spPr>
            <a:xfrm>
              <a:off x="176306" y="473900"/>
              <a:ext cx="373217" cy="373216"/>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409081" y="376135"/>
              <a:ext cx="251319" cy="251319"/>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rot="5400000">
            <a:off x="10756400" y="1919882"/>
            <a:ext cx="1791411" cy="1544320"/>
          </a:xfrm>
          <a:prstGeom prst="hexagon">
            <a:avLst/>
          </a:prstGeom>
          <a:solidFill>
            <a:schemeClr val="accent1">
              <a:lumMod val="7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rot="5400000">
            <a:off x="9988051" y="3325138"/>
            <a:ext cx="1791411" cy="1544320"/>
          </a:xfrm>
          <a:prstGeom prst="hexagon">
            <a:avLst/>
          </a:prstGeom>
          <a:solidFill>
            <a:schemeClr val="accent1">
              <a:lumMod val="20000"/>
              <a:lumOff val="80000"/>
            </a:schemeClr>
          </a:solidFill>
          <a:ln w="12700" cap="sq">
            <a:noFill/>
            <a:miter/>
          </a:ln>
          <a:effectLst>
            <a:outerShdw blurRad="368300" dist="76200" dir="2700000" algn="tl" rotWithShape="0">
              <a:schemeClr val="accent1">
                <a:lumMod val="50000"/>
                <a:alpha val="17000"/>
              </a:schemeClr>
            </a:outerShdw>
          </a:effectLst>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rot="5400000">
            <a:off x="9217159" y="1919882"/>
            <a:ext cx="1791411" cy="1544320"/>
          </a:xfrm>
          <a:prstGeom prst="hexagon">
            <a:avLst/>
          </a:prstGeom>
          <a:solidFill>
            <a:schemeClr val="accent1">
              <a:lumMod val="40000"/>
              <a:lumOff val="6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rot="5400000">
            <a:off x="8444999" y="3327042"/>
            <a:ext cx="1791411" cy="1544320"/>
          </a:xfrm>
          <a:prstGeom prst="hexag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rot="5400000">
            <a:off x="8444998" y="527961"/>
            <a:ext cx="1791411" cy="1544320"/>
          </a:xfrm>
          <a:prstGeom prst="hexagon">
            <a:avLst/>
          </a:prstGeom>
          <a:solidFill>
            <a:schemeClr val="accent1">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rot="5400000">
            <a:off x="9217158" y="-858879"/>
            <a:ext cx="1791411" cy="1544320"/>
          </a:xfrm>
          <a:prstGeom prst="hexagon">
            <a:avLst/>
          </a:prstGeom>
          <a:solidFill>
            <a:schemeClr val="accent1">
              <a:lumMod val="40000"/>
              <a:lumOff val="6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rot="5400000">
            <a:off x="6895599" y="3332122"/>
            <a:ext cx="1791411" cy="1544320"/>
          </a:xfrm>
          <a:prstGeom prst="hexagon">
            <a:avLst/>
          </a:prstGeom>
          <a:solidFill>
            <a:schemeClr val="accent1">
              <a:lumMod val="20000"/>
              <a:lumOff val="8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rot="5400000">
            <a:off x="5346199" y="3327042"/>
            <a:ext cx="1791411" cy="1544320"/>
          </a:xfrm>
          <a:prstGeom prst="hexagon">
            <a:avLst/>
          </a:prstGeom>
          <a:solidFill>
            <a:schemeClr val="accent1">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rot="5400000">
            <a:off x="10764020" y="4728718"/>
            <a:ext cx="1791411" cy="1544320"/>
          </a:xfrm>
          <a:prstGeom prst="hexagon">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p:cNvSpPr txBox="1"/>
          <p:nvPr/>
        </p:nvSpPr>
        <p:spPr>
          <a:xfrm rot="5400000">
            <a:off x="9217159" y="4721099"/>
            <a:ext cx="1791411" cy="1544320"/>
          </a:xfrm>
          <a:prstGeom prst="hexagon">
            <a:avLst/>
          </a:prstGeom>
          <a:solidFill>
            <a:schemeClr val="accent1">
              <a:lumMod val="60000"/>
              <a:lumOff val="40000"/>
            </a:schemeClr>
          </a:solidFill>
          <a:ln w="12700" cap="sq">
            <a:noFill/>
            <a:miter/>
          </a:ln>
          <a:effectLst>
            <a:outerShdw blurRad="368300" dist="76200" dir="2700000" algn="tl" rotWithShape="0">
              <a:schemeClr val="accent1">
                <a:lumMod val="50000"/>
                <a:alpha val="17000"/>
              </a:schemeClr>
            </a:outerShdw>
          </a:effectLst>
        </p:spPr>
        <p:txBody>
          <a:bodyPr vert="horz" wrap="square" lIns="91440" tIns="45720" rIns="91440" bIns="45720" rtlCol="0" anchor="ctr"/>
          <a:lstStyle/>
          <a:p>
            <a:pPr algn="ctr">
              <a:lnSpc>
                <a:spcPct val="110000"/>
              </a:lnSpc>
            </a:pPr>
            <a:endParaRPr kumimoji="1" lang="zh-CN" altLang="en-US"/>
          </a:p>
        </p:txBody>
      </p:sp>
      <p:grpSp>
        <p:nvGrpSpPr>
          <p:cNvPr id="13" name="组合 12"/>
          <p:cNvGrpSpPr/>
          <p:nvPr/>
        </p:nvGrpSpPr>
        <p:grpSpPr>
          <a:xfrm>
            <a:off x="7759700" y="1789794"/>
            <a:ext cx="1640840" cy="461917"/>
            <a:chOff x="7759700" y="1789794"/>
            <a:chExt cx="1640840" cy="461917"/>
          </a:xfrm>
        </p:grpSpPr>
        <p:sp>
          <p:nvSpPr>
            <p:cNvPr id="14" name="标题 1"/>
            <p:cNvSpPr txBox="1"/>
            <p:nvPr/>
          </p:nvSpPr>
          <p:spPr>
            <a:xfrm>
              <a:off x="7759700" y="2129791"/>
              <a:ext cx="121920" cy="12192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9278620" y="2129791"/>
              <a:ext cx="121920" cy="12192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nvSpPr>
          <p:spPr>
            <a:xfrm rot="19996967">
              <a:off x="7762323" y="1982370"/>
              <a:ext cx="865228" cy="36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p:cNvSpPr txBox="1"/>
            <p:nvPr/>
          </p:nvSpPr>
          <p:spPr>
            <a:xfrm rot="1603033" flipH="1">
              <a:off x="8518672" y="1982096"/>
              <a:ext cx="864000" cy="36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grpSp>
        <p:nvGrpSpPr>
          <p:cNvPr id="18" name="组合 17"/>
          <p:cNvGrpSpPr/>
          <p:nvPr/>
        </p:nvGrpSpPr>
        <p:grpSpPr>
          <a:xfrm>
            <a:off x="9263592" y="3484458"/>
            <a:ext cx="1725562" cy="2588293"/>
            <a:chOff x="9263592" y="3484458"/>
            <a:chExt cx="1725562" cy="2588293"/>
          </a:xfrm>
        </p:grpSpPr>
        <p:sp>
          <p:nvSpPr>
            <p:cNvPr id="19" name="标题 1"/>
            <p:cNvSpPr txBox="1"/>
            <p:nvPr/>
          </p:nvSpPr>
          <p:spPr>
            <a:xfrm rot="14613050">
              <a:off x="10846463" y="4916600"/>
              <a:ext cx="121920" cy="12192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rot="14613050">
              <a:off x="10070870" y="3505229"/>
              <a:ext cx="121920" cy="12192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rot="12501059">
              <a:off x="10063356" y="4747353"/>
              <a:ext cx="865228" cy="36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rot="16216083" flipH="1">
              <a:off x="9640985" y="4075899"/>
              <a:ext cx="972000" cy="36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3" name="标题 1"/>
            <p:cNvSpPr txBox="1"/>
            <p:nvPr/>
          </p:nvSpPr>
          <p:spPr>
            <a:xfrm rot="6986950" flipH="1">
              <a:off x="9284363" y="4912789"/>
              <a:ext cx="121920" cy="12192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4" name="标题 1"/>
            <p:cNvSpPr txBox="1"/>
            <p:nvPr/>
          </p:nvSpPr>
          <p:spPr>
            <a:xfrm rot="9098941" flipH="1">
              <a:off x="9320406" y="4747351"/>
              <a:ext cx="865228" cy="36000"/>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5" name="标题 1"/>
            <p:cNvSpPr txBox="1"/>
            <p:nvPr/>
          </p:nvSpPr>
          <p:spPr>
            <a:xfrm rot="16200000">
              <a:off x="10414792" y="5481767"/>
              <a:ext cx="979793" cy="45719"/>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6" name="标题 1"/>
            <p:cNvSpPr txBox="1"/>
            <p:nvPr/>
          </p:nvSpPr>
          <p:spPr>
            <a:xfrm rot="14613050">
              <a:off x="10846462" y="5930060"/>
              <a:ext cx="121920" cy="12192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sp>
        <p:nvSpPr>
          <p:cNvPr id="27" name="标题 1"/>
          <p:cNvSpPr txBox="1"/>
          <p:nvPr/>
        </p:nvSpPr>
        <p:spPr>
          <a:xfrm rot="5400000">
            <a:off x="7493598" y="-1017776"/>
            <a:ext cx="2160050" cy="1862114"/>
          </a:xfrm>
          <a:prstGeom prst="hexagon">
            <a:avLst/>
          </a:prstGeom>
          <a:solidFill>
            <a:schemeClr val="accent1">
              <a:lumMod val="60000"/>
              <a:lumOff val="40000"/>
            </a:schemeClr>
          </a:solidFill>
          <a:ln w="12700" cap="sq">
            <a:noFill/>
            <a:miter/>
          </a:ln>
          <a:effectLst>
            <a:outerShdw blurRad="254000" dist="114300" dir="2700000" algn="tl" rotWithShape="0">
              <a:schemeClr val="accent1">
                <a:lumMod val="50000"/>
                <a:alpha val="3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28" name="标题 1"/>
          <p:cNvSpPr txBox="1"/>
          <p:nvPr/>
        </p:nvSpPr>
        <p:spPr>
          <a:xfrm rot="5400000">
            <a:off x="8260682" y="5975717"/>
            <a:ext cx="2160046" cy="1862110"/>
          </a:xfrm>
          <a:prstGeom prst="hexagon">
            <a:avLst/>
          </a:prstGeom>
          <a:solidFill>
            <a:schemeClr val="accent1">
              <a:lumMod val="75000"/>
            </a:schemeClr>
          </a:solidFill>
          <a:ln w="12700" cap="sq">
            <a:noFill/>
            <a:miter/>
          </a:ln>
          <a:effectLst>
            <a:outerShdw blurRad="304800" dist="38100" dir="2700000" algn="tl" rotWithShape="0">
              <a:schemeClr val="accent1">
                <a:lumMod val="50000"/>
                <a:alpha val="3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29" name="标题 1"/>
          <p:cNvSpPr txBox="1"/>
          <p:nvPr/>
        </p:nvSpPr>
        <p:spPr>
          <a:xfrm rot="5400000">
            <a:off x="5935457" y="4573767"/>
            <a:ext cx="2160046" cy="1862110"/>
          </a:xfrm>
          <a:prstGeom prst="hexagon">
            <a:avLst/>
          </a:prstGeom>
          <a:solidFill>
            <a:schemeClr val="accent1"/>
          </a:solidFill>
          <a:ln w="12700" cap="sq">
            <a:noFill/>
            <a:miter/>
          </a:ln>
          <a:effectLst>
            <a:outerShdw blurRad="254000" dist="114300" dir="2700000" algn="tl" rotWithShape="0">
              <a:schemeClr val="accent1">
                <a:lumMod val="50000"/>
                <a:alpha val="3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30" name="标题 1"/>
          <p:cNvSpPr txBox="1"/>
          <p:nvPr/>
        </p:nvSpPr>
        <p:spPr>
          <a:xfrm rot="5400000">
            <a:off x="-451470" y="4592225"/>
            <a:ext cx="2223740" cy="1917018"/>
          </a:xfrm>
          <a:prstGeom prst="hexagon">
            <a:avLst/>
          </a:prstGeom>
          <a:solidFill>
            <a:schemeClr val="accent1">
              <a:alpha val="17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31" name="图片 30"/>
          <p:cNvPicPr>
            <a:picLocks noChangeAspect="1"/>
          </p:cNvPicPr>
          <p:nvPr/>
        </p:nvPicPr>
        <p:blipFill>
          <a:blip r:embed="rId1">
            <a:alphaModFix amt="100000"/>
          </a:blip>
          <a:srcRect/>
          <a:stretch>
            <a:fillRect/>
          </a:stretch>
        </p:blipFill>
        <p:spPr>
          <a:xfrm>
            <a:off x="6507480" y="4743275"/>
            <a:ext cx="944880" cy="1394812"/>
          </a:xfrm>
          <a:prstGeom prst="rect">
            <a:avLst/>
          </a:prstGeom>
          <a:noFill/>
          <a:ln>
            <a:noFill/>
          </a:ln>
        </p:spPr>
      </p:pic>
      <p:pic>
        <p:nvPicPr>
          <p:cNvPr id="32" name="图片 31"/>
          <p:cNvPicPr>
            <a:picLocks noChangeAspect="1"/>
          </p:cNvPicPr>
          <p:nvPr/>
        </p:nvPicPr>
        <p:blipFill>
          <a:blip r:embed="rId2">
            <a:alphaModFix amt="100000"/>
          </a:blip>
          <a:srcRect/>
          <a:stretch>
            <a:fillRect/>
          </a:stretch>
        </p:blipFill>
        <p:spPr>
          <a:xfrm>
            <a:off x="8953500" y="3662681"/>
            <a:ext cx="853440" cy="995680"/>
          </a:xfrm>
          <a:prstGeom prst="rect">
            <a:avLst/>
          </a:prstGeom>
          <a:noFill/>
          <a:ln>
            <a:noFill/>
          </a:ln>
        </p:spPr>
      </p:pic>
      <p:sp>
        <p:nvSpPr>
          <p:cNvPr id="33" name="标题 1"/>
          <p:cNvSpPr txBox="1"/>
          <p:nvPr/>
        </p:nvSpPr>
        <p:spPr>
          <a:xfrm rot="5400000">
            <a:off x="7493602" y="1776227"/>
            <a:ext cx="2160046" cy="1862110"/>
          </a:xfrm>
          <a:prstGeom prst="hexagon">
            <a:avLst/>
          </a:prstGeom>
          <a:solidFill>
            <a:schemeClr val="accent1">
              <a:lumMod val="75000"/>
            </a:schemeClr>
          </a:solidFill>
          <a:ln w="12700" cap="sq">
            <a:noFill/>
            <a:miter/>
          </a:ln>
          <a:effectLst>
            <a:outerShdw blurRad="254000" dist="114300" dir="2700000" algn="tl" rotWithShape="0">
              <a:schemeClr val="accent1">
                <a:lumMod val="50000"/>
                <a:alpha val="30000"/>
              </a:schemeClr>
            </a:outerShdw>
          </a:effectLst>
        </p:spPr>
        <p:txBody>
          <a:bodyPr vert="horz" wrap="square" lIns="91440" tIns="45720" rIns="91440" bIns="45720" rtlCol="0" anchor="ctr"/>
          <a:lstStyle/>
          <a:p>
            <a:pPr algn="ctr">
              <a:lnSpc>
                <a:spcPct val="110000"/>
              </a:lnSpc>
            </a:pPr>
            <a:endParaRPr kumimoji="1" lang="zh-CN" altLang="en-US"/>
          </a:p>
        </p:txBody>
      </p:sp>
      <p:grpSp>
        <p:nvGrpSpPr>
          <p:cNvPr id="34" name="组合 33"/>
          <p:cNvGrpSpPr/>
          <p:nvPr/>
        </p:nvGrpSpPr>
        <p:grpSpPr>
          <a:xfrm>
            <a:off x="7563729" y="1566211"/>
            <a:ext cx="1081676" cy="1838593"/>
            <a:chOff x="7563729" y="1566211"/>
            <a:chExt cx="1081676" cy="1838593"/>
          </a:xfrm>
        </p:grpSpPr>
        <p:sp>
          <p:nvSpPr>
            <p:cNvPr id="35" name="标题 1"/>
            <p:cNvSpPr txBox="1"/>
            <p:nvPr/>
          </p:nvSpPr>
          <p:spPr>
            <a:xfrm rot="14613050">
              <a:off x="7595933" y="2032751"/>
              <a:ext cx="121920" cy="12192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6" name="标题 1"/>
            <p:cNvSpPr txBox="1"/>
            <p:nvPr/>
          </p:nvSpPr>
          <p:spPr>
            <a:xfrm rot="16216083" flipH="1">
              <a:off x="7025179" y="2686478"/>
              <a:ext cx="1262094" cy="45719"/>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7" name="标题 1"/>
            <p:cNvSpPr txBox="1"/>
            <p:nvPr/>
          </p:nvSpPr>
          <p:spPr>
            <a:xfrm rot="19958024" flipH="1">
              <a:off x="7592301" y="1850387"/>
              <a:ext cx="1033455" cy="45719"/>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8" name="标题 1"/>
            <p:cNvSpPr txBox="1"/>
            <p:nvPr/>
          </p:nvSpPr>
          <p:spPr>
            <a:xfrm rot="14613050">
              <a:off x="8502714" y="1586982"/>
              <a:ext cx="121920" cy="12192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9" name="标题 1"/>
            <p:cNvSpPr txBox="1"/>
            <p:nvPr/>
          </p:nvSpPr>
          <p:spPr>
            <a:xfrm rot="14613050">
              <a:off x="7584500" y="3262113"/>
              <a:ext cx="121920" cy="12192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pic>
        <p:nvPicPr>
          <p:cNvPr id="40" name="图片 39"/>
          <p:cNvPicPr>
            <a:picLocks noChangeAspect="1"/>
          </p:cNvPicPr>
          <p:nvPr/>
        </p:nvPicPr>
        <p:blipFill>
          <a:blip r:embed="rId3">
            <a:alphaModFix amt="100000"/>
          </a:blip>
          <a:srcRect/>
          <a:stretch>
            <a:fillRect/>
          </a:stretch>
        </p:blipFill>
        <p:spPr>
          <a:xfrm>
            <a:off x="8053346" y="2110414"/>
            <a:ext cx="1097280" cy="1219194"/>
          </a:xfrm>
          <a:prstGeom prst="rect">
            <a:avLst/>
          </a:prstGeom>
          <a:noFill/>
          <a:ln>
            <a:noFill/>
          </a:ln>
        </p:spPr>
      </p:pic>
      <p:pic>
        <p:nvPicPr>
          <p:cNvPr id="41" name="图片 40"/>
          <p:cNvPicPr>
            <a:picLocks noChangeAspect="1"/>
          </p:cNvPicPr>
          <p:nvPr/>
        </p:nvPicPr>
        <p:blipFill>
          <a:blip r:embed="rId4">
            <a:alphaModFix amt="100000"/>
          </a:blip>
          <a:srcRect/>
          <a:stretch>
            <a:fillRect/>
          </a:stretch>
        </p:blipFill>
        <p:spPr>
          <a:xfrm>
            <a:off x="11260696" y="2230740"/>
            <a:ext cx="782818" cy="922604"/>
          </a:xfrm>
          <a:prstGeom prst="rect">
            <a:avLst/>
          </a:prstGeom>
          <a:noFill/>
          <a:ln>
            <a:noFill/>
          </a:ln>
        </p:spPr>
      </p:pic>
      <p:sp>
        <p:nvSpPr>
          <p:cNvPr id="42" name="标题 1"/>
          <p:cNvSpPr txBox="1"/>
          <p:nvPr/>
        </p:nvSpPr>
        <p:spPr>
          <a:xfrm rot="5400000">
            <a:off x="9797383" y="363987"/>
            <a:ext cx="2160046" cy="1862110"/>
          </a:xfrm>
          <a:prstGeom prst="hexagon">
            <a:avLst/>
          </a:prstGeom>
          <a:solidFill>
            <a:schemeClr val="accent1"/>
          </a:solidFill>
          <a:ln w="12700" cap="sq">
            <a:noFill/>
            <a:miter/>
          </a:ln>
          <a:effectLst>
            <a:outerShdw blurRad="254000" dist="114300" dir="2700000" algn="tl" rotWithShape="0">
              <a:schemeClr val="accent1">
                <a:lumMod val="50000"/>
                <a:alpha val="30000"/>
              </a:schemeClr>
            </a:outerShdw>
          </a:effectLst>
        </p:spPr>
        <p:txBody>
          <a:bodyPr vert="horz" wrap="square" lIns="91440" tIns="45720" rIns="91440" bIns="45720" rtlCol="0" anchor="ctr"/>
          <a:lstStyle/>
          <a:p>
            <a:pPr algn="ctr">
              <a:lnSpc>
                <a:spcPct val="110000"/>
              </a:lnSpc>
            </a:pPr>
            <a:endParaRPr kumimoji="1" lang="zh-CN" altLang="en-US"/>
          </a:p>
        </p:txBody>
      </p:sp>
      <p:grpSp>
        <p:nvGrpSpPr>
          <p:cNvPr id="43" name="组合 42"/>
          <p:cNvGrpSpPr/>
          <p:nvPr/>
        </p:nvGrpSpPr>
        <p:grpSpPr>
          <a:xfrm>
            <a:off x="9891442" y="154922"/>
            <a:ext cx="1118504" cy="2335561"/>
            <a:chOff x="9891442" y="154922"/>
            <a:chExt cx="1118504" cy="2335561"/>
          </a:xfrm>
        </p:grpSpPr>
        <p:sp>
          <p:nvSpPr>
            <p:cNvPr id="44" name="标题 1"/>
            <p:cNvSpPr txBox="1"/>
            <p:nvPr/>
          </p:nvSpPr>
          <p:spPr>
            <a:xfrm rot="14613050">
              <a:off x="10849095" y="2347792"/>
              <a:ext cx="121920" cy="12192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5" name="标题 1"/>
            <p:cNvSpPr txBox="1"/>
            <p:nvPr/>
          </p:nvSpPr>
          <p:spPr>
            <a:xfrm rot="14613050">
              <a:off x="9912213" y="665911"/>
              <a:ext cx="121920" cy="12192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6" name="标题 1"/>
            <p:cNvSpPr txBox="1"/>
            <p:nvPr/>
          </p:nvSpPr>
          <p:spPr>
            <a:xfrm rot="12501059">
              <a:off x="9935757" y="2147955"/>
              <a:ext cx="1042323" cy="45719"/>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7" name="标题 1"/>
            <p:cNvSpPr txBox="1"/>
            <p:nvPr/>
          </p:nvSpPr>
          <p:spPr>
            <a:xfrm rot="16216083" flipH="1">
              <a:off x="9392437" y="1323480"/>
              <a:ext cx="1173258" cy="45719"/>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8" name="标题 1"/>
            <p:cNvSpPr txBox="1"/>
            <p:nvPr/>
          </p:nvSpPr>
          <p:spPr>
            <a:xfrm rot="19958024" flipH="1">
              <a:off x="9866169" y="461229"/>
              <a:ext cx="1153264" cy="45719"/>
            </a:xfrm>
            <a:prstGeom prst="rect">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9" name="标题 1"/>
            <p:cNvSpPr txBox="1"/>
            <p:nvPr/>
          </p:nvSpPr>
          <p:spPr>
            <a:xfrm rot="14613050">
              <a:off x="10867255" y="175693"/>
              <a:ext cx="121920" cy="12192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0" name="标题 1"/>
            <p:cNvSpPr txBox="1"/>
            <p:nvPr/>
          </p:nvSpPr>
          <p:spPr>
            <a:xfrm rot="14613050">
              <a:off x="9912214" y="1863522"/>
              <a:ext cx="121920" cy="121920"/>
            </a:xfrm>
            <a:prstGeom prst="ellipse">
              <a:avLst/>
            </a:pr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grpSp>
      <p:pic>
        <p:nvPicPr>
          <p:cNvPr id="51" name="图片 50"/>
          <p:cNvPicPr>
            <a:picLocks noChangeAspect="1"/>
          </p:cNvPicPr>
          <p:nvPr/>
        </p:nvPicPr>
        <p:blipFill>
          <a:blip r:embed="rId5">
            <a:alphaModFix amt="100000"/>
          </a:blip>
          <a:srcRect/>
          <a:stretch>
            <a:fillRect/>
          </a:stretch>
        </p:blipFill>
        <p:spPr>
          <a:xfrm>
            <a:off x="10287000" y="685806"/>
            <a:ext cx="1219200" cy="1219190"/>
          </a:xfrm>
          <a:prstGeom prst="rect">
            <a:avLst/>
          </a:prstGeom>
          <a:noFill/>
          <a:ln>
            <a:noFill/>
          </a:ln>
        </p:spPr>
      </p:pic>
      <p:pic>
        <p:nvPicPr>
          <p:cNvPr id="52" name="图片 51"/>
          <p:cNvPicPr>
            <a:picLocks noChangeAspect="1"/>
          </p:cNvPicPr>
          <p:nvPr/>
        </p:nvPicPr>
        <p:blipFill>
          <a:blip r:embed="rId6">
            <a:alphaModFix amt="100000"/>
          </a:blip>
          <a:srcRect/>
          <a:stretch>
            <a:fillRect/>
          </a:stretch>
        </p:blipFill>
        <p:spPr>
          <a:xfrm>
            <a:off x="7410303" y="3680949"/>
            <a:ext cx="762002" cy="846666"/>
          </a:xfrm>
          <a:prstGeom prst="rect">
            <a:avLst/>
          </a:prstGeom>
          <a:noFill/>
          <a:ln>
            <a:noFill/>
          </a:ln>
        </p:spPr>
      </p:pic>
      <p:pic>
        <p:nvPicPr>
          <p:cNvPr id="53" name="图片 52"/>
          <p:cNvPicPr>
            <a:picLocks noChangeAspect="1"/>
          </p:cNvPicPr>
          <p:nvPr/>
        </p:nvPicPr>
        <p:blipFill>
          <a:blip r:embed="rId7">
            <a:alphaModFix amt="100000"/>
          </a:blip>
          <a:srcRect/>
          <a:stretch>
            <a:fillRect/>
          </a:stretch>
        </p:blipFill>
        <p:spPr>
          <a:xfrm rot="1473473">
            <a:off x="11334158" y="5049521"/>
            <a:ext cx="801284" cy="924560"/>
          </a:xfrm>
          <a:prstGeom prst="rect">
            <a:avLst/>
          </a:prstGeom>
          <a:noFill/>
          <a:ln>
            <a:noFill/>
          </a:ln>
        </p:spPr>
      </p:pic>
      <p:pic>
        <p:nvPicPr>
          <p:cNvPr id="54" name="图片 53"/>
          <p:cNvPicPr>
            <a:picLocks noChangeAspect="1"/>
          </p:cNvPicPr>
          <p:nvPr/>
        </p:nvPicPr>
        <p:blipFill>
          <a:blip r:embed="rId8">
            <a:alphaModFix amt="100000"/>
          </a:blip>
          <a:srcRect/>
          <a:stretch>
            <a:fillRect/>
          </a:stretch>
        </p:blipFill>
        <p:spPr>
          <a:xfrm>
            <a:off x="8741265" y="6416207"/>
            <a:ext cx="1198880" cy="1005508"/>
          </a:xfrm>
          <a:prstGeom prst="rect">
            <a:avLst/>
          </a:prstGeom>
          <a:noFill/>
          <a:ln>
            <a:noFill/>
          </a:ln>
        </p:spPr>
      </p:pic>
      <p:grpSp>
        <p:nvGrpSpPr>
          <p:cNvPr id="55" name="组合 54"/>
          <p:cNvGrpSpPr/>
          <p:nvPr/>
        </p:nvGrpSpPr>
        <p:grpSpPr>
          <a:xfrm>
            <a:off x="6797040" y="1638301"/>
            <a:ext cx="472440" cy="472440"/>
            <a:chOff x="6797040" y="1638301"/>
            <a:chExt cx="472440" cy="472440"/>
          </a:xfrm>
        </p:grpSpPr>
        <p:sp>
          <p:nvSpPr>
            <p:cNvPr id="56" name="标题 1"/>
            <p:cNvSpPr txBox="1"/>
            <p:nvPr/>
          </p:nvSpPr>
          <p:spPr>
            <a:xfrm>
              <a:off x="6797040" y="1638301"/>
              <a:ext cx="472440" cy="472440"/>
            </a:xfrm>
            <a:prstGeom prst="ellipse">
              <a:avLst/>
            </a:prstGeom>
            <a:noFill/>
            <a:ln w="5715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grpSp>
          <p:nvGrpSpPr>
            <p:cNvPr id="57" name="组合 56"/>
            <p:cNvGrpSpPr/>
            <p:nvPr/>
          </p:nvGrpSpPr>
          <p:grpSpPr>
            <a:xfrm>
              <a:off x="6887210" y="1728471"/>
              <a:ext cx="292100" cy="292100"/>
              <a:chOff x="6887210" y="1728471"/>
              <a:chExt cx="292100" cy="292100"/>
            </a:xfrm>
          </p:grpSpPr>
          <p:sp>
            <p:nvSpPr>
              <p:cNvPr id="58" name="标题 1"/>
              <p:cNvSpPr txBox="1"/>
              <p:nvPr/>
            </p:nvSpPr>
            <p:spPr>
              <a:xfrm>
                <a:off x="6887210" y="1841501"/>
                <a:ext cx="292100" cy="66040"/>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9" name="标题 1"/>
              <p:cNvSpPr txBox="1"/>
              <p:nvPr/>
            </p:nvSpPr>
            <p:spPr>
              <a:xfrm rot="5400000">
                <a:off x="6887210" y="1841501"/>
                <a:ext cx="292100" cy="66040"/>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grpSp>
      </p:grpSp>
      <p:grpSp>
        <p:nvGrpSpPr>
          <p:cNvPr id="60" name="组合 59"/>
          <p:cNvGrpSpPr/>
          <p:nvPr/>
        </p:nvGrpSpPr>
        <p:grpSpPr>
          <a:xfrm>
            <a:off x="8821258" y="129058"/>
            <a:ext cx="336246" cy="336246"/>
            <a:chOff x="8821258" y="129058"/>
            <a:chExt cx="336246" cy="336246"/>
          </a:xfrm>
        </p:grpSpPr>
        <p:sp>
          <p:nvSpPr>
            <p:cNvPr id="61" name="标题 1"/>
            <p:cNvSpPr txBox="1"/>
            <p:nvPr/>
          </p:nvSpPr>
          <p:spPr>
            <a:xfrm>
              <a:off x="8821258" y="129058"/>
              <a:ext cx="336246" cy="336246"/>
            </a:xfrm>
            <a:prstGeom prst="ellipse">
              <a:avLst/>
            </a:prstGeom>
            <a:noFill/>
            <a:ln w="5715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grpSp>
          <p:nvGrpSpPr>
            <p:cNvPr id="62" name="组合 61"/>
            <p:cNvGrpSpPr/>
            <p:nvPr/>
          </p:nvGrpSpPr>
          <p:grpSpPr>
            <a:xfrm>
              <a:off x="8885434" y="193234"/>
              <a:ext cx="207894" cy="207894"/>
              <a:chOff x="8885434" y="193234"/>
              <a:chExt cx="207894" cy="207894"/>
            </a:xfrm>
          </p:grpSpPr>
          <p:sp>
            <p:nvSpPr>
              <p:cNvPr id="63" name="标题 1"/>
              <p:cNvSpPr txBox="1"/>
              <p:nvPr/>
            </p:nvSpPr>
            <p:spPr>
              <a:xfrm>
                <a:off x="8885434" y="273680"/>
                <a:ext cx="207894" cy="47002"/>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4" name="标题 1"/>
              <p:cNvSpPr txBox="1"/>
              <p:nvPr/>
            </p:nvSpPr>
            <p:spPr>
              <a:xfrm rot="5400000">
                <a:off x="8885434" y="273680"/>
                <a:ext cx="207894" cy="47002"/>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grpSp>
      </p:grpSp>
      <p:grpSp>
        <p:nvGrpSpPr>
          <p:cNvPr id="65" name="组合 64"/>
          <p:cNvGrpSpPr/>
          <p:nvPr/>
        </p:nvGrpSpPr>
        <p:grpSpPr>
          <a:xfrm>
            <a:off x="9563968" y="5058099"/>
            <a:ext cx="498290" cy="498290"/>
            <a:chOff x="9563968" y="5058099"/>
            <a:chExt cx="498290" cy="498290"/>
          </a:xfrm>
        </p:grpSpPr>
        <p:sp>
          <p:nvSpPr>
            <p:cNvPr id="66" name="标题 1"/>
            <p:cNvSpPr txBox="1"/>
            <p:nvPr/>
          </p:nvSpPr>
          <p:spPr>
            <a:xfrm>
              <a:off x="9563968" y="5058099"/>
              <a:ext cx="498290" cy="498290"/>
            </a:xfrm>
            <a:prstGeom prst="ellipse">
              <a:avLst/>
            </a:prstGeom>
            <a:noFill/>
            <a:ln w="5715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grpSp>
          <p:nvGrpSpPr>
            <p:cNvPr id="67" name="组合 66"/>
            <p:cNvGrpSpPr/>
            <p:nvPr/>
          </p:nvGrpSpPr>
          <p:grpSpPr>
            <a:xfrm>
              <a:off x="9659072" y="5153203"/>
              <a:ext cx="308082" cy="308082"/>
              <a:chOff x="9659072" y="5153203"/>
              <a:chExt cx="308082" cy="308082"/>
            </a:xfrm>
          </p:grpSpPr>
          <p:sp>
            <p:nvSpPr>
              <p:cNvPr id="68" name="标题 1"/>
              <p:cNvSpPr txBox="1"/>
              <p:nvPr/>
            </p:nvSpPr>
            <p:spPr>
              <a:xfrm>
                <a:off x="9659072" y="5272417"/>
                <a:ext cx="308083" cy="69653"/>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9" name="标题 1"/>
              <p:cNvSpPr txBox="1"/>
              <p:nvPr/>
            </p:nvSpPr>
            <p:spPr>
              <a:xfrm rot="5400000">
                <a:off x="9659072" y="5272417"/>
                <a:ext cx="308083" cy="69653"/>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grpSp>
      </p:grpSp>
      <p:sp>
        <p:nvSpPr>
          <p:cNvPr id="70" name="标题 1"/>
          <p:cNvSpPr txBox="1"/>
          <p:nvPr/>
        </p:nvSpPr>
        <p:spPr>
          <a:xfrm rot="5400000">
            <a:off x="-699343" y="406046"/>
            <a:ext cx="1190342" cy="1026156"/>
          </a:xfrm>
          <a:prstGeom prst="hexagon">
            <a:avLst/>
          </a:prstGeom>
          <a:solidFill>
            <a:schemeClr val="accent1"/>
          </a:solidFill>
          <a:ln w="12700" cap="sq">
            <a:noFill/>
            <a:miter/>
          </a:ln>
          <a:effectLst>
            <a:outerShdw blurRad="254000" dist="114300" dir="2700000" algn="tl" rotWithShape="0">
              <a:schemeClr val="accent1">
                <a:lumMod val="50000"/>
                <a:alpha val="3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71" name="标题 1"/>
          <p:cNvSpPr txBox="1"/>
          <p:nvPr/>
        </p:nvSpPr>
        <p:spPr>
          <a:xfrm>
            <a:off x="482600" y="1358900"/>
            <a:ext cx="5842000" cy="3378200"/>
          </a:xfrm>
          <a:prstGeom prst="rect">
            <a:avLst/>
          </a:prstGeom>
          <a:noFill/>
          <a:ln w="12700" cap="sq">
            <a:noFill/>
            <a:miter/>
          </a:ln>
        </p:spPr>
        <p:txBody>
          <a:bodyPr vert="horz" wrap="square" lIns="0" tIns="0" rIns="0" bIns="0" rtlCol="0" anchor="ctr"/>
          <a:lstStyle/>
          <a:p>
            <a:pPr algn="ctr">
              <a:lnSpc>
                <a:spcPct val="130000"/>
              </a:lnSpc>
            </a:pPr>
            <a:r>
              <a:rPr kumimoji="1" lang="en-US" altLang="zh-CN" sz="4000"/>
              <a:t>Be prepared,</a:t>
            </a:r>
            <a:endParaRPr kumimoji="1" lang="en-US" altLang="zh-CN" sz="4000"/>
          </a:p>
          <a:p>
            <a:pPr algn="ctr">
              <a:lnSpc>
                <a:spcPct val="130000"/>
              </a:lnSpc>
            </a:pPr>
            <a:r>
              <a:rPr kumimoji="1" lang="en-US" altLang="zh-CN" sz="4000"/>
              <a:t>be humble,</a:t>
            </a:r>
            <a:endParaRPr kumimoji="1" lang="en-US" altLang="zh-CN" sz="4000"/>
          </a:p>
          <a:p>
            <a:pPr algn="ctr">
              <a:lnSpc>
                <a:spcPct val="130000"/>
              </a:lnSpc>
            </a:pPr>
            <a:r>
              <a:rPr kumimoji="1" lang="en-US" altLang="zh-CN" sz="4000"/>
              <a:t>be patient,</a:t>
            </a:r>
            <a:endParaRPr kumimoji="1" lang="en-US" altLang="zh-CN" sz="4000"/>
          </a:p>
          <a:p>
            <a:pPr algn="ctr">
              <a:lnSpc>
                <a:spcPct val="130000"/>
              </a:lnSpc>
            </a:pPr>
            <a:r>
              <a:rPr kumimoji="1" lang="en-US" altLang="zh-CN" sz="4000"/>
              <a:t>be nice!!!</a:t>
            </a:r>
            <a:endParaRPr kumimoji="1" lang="en-US" altLang="zh-CN" sz="4000"/>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PP_MARK_KEY" val="27ba9bbf-9ae6-4525-8460-6c557ec18ee7"/>
  <p:tag name="COMMONDATA" val="eyJoZGlkIjoiNTZhMjA2N2EwZDZiMzU4OTRjNjcwZmYzNDI1ZmI1NGUifQ=="/>
</p:tagLst>
</file>

<file path=ppt/theme/theme1.xml><?xml version="1.0" encoding="utf-8"?>
<a:theme xmlns:a="http://schemas.openxmlformats.org/drawingml/2006/main" name="Office 主题​​">
  <a:themeElements>
    <a:clrScheme name="Office">
      <a:dk1>
        <a:srgbClr val="000000"/>
      </a:dk1>
      <a:lt1>
        <a:srgbClr val="FFFFFF"/>
      </a:lt1>
      <a:dk2>
        <a:srgbClr val="4A66AC"/>
      </a:dk2>
      <a:lt2>
        <a:srgbClr val="E0EBF6"/>
      </a:lt2>
      <a:accent1>
        <a:srgbClr val="5BD1D7"/>
      </a:accent1>
      <a:accent2>
        <a:srgbClr val="348498"/>
      </a:accent2>
      <a:accent3>
        <a:srgbClr val="ACCAF4"/>
      </a:accent3>
      <a:accent4>
        <a:srgbClr val="237AD3"/>
      </a:accent4>
      <a:accent5>
        <a:srgbClr val="88C0E4"/>
      </a:accent5>
      <a:accent6>
        <a:srgbClr val="D0E5E8"/>
      </a:accent6>
      <a:hlink>
        <a:srgbClr val="000000"/>
      </a:hlink>
      <a:folHlink>
        <a:srgbClr val="0000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10414</Words>
  <Application>WPS 演示</Application>
  <PresentationFormat/>
  <Paragraphs>181</Paragraphs>
  <Slides>17</Slides>
  <Notes>0</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17</vt:i4>
      </vt:variant>
    </vt:vector>
  </HeadingPairs>
  <TitlesOfParts>
    <vt:vector size="40" baseType="lpstr">
      <vt:lpstr>Arial</vt:lpstr>
      <vt:lpstr>宋体</vt:lpstr>
      <vt:lpstr>Wingdings</vt:lpstr>
      <vt:lpstr>Georgia</vt:lpstr>
      <vt:lpstr>OPPOSans H</vt:lpstr>
      <vt:lpstr>Eras Bold ITC</vt:lpstr>
      <vt:lpstr>汉仪润圆-65W</vt:lpstr>
      <vt:lpstr>苹方-简</vt:lpstr>
      <vt:lpstr>Malgun Gothic</vt:lpstr>
      <vt:lpstr>Source Han Sans</vt:lpstr>
      <vt:lpstr>OPPOSans R</vt:lpstr>
      <vt:lpstr>Source Han Sans CN Bold</vt:lpstr>
      <vt:lpstr>等线</vt:lpstr>
      <vt:lpstr>汉仪中等线KW</vt:lpstr>
      <vt:lpstr>微软雅黑</vt:lpstr>
      <vt:lpstr>汉仪旗黑</vt:lpstr>
      <vt:lpstr>宋体</vt:lpstr>
      <vt:lpstr>Arial Unicode MS</vt:lpstr>
      <vt:lpstr>Calibri</vt:lpstr>
      <vt:lpstr>汉仪书宋二KW</vt:lpstr>
      <vt:lpstr>Source Han Sans</vt:lpstr>
      <vt:lpstr>汉仪润圆-65W</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樂凭言</cp:lastModifiedBy>
  <cp:revision>14</cp:revision>
  <dcterms:created xsi:type="dcterms:W3CDTF">2026-02-27T07:25:02Z</dcterms:created>
  <dcterms:modified xsi:type="dcterms:W3CDTF">2026-02-27T07:25:02Z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71298C1EE9DA40E69D8B282061522CEC</vt:lpwstr>
  </property>
  <property fmtid="{D5CDD505-2E9C-101B-9397-08002B2CF9AE}" pid="3" name="KSOProductBuildVer">
    <vt:lpwstr>2052-7.2.1.8947</vt:lpwstr>
  </property>
</Properties>
</file>