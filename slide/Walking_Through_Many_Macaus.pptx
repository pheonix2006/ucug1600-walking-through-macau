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bb0aa72874fd9" /><Relationship Type="http://schemas.openxmlformats.org/officeDocument/2006/relationships/extended-properties" Target="/docProps/app.xml" Id="R2921477f4b6b45d5" /><Relationship Type="http://schemas.openxmlformats.org/officeDocument/2006/relationships/officeDocument" Target="/ppt/presentation.xml" Id="R740357c2e2eb4f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1ef488502e4d30"/>
  </p:sldMasterIdLst>
  <p:notesMasterIdLst>
    <p:notesMasterId xmlns:r="http://schemas.openxmlformats.org/officeDocument/2006/relationships" r:id="Rb9145318a31a44dc"/>
  </p:notesMasterIdLst>
  <p:sldIdLst>
    <p:sldId xmlns:r="http://schemas.openxmlformats.org/officeDocument/2006/relationships" id="256" r:id="R3028cf40409a4079"/>
    <p:sldId xmlns:r="http://schemas.openxmlformats.org/officeDocument/2006/relationships" id="257" r:id="Raefe449c108647d5"/>
    <p:sldId xmlns:r="http://schemas.openxmlformats.org/officeDocument/2006/relationships" id="258" r:id="Rb1a443cc39424c78"/>
    <p:sldId xmlns:r="http://schemas.openxmlformats.org/officeDocument/2006/relationships" id="259" r:id="R5df3260dcdd14638"/>
    <p:sldId xmlns:r="http://schemas.openxmlformats.org/officeDocument/2006/relationships" id="260" r:id="R85e646a894244985"/>
    <p:sldId xmlns:r="http://schemas.openxmlformats.org/officeDocument/2006/relationships" id="261" r:id="Rf6442e129f6249df"/>
    <p:sldId xmlns:r="http://schemas.openxmlformats.org/officeDocument/2006/relationships" id="262" r:id="Rf410356d10d64f17"/>
    <p:sldId xmlns:r="http://schemas.openxmlformats.org/officeDocument/2006/relationships" id="263" r:id="R2c3ff2d873ba46e0"/>
    <p:sldId xmlns:r="http://schemas.openxmlformats.org/officeDocument/2006/relationships" id="264" r:id="Re20c79d034114ab8"/>
    <p:sldId xmlns:r="http://schemas.openxmlformats.org/officeDocument/2006/relationships" id="265" r:id="R3aa32a65b35c433e"/>
    <p:sldId xmlns:r="http://schemas.openxmlformats.org/officeDocument/2006/relationships" id="266" r:id="R1619cca3d150405a"/>
    <p:sldId xmlns:r="http://schemas.openxmlformats.org/officeDocument/2006/relationships" id="267" r:id="Rd8c56b16aa39458a"/>
    <p:sldId xmlns:r="http://schemas.openxmlformats.org/officeDocument/2006/relationships" id="268" r:id="R3e2b436652a8487e"/>
    <p:sldId xmlns:r="http://schemas.openxmlformats.org/officeDocument/2006/relationships" id="269" r:id="R6e4ffaf40e4c4436"/>
    <p:sldId xmlns:r="http://schemas.openxmlformats.org/officeDocument/2006/relationships" id="270" r:id="R99a5e495330345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ef488502e4d30" /><Relationship Type="http://schemas.openxmlformats.org/officeDocument/2006/relationships/theme" Target="/ppt/theme/theme1.xml" Id="R8e7693e8be604e2a" /><Relationship Type="http://schemas.openxmlformats.org/officeDocument/2006/relationships/notesMaster" Target="/ppt/notesMasters/notesMaster1.xml" Id="Rb9145318a31a44dc" /><Relationship Type="http://schemas.openxmlformats.org/officeDocument/2006/relationships/presProps" Target="/ppt/presProps.xml" Id="R6031f377435d4611" /><Relationship Type="http://schemas.openxmlformats.org/officeDocument/2006/relationships/viewProps" Target="/ppt/viewProps.xml" Id="Rc36b9e3ac4724b72" /><Relationship Type="http://schemas.openxmlformats.org/officeDocument/2006/relationships/tableStyles" Target="/ppt/tableStyles.xml" Id="R1395acc5166c4d83" /><Relationship Type="http://schemas.openxmlformats.org/officeDocument/2006/relationships/slide" Target="/ppt/slides/slide1.xml" Id="R3028cf40409a4079" /><Relationship Type="http://schemas.openxmlformats.org/officeDocument/2006/relationships/slide" Target="/ppt/slides/slide2.xml" Id="Raefe449c108647d5" /><Relationship Type="http://schemas.openxmlformats.org/officeDocument/2006/relationships/slide" Target="/ppt/slides/slide3.xml" Id="Rb1a443cc39424c78" /><Relationship Type="http://schemas.openxmlformats.org/officeDocument/2006/relationships/slide" Target="/ppt/slides/slide4.xml" Id="R5df3260dcdd14638" /><Relationship Type="http://schemas.openxmlformats.org/officeDocument/2006/relationships/slide" Target="/ppt/slides/slide5.xml" Id="R85e646a894244985" /><Relationship Type="http://schemas.openxmlformats.org/officeDocument/2006/relationships/slide" Target="/ppt/slides/slide6.xml" Id="Rf6442e129f6249df" /><Relationship Type="http://schemas.openxmlformats.org/officeDocument/2006/relationships/slide" Target="/ppt/slides/slide7.xml" Id="Rf410356d10d64f17" /><Relationship Type="http://schemas.openxmlformats.org/officeDocument/2006/relationships/slide" Target="/ppt/slides/slide8.xml" Id="R2c3ff2d873ba46e0" /><Relationship Type="http://schemas.openxmlformats.org/officeDocument/2006/relationships/slide" Target="/ppt/slides/slide9.xml" Id="Re20c79d034114ab8" /><Relationship Type="http://schemas.openxmlformats.org/officeDocument/2006/relationships/slide" Target="/ppt/slides/slide10.xml" Id="R3aa32a65b35c433e" /><Relationship Type="http://schemas.openxmlformats.org/officeDocument/2006/relationships/slide" Target="/ppt/slides/slide11.xml" Id="R1619cca3d150405a" /><Relationship Type="http://schemas.openxmlformats.org/officeDocument/2006/relationships/slide" Target="/ppt/slides/slide12.xml" Id="Rd8c56b16aa39458a" /><Relationship Type="http://schemas.openxmlformats.org/officeDocument/2006/relationships/slide" Target="/ppt/slides/slide13.xml" Id="R3e2b436652a8487e" /><Relationship Type="http://schemas.openxmlformats.org/officeDocument/2006/relationships/slide" Target="/ppt/slides/slide14.xml" Id="R6e4ffaf40e4c4436" /><Relationship Type="http://schemas.openxmlformats.org/officeDocument/2006/relationships/slide" Target="/ppt/slides/slide15.xml" Id="R99a5e495330345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028e237c71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10d6e46834e39" /><Relationship Type="http://schemas.openxmlformats.org/officeDocument/2006/relationships/notesMaster" Target="/ppt/notesMasters/notesMaster1.xml" Id="R1e8673c04be3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cd9cfc44f4623" /><Relationship Type="http://schemas.openxmlformats.org/officeDocument/2006/relationships/notesMaster" Target="/ppt/notesMasters/notesMaster1.xml" Id="R0185f11c081c4c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b6380ba6e428b" /><Relationship Type="http://schemas.openxmlformats.org/officeDocument/2006/relationships/notesMaster" Target="/ppt/notesMasters/notesMaster1.xml" Id="R288c61b4e49e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1a70e22bd64952" /><Relationship Type="http://schemas.openxmlformats.org/officeDocument/2006/relationships/notesMaster" Target="/ppt/notesMasters/notesMaster1.xml" Id="R19015abe56f545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6f7c211c2a4781" /><Relationship Type="http://schemas.openxmlformats.org/officeDocument/2006/relationships/notesMaster" Target="/ppt/notesMasters/notesMaster1.xml" Id="R3b5bba8ce8ae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232619e88f4ba3" /><Relationship Type="http://schemas.openxmlformats.org/officeDocument/2006/relationships/notesMaster" Target="/ppt/notesMasters/notesMaster1.xml" Id="R21aa43f2ee7e4a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fa247af6d54ace" /><Relationship Type="http://schemas.openxmlformats.org/officeDocument/2006/relationships/notesMaster" Target="/ppt/notesMasters/notesMaster1.xml" Id="R4ad1dbb4be5b4a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61f3bd00e9459f" /><Relationship Type="http://schemas.openxmlformats.org/officeDocument/2006/relationships/notesMaster" Target="/ppt/notesMasters/notesMaster1.xml" Id="R42fa63ade43147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f3d3b2633a4ed2" /><Relationship Type="http://schemas.openxmlformats.org/officeDocument/2006/relationships/notesMaster" Target="/ppt/notesMasters/notesMaster1.xml" Id="R7f024885d83e43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d584366f524cbd" /><Relationship Type="http://schemas.openxmlformats.org/officeDocument/2006/relationships/notesMaster" Target="/ppt/notesMasters/notesMaster1.xml" Id="R490d02787e0d46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92395ac6484a58" /><Relationship Type="http://schemas.openxmlformats.org/officeDocument/2006/relationships/notesMaster" Target="/ppt/notesMasters/notesMaster1.xml" Id="R95c8bb03f8d743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a6c417bf474168" /><Relationship Type="http://schemas.openxmlformats.org/officeDocument/2006/relationships/notesMaster" Target="/ppt/notesMasters/notesMaster1.xml" Id="R6f2c5a53f7ee40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e36b222da9483d" /><Relationship Type="http://schemas.openxmlformats.org/officeDocument/2006/relationships/notesMaster" Target="/ppt/notesMasters/notesMaster1.xml" Id="R291904804ce246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be6244671e4e2f" /><Relationship Type="http://schemas.openxmlformats.org/officeDocument/2006/relationships/notesMaster" Target="/ppt/notesMasters/notesMaster1.xml" Id="R78ef5a4abae242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15e6045ff54f4f" /><Relationship Type="http://schemas.openxmlformats.org/officeDocument/2006/relationships/notesMaster" Target="/ppt/notesMasters/notesMaster1.xml" Id="R3a7efb38624248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c5b3a397047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e5db0daa59c4dae" /><Relationship Type="http://schemas.openxmlformats.org/officeDocument/2006/relationships/slideLayout" Target="/ppt/slideLayouts/slideLayout2.xml" Id="R3138013381e940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8013381e940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02cff120d495c" /><Relationship Type="http://schemas.openxmlformats.org/officeDocument/2006/relationships/image" Target="/ppt/media/image.jpeg" Id="Reead7fe8ad7e4ece" /><Relationship Type="http://schemas.openxmlformats.org/officeDocument/2006/relationships/image" Target="/ppt/media/image2.jpeg" Id="Rfeba3d87b54c472b" /><Relationship Type="http://schemas.openxmlformats.org/officeDocument/2006/relationships/notesSlide" Target="/ppt/notesSlides/notesSlide1.xml" Id="Re1401719576948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d9f499a3e14952" /><Relationship Type="http://schemas.openxmlformats.org/officeDocument/2006/relationships/image" Target="/ppt/media/image3.jpeg" Id="R2d3bb285b9774071" /><Relationship Type="http://schemas.openxmlformats.org/officeDocument/2006/relationships/image" Target="/ppt/media/image4.jpeg" Id="R72e0e322d7734949" /><Relationship Type="http://schemas.openxmlformats.org/officeDocument/2006/relationships/image" Target="/ppt/media/image5.jpeg" Id="R10b04570e0354b02" /><Relationship Type="http://schemas.openxmlformats.org/officeDocument/2006/relationships/image" Target="/ppt/media/image6.jpeg" Id="Rba525a7778804ab2" /><Relationship Type="http://schemas.openxmlformats.org/officeDocument/2006/relationships/image" Target="/ppt/media/image7.jpeg" Id="Rbca932461e7b4e74" /><Relationship Type="http://schemas.openxmlformats.org/officeDocument/2006/relationships/image" Target="/ppt/media/image8.jpeg" Id="R16579ce75baa497e" /><Relationship Type="http://schemas.openxmlformats.org/officeDocument/2006/relationships/notesSlide" Target="/ppt/notesSlides/notesSlide2.xml" Id="R5315f72d94e0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2b3aa7329457c" /><Relationship Type="http://schemas.openxmlformats.org/officeDocument/2006/relationships/notesSlide" Target="/ppt/notesSlides/notesSlide3.xml" Id="R31490c7e0f6a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7f7e0cfee478c" /><Relationship Type="http://schemas.openxmlformats.org/officeDocument/2006/relationships/notesSlide" Target="/ppt/notesSlides/notesSlide4.xml" Id="R4a2dba2922ae42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46c8b1bce44a22" /><Relationship Type="http://schemas.openxmlformats.org/officeDocument/2006/relationships/notesSlide" Target="/ppt/notesSlides/notesSlide5.xml" Id="R0e5a3340c2d149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9b9ccf53f435d" /><Relationship Type="http://schemas.openxmlformats.org/officeDocument/2006/relationships/image" Target="/ppt/media/image9.jpeg" Id="R5757f960129c4cbf" /><Relationship Type="http://schemas.openxmlformats.org/officeDocument/2006/relationships/notesSlide" Target="/ppt/notesSlides/notesSlide6.xml" Id="R65123b2f5d0f4e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15af7f07b24274" /><Relationship Type="http://schemas.openxmlformats.org/officeDocument/2006/relationships/image" Target="/ppt/media/image10.jpeg" Id="Rd4725b1ca53b4b3f" /><Relationship Type="http://schemas.openxmlformats.org/officeDocument/2006/relationships/image" Target="/ppt/media/image11.jpeg" Id="R94a2f8c66db14a3e" /><Relationship Type="http://schemas.openxmlformats.org/officeDocument/2006/relationships/image" Target="/ppt/media/image12.jpeg" Id="R5dce429e7e8f4397" /><Relationship Type="http://schemas.openxmlformats.org/officeDocument/2006/relationships/notesSlide" Target="/ppt/notesSlides/notesSlide7.xml" Id="R36b00c4111c54f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850313bf4a4484" /><Relationship Type="http://schemas.openxmlformats.org/officeDocument/2006/relationships/image" Target="/ppt/media/image13.jpeg" Id="R2262fab7deeb4d4c" /><Relationship Type="http://schemas.openxmlformats.org/officeDocument/2006/relationships/notesSlide" Target="/ppt/notesSlides/notesSlide8.xml" Id="R135f48c1e55e40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6507411c74008" /><Relationship Type="http://schemas.openxmlformats.org/officeDocument/2006/relationships/image" Target="/ppt/media/image14.jpeg" Id="Rd2faf9279dd7400e" /><Relationship Type="http://schemas.openxmlformats.org/officeDocument/2006/relationships/image" Target="/ppt/media/image15.jpeg" Id="R7884084990824190" /><Relationship Type="http://schemas.openxmlformats.org/officeDocument/2006/relationships/image" Target="/ppt/media/image16.jpeg" Id="Rc60c0be37290401a" /><Relationship Type="http://schemas.openxmlformats.org/officeDocument/2006/relationships/notesSlide" Target="/ppt/notesSlides/notesSlide9.xml" Id="R86ed387f3cc24b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bbb4f5e5442b2" /><Relationship Type="http://schemas.openxmlformats.org/officeDocument/2006/relationships/image" Target="/ppt/media/image17.jpeg" Id="R700b38e239894c12" /><Relationship Type="http://schemas.openxmlformats.org/officeDocument/2006/relationships/image" Target="/ppt/media/image18.jpeg" Id="R638596aad3034fe6" /><Relationship Type="http://schemas.openxmlformats.org/officeDocument/2006/relationships/image" Target="/ppt/media/image19.jpeg" Id="R6532c0dce7e14090" /><Relationship Type="http://schemas.openxmlformats.org/officeDocument/2006/relationships/notesSlide" Target="/ppt/notesSlides/notesSlide10.xml" Id="R817b5b9c568747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3942ef2614351" /><Relationship Type="http://schemas.openxmlformats.org/officeDocument/2006/relationships/notesSlide" Target="/ppt/notesSlides/notesSlide11.xml" Id="Re72f93da73a748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fdc1f78b04a16" /><Relationship Type="http://schemas.openxmlformats.org/officeDocument/2006/relationships/image" Target="/ppt/media/image20.jpeg" Id="Rc4876dfcd51c47e0" /><Relationship Type="http://schemas.openxmlformats.org/officeDocument/2006/relationships/notesSlide" Target="/ppt/notesSlides/notesSlide12.xml" Id="Rbff0fddbb7564a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5dd3c17b54b94" /><Relationship Type="http://schemas.openxmlformats.org/officeDocument/2006/relationships/image" Target="/ppt/media/image21.jpeg" Id="R118a010cf2654bd3" /><Relationship Type="http://schemas.openxmlformats.org/officeDocument/2006/relationships/image" Target="/ppt/media/image22.jpeg" Id="R6c5a1da080c44b9a" /><Relationship Type="http://schemas.openxmlformats.org/officeDocument/2006/relationships/image" Target="/ppt/media/image23.jpeg" Id="R0a978a4a13b44568" /><Relationship Type="http://schemas.openxmlformats.org/officeDocument/2006/relationships/notesSlide" Target="/ppt/notesSlides/notesSlide13.xml" Id="Red983f3175b44a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b2a259c434ead" /><Relationship Type="http://schemas.openxmlformats.org/officeDocument/2006/relationships/notesSlide" Target="/ppt/notesSlides/notesSlide14.xml" Id="Rc07825e5f99844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0b787b61ae4781" /><Relationship Type="http://schemas.openxmlformats.org/officeDocument/2006/relationships/image" Target="/ppt/media/image24.jpeg" Id="Rdb7f1ab8a7ec4a56" /><Relationship Type="http://schemas.openxmlformats.org/officeDocument/2006/relationships/notesSlide" Target="/ppt/notesSlides/notesSlide15.xml" Id="R199ab77962cf43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6B06F-F290-4E36-A566-5C4BE437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d7fe8ad7e4ece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a3d87b54c472b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3A13A-CBB4-4057-BF78-D343B9B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938BE-B014-4A84-A397-BA4CD77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Walking Through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Many Macaus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148F5-F7CF-446F-8AA5-0C6CAFA3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rPr>
              <a:t>How Urban Spaces Translate Cultural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CA1A-65CF-4C5D-8C45-A0492B05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穿行于多个澳门：城市空间如何翻译文化身份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873F1-A6DB-4B14-B149-1B080FD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95C80-57A7-4646-9714-2666BFF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5DCE8"/>
                </a:solidFill>
                <a:latin typeface="Microsoft YaHei"/>
                <a:ea typeface="Microsoft YaHei"/>
                <a:cs typeface="Microsoft YaHei"/>
              </a:rPr>
              <a:t>UCUG1600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58618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EADBC-0A54-4417-921F-35EC1422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41F6B-0F05-4ABD-AEC9-5C22FEC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20166-A74B-4C51-8F2D-1CA35CB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One route, many cultural identities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B8AF5-FBEB-4BB0-BC4A-A41D331F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开场先让观众跟着路线移动，而不是先听概念。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53ADC-820C-40F6-BF5A-64CF602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3409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bb285b9774071"/>
          <a:srcRect xmlns:a="http://schemas.openxmlformats.org/drawingml/2006/main" l="0" t="9365" r="0" b="9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E2107-2BB5-4C61-8468-9F87C27D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CE2F1-6FBC-47E2-8D34-35F8BC77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02CB5-2986-401E-8AA4-B9515991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3409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0e322d7734949"/>
          <a:srcRect xmlns:a="http://schemas.openxmlformats.org/drawingml/2006/main" l="0" t="9365" r="0" b="9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80975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E532E-3DED-43CD-97C1-088FA832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718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4EEEA-458E-4222-AE53-9978AEF0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21D6A-FCFE-48D7-B156-7E4106CB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3409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04570e0354b02"/>
          <a:srcRect xmlns:a="http://schemas.openxmlformats.org/drawingml/2006/main" l="0" t="9365" r="0" b="9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80975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DB477-12C1-4C97-B48C-5C314B9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74F0D-A569-45BD-B0F0-0E07FED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Heritage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FB2E5-47CD-4F50-851D-81B706A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3409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25a7778804ab2"/>
          <a:srcRect xmlns:a="http://schemas.openxmlformats.org/drawingml/2006/main" l="0" t="9365" r="0" b="9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361950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D4B84-1409-4350-AD32-EB13FFF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A2FBE-3BC2-465D-B61D-66E0D34C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City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6EF9B-AE3F-42EB-BC18-D4D346B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81400"/>
            <a:ext cx="3409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932461e7b4e74"/>
          <a:srcRect xmlns:a="http://schemas.openxmlformats.org/drawingml/2006/main" l="0" t="9365" r="0" b="9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361950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5E7F3-AF08-4E8D-8E63-2D46425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815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8F5C3-759C-4F91-969B-AB35A52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577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Venetian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4A316-4EEB-4CA5-8F87-AFFD884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81400"/>
            <a:ext cx="3409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79ce75baa497e"/>
          <a:srcRect xmlns:a="http://schemas.openxmlformats.org/drawingml/2006/main" l="0" t="37143" r="0" b="3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3619500"/>
            <a:ext cx="3333750" cy="1524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57F56-EB1F-444C-BA00-F09408D4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4012D-9360-49F3-934C-38694B6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NBA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DCD7C2-6516-4C67-B785-B4080712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FD6080-620C-4610-8E4B-931FEA1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62650"/>
            <a:ext cx="499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播放视频：E:\Project\1600\slide\assets\opening_montage.mp4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F3D833-7278-4029-B56E-E6400C76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0BCBC-178C-422F-B7A3-C55A084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00696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8FBE1-7E3E-472E-8275-326AED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3C1B2-DC69-4313-8787-DC5B4E1E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RESEARCH 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67484-6FB7-42C3-A48A-6EB11CC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AI gave us an entry point, not the final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3F5B0-76DA-4B42-B2B9-1FF7058E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AI 是头脑风暴工具；fieldwork 负责修正问题。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91133-088C-45DC-949B-E8974142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85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3FE34-4D65-4BE8-A063-64AA483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Before fieldwork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2D3B9-01FC-46C2-8A8C-67337DB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F562A-B1F1-4600-A60A-995CAE6E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Bilingual street names</a:t>
            </a:r>
          </a:p>
          <a:p xmlns:a="http://schemas.openxmlformats.org/drawingml/2006/main">
            <a:pPr algn="l">
              <a:def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双名街道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BA800-A096-4174-9DAA-7B51107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CF361-C88C-4F69-ACF4-7B22DD5B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Soundscape map</a:t>
            </a:r>
          </a:p>
          <a:p xmlns:a="http://schemas.openxmlformats.org/drawingml/2006/main">
            <a:pPr algn="l">
              <a:def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声音地图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5FB6F-3E19-4018-8BA9-3F0CD2CD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00375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2D1D9-EA79-406B-BA45-2594FF7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critical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EF309-0391-4E61-8472-860858C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A5C4C-3FEA-4589-80F1-658B6BE5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After fieldwork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01AFA-0B40-4758-9D3F-214260A9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rPr>
              <a:t>The route itself became the framework.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89AE3-99A2-4680-A6E4-A94804A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381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Instead of forcing the data into AI-generated topics, we asked how different urban spaces translate Macau's cultural identity.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8E64C-0252-4F64-B6AF-40B3729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170F7-6D2E-4033-8B46-A26A279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38742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20510-5851-474D-B58B-FC221F9B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3F0F7-06B3-40EE-8718-08FB92E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3A33B-3FEF-4635-AD66-F51698F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How do spaces communicate culture?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7B192-7D05-4E46-832E-126CD4C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研究问题与方法：直接观察、影像记录、路线分析、感官观察。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3D271-22F3-42EC-8351-E990B09C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AEDC5-151D-4AC5-AEFF-FA011EC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How do Macau's urban spaces communicate multiple cultural identities through language, architecture, sound, consumer symbols, and movement?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0E4B-F501-4ED4-87BA-31B2AA77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DCC03-05FA-40A3-BDBA-8F3AC35D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Direct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531CF-FA63-4F98-8923-64AD6DA0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直接观察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ABF3E-C817-4374-8AEC-51B50DD6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90875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06FFE-E8B7-4641-8A72-3499E08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242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Photo / video documentation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8188A-AC8B-4292-BD38-927E4DC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43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照片与视频记录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FE03E-93F7-43C4-BAD2-858FC121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B0DBD-01BA-43E9-A529-06945DB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Walking route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EF808-19E1-45AC-BDC7-88EAD39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路线分析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86072-10C3-4ED3-B5E5-CFE5817B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2333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2413E-8A38-481D-A576-F9629006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5242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Sensory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2FFDD-1BF0-44D3-8661-4E8C31C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43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声音与氛围观察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02858-E9EF-49A0-AACC-FC9FB8F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No formal interviews: our claims focus on observable public-space symbols, not personal opinions.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5EE20-8C50-44A8-BD49-723D8C1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D38CA-B69B-425D-A4C9-BEC5B31B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693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FD6EA-7ABC-4FFF-AE2D-26B7436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089BC-3220-475B-9170-28B3B51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0D6C-4381-486C-A21D-79BFC5E6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Our route became our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73787-7F0D-4CFE-8C44-D93EEBD1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每次地点转换，都是文化解释框架的转换。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E35EE-9AD5-4FBD-A876-7677D565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6DEFE-2997-49C1-B3DB-BE214CE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908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553D7-FB34-4AF3-97F7-5D5EF95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956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8FDCC-3240-4B46-B64D-081B2906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口岸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B70FA-5133-4679-96A7-B72620B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623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02517-7CBD-4FB5-B204-C3D511A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7B990-BC4D-47EF-A37F-53F66691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908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7E429-F420-4E1C-8E26-E4396D1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956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Coach / Hotel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8B756-CBEF-4813-9AB8-8034F83D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大巴与酒店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2BB32-02C7-4CE0-842C-5024559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3623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027A3-713C-41D2-BB70-1A82B427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13D11-BDA9-44FB-9B28-77FACAC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908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5DD63-04C2-44A2-B275-D7F5915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956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Streets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E245-02B9-48BA-85E7-79BB02D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大三巴周边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A3E20-2DEC-47DC-AA7E-528CCF68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3623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C08C6-D9BC-41C6-B642-AF97CB6D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B61B9-298C-49FE-ADF3-38716AC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908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00D4B-9BBE-43A8-825C-641A8148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956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Heritage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97C4F-C398-48D7-98D4-0B3371A4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大三巴 / 大炮台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29AD0-9E23-4FAE-8BD8-816ED949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3623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2D19D-BC4D-4D40-AC6A-A81DF36F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A0DC6-7064-4F1B-87A2-0BCC462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908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F868E-8141-4720-97DA-0C88B7D5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956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Transit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BBA5A0-DE76-4E9A-9B74-78B2A26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公交转场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D9DCA-F1D6-4719-8A7B-AA282BB2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623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D59E7-7D3E-4237-8FB4-C1FA5141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D4105-D404-4416-B2AA-CF7A1969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908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BB7CE-7422-40DF-9DA5-A875883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956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Spectacle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FC431B-03D1-4DCD-A8CF-8601F2E1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威尼斯人 / NBA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886739-FFB1-4CCB-AA49-F12385D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0125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C69298-6A00-4651-92E0-2E4E21C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62525"/>
            <a:ext cx="727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Route is not background information. It is the analytical structure.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D35253-7A2D-4660-A238-1E936948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2F60F-D0CB-4E64-91D4-6121F925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48018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8D1DD-BCED-461F-AFCA-00A14A2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6E77-762E-4C5D-9036-32ABC536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MACAU AS BORDER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0B558-B022-4661-8F1B-3554A68E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Entering another cultural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802F-CE96-48B9-B613-41795623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进入澳门首先是一种边境与秩序的体验。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F227E-5BE4-4DBA-B950-8D1D0DD0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2674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7f960129c4cbf"/>
          <a:srcRect xmlns:a="http://schemas.openxmlformats.org/drawingml/2006/main" l="6473" t="0" r="64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619125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C3FE5-4FF9-447B-BF11-B0A05933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A6FEF-2593-4DF1-8E48-0E4C637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92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Port / wayfinding / crossing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709DF-F27D-4A14-94A4-060BE5F7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714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C0630-8956-44C0-A527-0815EF24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6784F-FBF5-483A-8B11-B3565C9A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Before seeing landmarks, we experienced queues, signs, checkpoints, buses, and spatial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B276D-BA31-430F-B94A-7A358E7F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3A439-2BE7-4F5E-B94E-1A036E6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19650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Self / 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E26FC-2936-4F4F-96B5-65779299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B2F87-8DF3-4268-B51C-0F6E150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Non-verbal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BA144-E54D-4070-8E33-12351A3E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7BB63-D410-492C-8E4E-F827124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2023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8D02E-0117-4E6E-8B16-E0DE502C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BAE58-CDE6-4A99-8014-BDC171A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E7392-B88F-4431-8D30-2CA2833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Movement changed what we could see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C07E6-CC9C-473B-8685-44C4D29D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观察不是静止发生的，而是在车窗、公交与步行中发生。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CEE22-3A37-4ACC-9B0C-2833DF26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34099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25b1ca53b4b3f"/>
          <a:srcRect xmlns:a="http://schemas.openxmlformats.org/drawingml/2006/main" l="20170" t="0" r="20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33337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EC1BB-09B1-438E-8655-CB05D2E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22FC-EF9F-43C7-AF11-7CC1E1AA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coach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4D8B7-51DE-4EE6-BF33-7A337803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71650"/>
            <a:ext cx="34099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2f8c66db14a3e"/>
          <a:srcRect xmlns:a="http://schemas.openxmlformats.org/drawingml/2006/main" l="20170" t="0" r="20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809750"/>
            <a:ext cx="333375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A3C41-26A5-4C2C-A2C7-87434CBE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133C6-3087-4BAD-BCDE-EE045634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672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Cotai skyline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FB1F8-967A-46E0-A1F5-F86BBD5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34099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e429e7e8f4397"/>
          <a:srcRect xmlns:a="http://schemas.openxmlformats.org/drawingml/2006/main" l="20170" t="0" r="20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809750"/>
            <a:ext cx="3333750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B6CD6-FE3E-473E-B355-F60ABAF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7D352-A392-4EC2-A472-3B702DC3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67250"/>
            <a:ext cx="3067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public transit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BA117-7D30-4671-8DD6-D99F225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B25DD-B347-4A8F-8CAC-5BD0331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34025"/>
            <a:ext cx="842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Intercultural communication happened not only inside places, but also between 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6F5BD-8E45-4085-A7EF-38861267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1C8BC-2242-4FFE-96C2-E8F824D8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5322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1434B-7184-418E-8C60-0C7D4EA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2fab7deeb4d4c"/>
          <a:srcRect xmlns:a="http://schemas.openxmlformats.org/drawingml/2006/main" l="20313" t="0" r="203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64090-EEE5-460B-A3B4-A6D52EB7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2AC6D-BEB8-4DDA-B5AD-D676AFF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382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rPr>
              <a:t>Macau as Heritage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39FCE-D27B-4B53-984D-9DF285D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Heritage is not silent;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it tells a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D007E-B896-4DEA-809A-188E078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The Ruins of St. Paul's presents Macau through Catholic memory, Portuguese colonial history, and world heritage.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4A8D9-76F7-4E25-BD2D-B1E3A7C5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3333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Crowds and tourist photography also turn heritage into a contemporary tourism narrative.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7025A-0BF6-4716-8886-E107BD0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43681-1BD7-4CFD-938E-497C10E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8634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D6ECF-2DDC-491F-99C3-CDD0DBE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61E1B-1A1C-4739-B940-D6A5EC7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HERITAGE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61781-205F-43A6-95F1-4D212B5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From sacred memory to city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8CD1A-0E60-47A8-B7C0-7914A41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同一组遗产空间把宗教记忆、历史遗址与现代城市放在同一画面。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39CAF-4779-4B04-927A-E1E4AFCC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3314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af9279dd7400e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32385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16732-2A46-4836-880C-F14FBF3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98782-C584-4C25-8886-66439F2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sacred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FE193-3D81-4C5A-8C43-FEC9B50F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14525"/>
            <a:ext cx="3314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4084990824190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952625"/>
            <a:ext cx="32385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ABDA3-2F83-4AF9-A8F0-7240F9A6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542D9-98BE-4FE5-B9D5-2BE36D3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24375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stone / facade / visitors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570C9-90D3-4567-8301-35D75F1D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14525"/>
            <a:ext cx="3314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c0be37290401a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1952625"/>
            <a:ext cx="3238500" cy="2857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31868-9B71-4E73-8126-EE5BD48F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481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3665C-4799-46F2-8916-F86D0CBF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24375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history looking at modernity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AA682-EE09-47C6-99C9-C5A61B6A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86375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DE489-8FB4-4E77-AD43-D2DB266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438775"/>
            <a:ext cx="851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Standing inside a historical site, we look at the modern city: history and modernity appear in the same frame.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618DE-10F4-4B2A-8BCE-7E591DC9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E3E2B-841B-418D-838A-D7A4389A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21493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0D7D0-94AE-421E-87C3-7906B4F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B9271-4245-497A-8A12-680025AA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EVERYDAY STREET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93F9F-4C81-43C6-A9FD-3EFBE8D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Culture also happens in ordinary streets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FB6D2-1749-4099-873F-F8489755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街道、招牌、小吃、人流和餐饮空间共同构成日常澳门。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95431-168E-49B9-A703-D2AE194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51244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b38e239894c12"/>
          <a:srcRect xmlns:a="http://schemas.openxmlformats.org/drawingml/2006/main" l="10773" t="0" r="107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504825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7231-8826-43A2-8FB5-79BCBB4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BCBAA-313C-4E13-97E7-75AD1631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8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food street / signs / crowd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7FA79-EE70-456F-8426-89E73029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771650"/>
            <a:ext cx="2552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596aad3034fe6"/>
          <a:srcRect xmlns:a="http://schemas.openxmlformats.org/drawingml/2006/main" l="9375" t="0" r="9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809750"/>
            <a:ext cx="2476500" cy="1714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ABCAB-B2A5-431D-B5D2-3EDAD154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62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AE292-88A8-47EC-8937-ADE719B5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3850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street to landmark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35CF2-8D4A-42C5-AF3D-0C21FFF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771650"/>
            <a:ext cx="2552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2c0dce7e14090"/>
          <a:srcRect xmlns:a="http://schemas.openxmlformats.org/drawingml/2006/main" l="9375" t="0" r="9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809750"/>
            <a:ext cx="2476500" cy="1714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6E280-FDFC-453D-B9C2-FBED7582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62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24A7D-B0BF-400E-94CC-5A4C8440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3850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dense signs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440CB-7931-4FE9-A7F1-FF799010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52875"/>
            <a:ext cx="5238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4114F-908E-46E9-A635-5408F0D6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AI reminded us to notice street names. Fieldwork showed that linguistic landscape also appears in shop signs, menus, displays, crowds, and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A1E3C-2455-46B9-A2D4-7C6209A0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20524-D2B8-472E-B223-B9DB84C0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36053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CD918D-E11A-47BB-926A-D663177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E482E-78A2-409E-9FD3-5B181F9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SENSORY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4F5D9-0303-471F-B5C6-C92354A1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Sound helped us distinguish 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E3117-1516-4771-A597-75E1AB7B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声音不是独立声景研究，而是辅助理解空间差异的非语言层。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CA690-3F92-4301-B369-2D0EE467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5E3DE-D8E3-4D18-9AE6-CC70E8DB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4F8FD-71AC-4261-AB75-2694010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36869-6B0F-4F06-8EDA-96CEA475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145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broadcasts / footsteps / queues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1191F-DEC1-4EB3-AC99-880270EE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F8A71-1BAB-4C25-B501-A10381E2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Historic street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70028-08E3-4217-97A4-F0B8EB1D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289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A3E8C-9015-4A4D-91B5-FD45573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90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crowds / shop calls / visitor languages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14ADE-27AE-492C-9194-8606027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CD845-AA29-4244-830C-CD3824AB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Heritage 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D3BE7-C926-43AE-81E5-7541BDC2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052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46D6A-34B7-4A1A-ADEA-25CE6387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671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photo sounds / guide voices / open-space echo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E3BBC-3757-4E79-BA48-4A322C57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FCD95-0A8A-40C2-AC10-915364B1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Venetian &amp; NBA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D4F87-637B-4DC6-9052-4A7DF468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815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2117E-9599-4D95-BAF1-BC59D668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434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indoor music / screens / game sounds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A1B45-A922-460F-89E3-89A9EEC9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01672-7959-42E0-B7D3-387093AE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67400"/>
            <a:ext cx="727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 treat sound as a sensory layer, not as a full systematic audio study.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56033-A719-4C1D-B98F-7868F6E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8A072-2762-4A22-9794-2FB77BD4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56219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73F76-D77C-4DA1-A37B-B7FE75C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6dfcd51c47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67CC7-A316-42BD-884A-43FAF2D4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E74CD-062C-421E-B0BF-F36A446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rPr>
              <a:t>Macau as Global Spectacle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8313A-93FD-490A-9AB5-47DD4A9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42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designed Europe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inside Macau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BBB89-8562-4751-976E-2A5BE6E5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504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The Venetian creates a global consumption experience through European facades, domes, canals, lighting, and shopping routes.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E04EC-619C-45D7-B418-CB6DC81F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D440C-ED1B-4D48-8683-365E055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F34EC-D0F9-4D4F-9517-7680595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St. Paul's is inherited heritage.</a:t>
            </a:r>
          </a:p>
          <a:p xmlns:a="http://schemas.openxmlformats.org/drawingml/2006/main">
            <a:pPr algn="l">
              <a:defRPr sz="15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The Venetian is designed heritage-like spectacle.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84A1B-D25A-4743-A2B1-3C2F30DA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DDE9C-7491-4DD7-A08F-A6EE94C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84577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C483F-0AFC-4CA3-B0E8-55F476B2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16E48-3E5F-427F-88C7-7A404D46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GLOBAL POPULAR CULTURE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3BE9-04EB-499B-8850-86DE0F5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Global culture becomes interactive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9D962-10D8-4CB2-AF55-B7549B7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NBA 店说明跨文化交流也发生在全球品牌、商品和身体参与中。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3C476-830A-488E-B71C-307A4474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35052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a010cf2654bd3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05C2A-50A5-4A91-A85B-E28F7469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7F707-20A8-4D9A-9804-8798AE4C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merchandise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0A02D-CBC5-42A1-9F7B-CDF8903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35052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a1da080c44b9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8097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66B7E-E6FD-420B-8A85-ACA050DD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76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0A74D-643A-4FF3-944E-A95FD7FB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interactive 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01A7A-0A28-4878-A277-21D5D2F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5052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78a4a13b4456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18097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9D412-2F28-473E-B099-1A8D3834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89768-58C9-4E44-AF2E-759D87E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screen / score / game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CBE19-0B4B-49FB-B692-9379868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67375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26324-DA88-4B83-B344-FB57FA5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9775"/>
            <a:ext cx="784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American sports culture is commodified, gamified, and experienced through physical participation.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5FC34-4F0B-4B0F-8AB8-9B0951CE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AF5F6-0FD8-4049-BA93-AD65B44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911235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D43AF-1602-400D-A555-FD50D263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C015E-3021-409B-826A-C1BC0CB1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23B3B"/>
                </a:solidFill>
                <a:latin typeface="Microsoft YaHei"/>
                <a:ea typeface="Microsoft YaHei"/>
                <a:cs typeface="Microsoft YaHei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28285-DC1E-4682-BD75-0B1BC046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D2433"/>
                </a:solidFill>
                <a:latin typeface="Microsoft YaHei UI"/>
                <a:ea typeface="Microsoft YaHei UI"/>
                <a:cs typeface="Microsoft YaHei UI"/>
              </a:rPr>
              <a:t>Four spaces, four translations of Macau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9EB6A-9E2B-4499-A7F4-820BB71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这些不是分散景点，而是四种翻译澳门的方式。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B95B2-A93E-40BA-9B1D-04B94BA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6D47F-D132-4D66-8BDB-AADEBDDB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1D88B-5A95-4F6F-B8EE-2F4D2B73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A39E2-D9C3-412F-99E6-174A279A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Macau as...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82332-703C-4039-A8B4-50F81DB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regulated crossing 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0AB15-06B7-4353-AE64-FA4EB2D0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057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Self / Other</a:t>
            </a:r>
          </a:p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non-verbal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E1554-88C4-45C7-9750-BBC55B7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01CE5-31EE-4D79-841B-3CFB3C1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5723D-1161-421B-9EA8-52DCE806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Heritage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8824A-126F-4526-8FA5-7A33320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Macau as...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353F9-E44D-4BC2-B69D-15D0D9DB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95625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religious and colonial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D85A0-768B-4AD6-9E31-82D8270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2057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cultural memory</a:t>
            </a:r>
          </a:p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storytelling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4E45C-B837-4127-8465-149084E0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08C35-16D7-4FA0-A6C4-FBAA991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2599A-4BEF-4D43-8DB2-F5371E6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Everyday Street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EE51C-27A1-44B9-95BC-E58720A0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Macau as...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D2D07-29DA-4729-A4E5-BC377C3A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95625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lived commercial street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75F4C-97A0-43AF-BFE5-CE5A1514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2057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linguistic landscape</a:t>
            </a:r>
          </a:p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sensory observation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ED909-EA38-4609-A88A-87346CDF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A0723-A053-436B-A61B-A1FBEA1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128DF-A886-4309-B606-271D4E9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Global Spectacle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76BAF-0292-4795-A591-924DC94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Macau as...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14380-75CF-456E-87F6-98DCBD4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2433"/>
                </a:solidFill>
                <a:latin typeface="Microsoft YaHei"/>
                <a:ea typeface="Microsoft YaHei"/>
                <a:cs typeface="Microsoft YaHei"/>
              </a:rPr>
              <a:t>consumption and popular culture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9A28B-7868-455F-9628-83A59BB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0"/>
            <a:ext cx="2057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globalization</a:t>
            </a:r>
          </a:p>
          <a:p xmlns:a="http://schemas.openxmlformats.org/drawingml/2006/main">
            <a:pPr algn="ctr">
              <a:def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276"/>
                </a:solidFill>
                <a:latin typeface="Microsoft YaHei"/>
                <a:ea typeface="Microsoft YaHei"/>
                <a:cs typeface="Microsoft YaHei"/>
              </a:rPr>
              <a:t>cultural performance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E2760-5619-4D11-9B8B-E26DF448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254F65-C45C-4086-B90B-1266BA7B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29275"/>
            <a:ext cx="765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Intercultural communication is spatial switching: moving through different systems of meaning.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03324-4BD0-4E13-AAED-33C28CE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UCUG1600 Intercultural Communication | Fieldwork in Macau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21E05-5186-41C6-8DAF-E365972A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4809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745214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B7591-1FE1-4CE3-BEDB-EFE2049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f1ab8a7ec4a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3D3ED-E15B-4069-B72C-D03DED89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AED71-F254-400A-8541-43896C37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A3096-0F71-4619-8CD1-C95A51FB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85875"/>
            <a:ext cx="8096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Macau is not one story</a:t>
            </a:r>
          </a:p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translated into two languages.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3E2C8-6FA0-4113-9AC9-407C21EE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D7A0"/>
                </a:solidFill>
                <a:latin typeface="Microsoft YaHei"/>
                <a:ea typeface="Microsoft YaHei"/>
                <a:cs typeface="Microsoft YaHei"/>
              </a:rPr>
              <a:t>It is many cultural stories experienced through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0B2CF-F62F-473D-AB98-E180A293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The value of our fieldwork was not proving the AI-generated topic, but revising it through what we actually saw, heard, and recorded.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C6ADE-FA0B-4D2B-B075-C5132018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澳门不是一个故事被翻译成两种语言，而是多个文化故事在人的移动中被不断体验。</a:t>
            </a:r>
          </a:p>
        </p:txBody>
      </p:sp>
    </p:spTree>
    <p:extLst>
      <p:ext uri="{BB962C8B-B14F-4D97-AF65-F5344CB8AC3E}">
        <p14:creationId xmlns:p14="http://schemas.microsoft.com/office/powerpoint/2010/main" val="1699036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2026-05-02T06:58:50.2840000Z</dcterms:created>
  <dcterms:modified xsi:type="dcterms:W3CDTF">2026-05-02T06:58:50.2840000Z</dcterms:modified>
</coreProperties>
</file>